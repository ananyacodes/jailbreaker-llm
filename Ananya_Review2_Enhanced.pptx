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fdd2428-00a1-89b1-f518-b88f7f93a974}">
          <p14:sldIdLst>
            <p14:sldId id="256"/>
            <p14:sldId id="257"/>
          </p14:sldIdLst>
        </p14:section>
        <p14:section name="Problem and scope" id="{a53aa4cb-68d0-49bb-e08e-85481d0966db}">
          <p14:sldIdLst>
            <p14:sldId id="258"/>
            <p14:sldId id="259"/>
          </p14:sldIdLst>
        </p14:section>
        <p14:section name="Data" id="{6fd19abe-9cba-4e03-abda-806cdd76b1a2}">
          <p14:sldIdLst>
            <p14:sldId id="260"/>
            <p14:sldId id="261"/>
          </p14:sldIdLst>
        </p14:section>
        <p14:section name="Models" id="{f1291fde-c2e1-1275-29a1-0b3d838f43c6}">
          <p14:sldIdLst>
            <p14:sldId id="262"/>
            <p14:sldId id="263"/>
            <p14:sldId id="264"/>
          </p14:sldIdLst>
        </p14:section>
        <p14:section name="Results" id="{e9a9020e-9cf2-57d3-9953-88da25040cdc}">
          <p14:sldIdLst>
            <p14:sldId id="265"/>
            <p14:sldId id="266"/>
          </p14:sldIdLst>
        </p14:section>
        <p14:section name="Delivery" id="{f2d93a4a-e1a1-589b-f899-1421954a3bb7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ARI</c:v>
                </c:pt>
              </c:strCache>
            </c:strRef>
          </c:tx>
          <c:spPr>
            <a:solidFill>
              <a:srgbClr val="6E8CF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7FA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single</c:v>
                  </c:pt>
                  <c:pt idx="1">
                    <c:v>complete</c:v>
                  </c:pt>
                  <c:pt idx="2">
                    <c:v>average</c:v>
                  </c:pt>
                  <c:pt idx="3">
                    <c:v>Ward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-0.008</c:v>
                </c:pt>
                <c:pt idx="1">
                  <c:v>0.692</c:v>
                </c:pt>
                <c:pt idx="2">
                  <c:v>0.66</c:v>
                </c:pt>
                <c:pt idx="3">
                  <c:v>0.371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7FAF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4E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1"/>
        </c:scaling>
        <c:delete val="0"/>
        <c:axPos val="l"/>
        <c:majorGridlines>
          <c:spPr>
            <a:ln w="6350" cap="flat">
              <a:solidFill>
                <a:srgbClr val="2B426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295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adds PCA, K-means, Gaussian mixture EM and hierarchical clustering to the current GitHub codebase. Results are from a generated synthetic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plan section 9.0, Project Review 2: mathematical model (2 marks) plus a Python script for it (3 marks), avoiding Python libraries.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 paths are documented in README.md. Review 2 runs as step 6 of main_analysis.py after synthetic campaign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Upward transitions are scaled by 0.6, 1.0 and 1.6 for the guarded, baseline and weak synthetic target profiles. The 978-turn dataset is generated locally with seed 42; it is separate from Review 1 real-data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Murphy MLPP 12.2 (PCA) and 12.3 (choosing the number of latent dimensions).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Bishop PRML 9.1. Same ARI as scikit-learn KMeans (0.924) in strategy_clustering.py, which checks the from-scratch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Bishop PRML 9.2 and 9.3. Densities use a Cholesky factor; the E-step uses log-sum-exp for numerical stability. A unit test checks the log-likelihood never decreases.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Murphy MLPP 25.5 (hierarchical clustering) and 25.1.2 (evaluating clustering output).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assessment: mathematical model (2 marks) and Python script (3 marks). The NumPy implementations write the algorithms from their equations instead of calling ready-made model libraries. The separate K-means script has no imports. It uses synthetic judge scores for fitting and hidden-state labels only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results: outputs/analysis/metrics.json (keys pca_numpy, kmeans_numpy, gmm_em_numpy, hierarchical_numpy), produced by main_analysis.py.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50" dirty="0">
                <a:solidFill>
                  <a:srgbClr val="8295AE"/>
                </a:solidFill>
              </a:defRPr>
            </a:lvl1pPr>
          </a:lstStyle>
          <a:p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6.xml"/><Relationship Id="rId3" Type="http://schemas.openxmlformats.org/officeDocument/2006/relationships/slide" Target="slide8.xml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" Target="slide9.xml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9.xml"/><Relationship Id="rId3" Type="http://schemas.openxmlformats.org/officeDocument/2006/relationships/slide" Target="slide11.xml"/><Relationship Id="rId4" Type="http://schemas.openxmlformats.org/officeDocument/2006/relationships/chart" Target="../charts/chart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0.xml"/><Relationship Id="rId3" Type="http://schemas.openxmlformats.org/officeDocument/2006/relationships/slide" Target="slide12.xml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1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artwork" descr="Abstract artwork of a glowing shield deflecting data stre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over scrim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61323">
              <a:alpha val="97000"/>
            </a:srgbClr>
          </a:solidFill>
          <a:ln w="12700">
            <a:solidFill>
              <a:srgbClr val="0613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cover mark"/>
          <p:cNvSpPr/>
          <p:nvPr/>
        </p:nvSpPr>
        <p:spPr>
          <a:xfrm>
            <a:off x="777240" y="978408"/>
            <a:ext cx="5852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cover eyebrow"/>
          <p:cNvSpPr txBox="1"/>
          <p:nvPr/>
        </p:nvSpPr>
        <p:spPr>
          <a:xfrm>
            <a:off x="768096" y="10607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MACHINE LEARNING  ·  PBL-II  ·  PROJECT REVIEW 2</a:t>
            </a:r>
            <a:endParaRPr lang="en-US" sz="1000" dirty="0"/>
          </a:p>
        </p:txBody>
      </p:sp>
      <p:sp>
        <p:nvSpPr>
          <p:cNvPr id="6" name="cover title"/>
          <p:cNvSpPr txBox="1"/>
          <p:nvPr/>
        </p:nvSpPr>
        <p:spPr>
          <a:xfrm>
            <a:off x="768096" y="14813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Jailbreaker-LLM</a:t>
            </a:r>
            <a:endParaRPr lang="en-US" sz="3700" dirty="0"/>
          </a:p>
        </p:txBody>
      </p:sp>
      <p:sp>
        <p:nvSpPr>
          <p:cNvPr id="7" name="cover subtitle"/>
          <p:cNvSpPr txBox="1"/>
          <p:nvPr/>
        </p:nvSpPr>
        <p:spPr>
          <a:xfrm>
            <a:off x="768096" y="2212848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LLM compliance states without labels: PCA, K-means, Gaussian mixtures with EM, and hierarchical clustering</a:t>
            </a:r>
            <a:endParaRPr lang="en-US" sz="2200" dirty="0"/>
          </a:p>
        </p:txBody>
      </p:sp>
      <p:sp>
        <p:nvSpPr>
          <p:cNvPr id="8" name="cover units"/>
          <p:cNvSpPr txBox="1"/>
          <p:nvPr/>
        </p:nvSpPr>
        <p:spPr>
          <a:xfrm>
            <a:off x="768096" y="35204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Unit 3: mixture models, EM, latent dimensions and clustering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NumPy analysis plus standalone K-means with no imports</a:t>
            </a:r>
            <a:endParaRPr lang="en-US" sz="1350" dirty="0"/>
          </a:p>
        </p:txBody>
      </p:sp>
      <p:sp>
        <p:nvSpPr>
          <p:cNvPr id="9" name="cover name"/>
          <p:cNvSpPr txBox="1"/>
          <p:nvPr/>
        </p:nvSpPr>
        <p:spPr>
          <a:xfrm>
            <a:off x="768096" y="50657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Ananya Kar</a:t>
            </a:r>
            <a:endParaRPr lang="en-US" sz="1550" dirty="0"/>
          </a:p>
        </p:txBody>
      </p:sp>
      <p:sp>
        <p:nvSpPr>
          <p:cNvPr id="10" name="cover reg"/>
          <p:cNvSpPr txBox="1"/>
          <p:nvPr/>
        </p:nvSpPr>
        <p:spPr>
          <a:xfrm>
            <a:off x="768096" y="54589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5AE"/>
                </a:solidFill>
              </a:rPr>
              <a:t>RA2411003010453  ·  21CSC305P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s artwork" descr="Abstract artwork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ontents scrim fu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3">
              <a:alpha val="82000"/>
            </a:srgbClr>
          </a:solidFill>
          <a:ln w="12700">
            <a:solidFill>
              <a:srgbClr val="0613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contents scrim left"/>
          <p:cNvSpPr/>
          <p:nvPr/>
        </p:nvSpPr>
        <p:spPr>
          <a:xfrm>
            <a:off x="0" y="0"/>
            <a:ext cx="8046720" cy="6858000"/>
          </a:xfrm>
          <a:prstGeom prst="rect">
            <a:avLst/>
          </a:prstGeom>
          <a:solidFill>
            <a:srgbClr val="061323">
              <a:alpha val="98000"/>
            </a:srgbClr>
          </a:solidFill>
          <a:ln w="12700">
            <a:solidFill>
              <a:srgbClr val="0613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contents mark"/>
          <p:cNvSpPr/>
          <p:nvPr/>
        </p:nvSpPr>
        <p:spPr>
          <a:xfrm>
            <a:off x="713232" y="530352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6" name="contents eyebrow"/>
          <p:cNvSpPr txBox="1"/>
          <p:nvPr/>
        </p:nvSpPr>
        <p:spPr>
          <a:xfrm>
            <a:off x="713232" y="6126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INTERACTIVE CONTENTS</a:t>
            </a:r>
            <a:endParaRPr lang="en-US" sz="900" dirty="0"/>
          </a:p>
        </p:txBody>
      </p:sp>
      <p:sp>
        <p:nvSpPr>
          <p:cNvPr id="7" name="contents title"/>
          <p:cNvSpPr txBox="1"/>
          <p:nvPr/>
        </p:nvSpPr>
        <p:spPr>
          <a:xfrm>
            <a:off x="713232" y="1005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section</a:t>
            </a:r>
            <a:endParaRPr lang="en-US" sz="2900" dirty="0"/>
          </a:p>
        </p:txBody>
      </p:sp>
      <p:sp>
        <p:nvSpPr>
          <p:cNvPr id="8" name="contents intro"/>
          <p:cNvSpPr txBox="1"/>
          <p:nvPr/>
        </p:nvSpPr>
        <p:spPr>
          <a:xfrm>
            <a:off x="713232" y="16733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Each card jumps to its section. Each model is shown as its mathematical model, then its NumPy code, then the measured result.</a:t>
            </a:r>
            <a:endParaRPr lang="en-US" sz="1300" dirty="0"/>
          </a:p>
        </p:txBody>
      </p:sp>
      <p:sp>
        <p:nvSpPr>
          <p:cNvPr id="9" name="contents card 01"/>
          <p:cNvSpPr/>
          <p:nvPr/>
        </p:nvSpPr>
        <p:spPr>
          <a:xfrm>
            <a:off x="713232" y="2606040"/>
            <a:ext cx="2862072" cy="841248"/>
          </a:xfrm>
          <a:prstGeom prst="roundRect">
            <a:avLst>
              <a:gd name="adj" fmla="val 8696"/>
            </a:avLst>
          </a:prstGeom>
          <a:solidFill>
            <a:srgbClr val="0D213C">
              <a:alpha val="95000"/>
            </a:srgb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contents num 01"/>
          <p:cNvSpPr txBox="1"/>
          <p:nvPr/>
        </p:nvSpPr>
        <p:spPr>
          <a:xfrm>
            <a:off x="886968" y="2770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contents title 01"/>
          <p:cNvSpPr txBox="1"/>
          <p:nvPr/>
        </p:nvSpPr>
        <p:spPr>
          <a:xfrm>
            <a:off x="1316736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 and Review 2 scope</a:t>
            </a:r>
            <a:endParaRPr lang="en-US" sz="1400" dirty="0"/>
          </a:p>
        </p:txBody>
      </p:sp>
      <p:sp>
        <p:nvSpPr>
          <p:cNvPr id="12" name="contents open 01"/>
          <p:cNvSpPr txBox="1"/>
          <p:nvPr/>
        </p:nvSpPr>
        <p:spPr>
          <a:xfrm>
            <a:off x="1316736" y="3154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295AE"/>
                </a:solidFill>
              </a:rPr>
              <a:t>OPEN SECTION  ·  SLIDE 03</a:t>
            </a:r>
            <a:endParaRPr lang="en-US" sz="750" dirty="0"/>
          </a:p>
        </p:txBody>
      </p:sp>
      <p:sp>
        <p:nvSpPr>
          <p:cNvPr id="13" name="contents link 01">
            <a:hlinkClick r:id="rId2" tooltip="Problem and Review 2 scope" action="ppaction://hlinksldjump"/>
          </p:cNvPr>
          <p:cNvSpPr/>
          <p:nvPr/>
        </p:nvSpPr>
        <p:spPr>
          <a:xfrm>
            <a:off x="713232" y="2606040"/>
            <a:ext cx="2862072" cy="841248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contents card 02"/>
          <p:cNvSpPr/>
          <p:nvPr/>
        </p:nvSpPr>
        <p:spPr>
          <a:xfrm>
            <a:off x="3858768" y="2606040"/>
            <a:ext cx="2862072" cy="841248"/>
          </a:xfrm>
          <a:prstGeom prst="roundRect">
            <a:avLst>
              <a:gd name="adj" fmla="val 8696"/>
            </a:avLst>
          </a:prstGeom>
          <a:solidFill>
            <a:srgbClr val="133052">
              <a:alpha val="95000"/>
            </a:srgb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5" name="contents num 02"/>
          <p:cNvSpPr txBox="1"/>
          <p:nvPr/>
        </p:nvSpPr>
        <p:spPr>
          <a:xfrm>
            <a:off x="4032504" y="2770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contents title 02"/>
          <p:cNvSpPr txBox="1"/>
          <p:nvPr/>
        </p:nvSpPr>
        <p:spPr>
          <a:xfrm>
            <a:off x="4462272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Dataset and setup</a:t>
            </a:r>
            <a:endParaRPr lang="en-US" sz="1400" dirty="0"/>
          </a:p>
        </p:txBody>
      </p:sp>
      <p:sp>
        <p:nvSpPr>
          <p:cNvPr id="17" name="contents open 02"/>
          <p:cNvSpPr txBox="1"/>
          <p:nvPr/>
        </p:nvSpPr>
        <p:spPr>
          <a:xfrm>
            <a:off x="4462272" y="3154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295AE"/>
                </a:solidFill>
              </a:rPr>
              <a:t>OPEN SECTION  ·  SLIDE 05</a:t>
            </a:r>
            <a:endParaRPr lang="en-US" sz="750" dirty="0"/>
          </a:p>
        </p:txBody>
      </p:sp>
      <p:sp>
        <p:nvSpPr>
          <p:cNvPr id="18" name="contents link 02">
            <a:hlinkClick r:id="rId3" tooltip="Dataset and setup" action="ppaction://hlinksldjump"/>
          </p:cNvPr>
          <p:cNvSpPr/>
          <p:nvPr/>
        </p:nvSpPr>
        <p:spPr>
          <a:xfrm>
            <a:off x="3858768" y="2606040"/>
            <a:ext cx="2862072" cy="841248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9" name="contents card 03"/>
          <p:cNvSpPr/>
          <p:nvPr/>
        </p:nvSpPr>
        <p:spPr>
          <a:xfrm>
            <a:off x="713232" y="3712464"/>
            <a:ext cx="2862072" cy="841248"/>
          </a:xfrm>
          <a:prstGeom prst="roundRect">
            <a:avLst>
              <a:gd name="adj" fmla="val 8696"/>
            </a:avLst>
          </a:prstGeom>
          <a:solidFill>
            <a:srgbClr val="0D213C">
              <a:alpha val="95000"/>
            </a:srgb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0" name="contents num 03"/>
          <p:cNvSpPr txBox="1"/>
          <p:nvPr/>
        </p:nvSpPr>
        <p:spPr>
          <a:xfrm>
            <a:off x="886968" y="38770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contents title 03"/>
          <p:cNvSpPr txBox="1"/>
          <p:nvPr/>
        </p:nvSpPr>
        <p:spPr>
          <a:xfrm>
            <a:off x="1316736" y="3831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PCA</a:t>
            </a:r>
            <a:endParaRPr lang="en-US" sz="1400" dirty="0"/>
          </a:p>
        </p:txBody>
      </p:sp>
      <p:sp>
        <p:nvSpPr>
          <p:cNvPr id="22" name="contents open 03"/>
          <p:cNvSpPr txBox="1"/>
          <p:nvPr/>
        </p:nvSpPr>
        <p:spPr>
          <a:xfrm>
            <a:off x="1316736" y="426110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295AE"/>
                </a:solidFill>
              </a:rPr>
              <a:t>OPEN SECTION  ·  SLIDE 07</a:t>
            </a:r>
            <a:endParaRPr lang="en-US" sz="750" dirty="0"/>
          </a:p>
        </p:txBody>
      </p:sp>
      <p:sp>
        <p:nvSpPr>
          <p:cNvPr id="23" name="contents link 03">
            <a:hlinkClick r:id="rId4" tooltip="PCA" action="ppaction://hlinksldjump"/>
          </p:cNvPr>
          <p:cNvSpPr/>
          <p:nvPr/>
        </p:nvSpPr>
        <p:spPr>
          <a:xfrm>
            <a:off x="713232" y="3712464"/>
            <a:ext cx="2862072" cy="841248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24" name="contents card 04"/>
          <p:cNvSpPr/>
          <p:nvPr/>
        </p:nvSpPr>
        <p:spPr>
          <a:xfrm>
            <a:off x="3858768" y="3712464"/>
            <a:ext cx="2862072" cy="841248"/>
          </a:xfrm>
          <a:prstGeom prst="roundRect">
            <a:avLst>
              <a:gd name="adj" fmla="val 8696"/>
            </a:avLst>
          </a:prstGeom>
          <a:solidFill>
            <a:srgbClr val="133052">
              <a:alpha val="95000"/>
            </a:srgb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5" name="contents num 04"/>
          <p:cNvSpPr txBox="1"/>
          <p:nvPr/>
        </p:nvSpPr>
        <p:spPr>
          <a:xfrm>
            <a:off x="4032504" y="38770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contents title 04"/>
          <p:cNvSpPr txBox="1"/>
          <p:nvPr/>
        </p:nvSpPr>
        <p:spPr>
          <a:xfrm>
            <a:off x="4462272" y="3831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K-means and GMM-EM</a:t>
            </a:r>
            <a:endParaRPr lang="en-US" sz="1400" dirty="0"/>
          </a:p>
        </p:txBody>
      </p:sp>
      <p:sp>
        <p:nvSpPr>
          <p:cNvPr id="27" name="contents open 04"/>
          <p:cNvSpPr txBox="1"/>
          <p:nvPr/>
        </p:nvSpPr>
        <p:spPr>
          <a:xfrm>
            <a:off x="4462272" y="426110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295AE"/>
                </a:solidFill>
              </a:rPr>
              <a:t>OPEN SECTION  ·  SLIDE 08</a:t>
            </a:r>
            <a:endParaRPr lang="en-US" sz="750" dirty="0"/>
          </a:p>
        </p:txBody>
      </p:sp>
      <p:sp>
        <p:nvSpPr>
          <p:cNvPr id="28" name="contents link 04">
            <a:hlinkClick r:id="rId5" tooltip="K-means and GMM-EM" action="ppaction://hlinksldjump"/>
          </p:cNvPr>
          <p:cNvSpPr/>
          <p:nvPr/>
        </p:nvSpPr>
        <p:spPr>
          <a:xfrm>
            <a:off x="3858768" y="3712464"/>
            <a:ext cx="2862072" cy="841248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29" name="contents card 05"/>
          <p:cNvSpPr/>
          <p:nvPr/>
        </p:nvSpPr>
        <p:spPr>
          <a:xfrm>
            <a:off x="713232" y="4818888"/>
            <a:ext cx="2862072" cy="841248"/>
          </a:xfrm>
          <a:prstGeom prst="roundRect">
            <a:avLst>
              <a:gd name="adj" fmla="val 8696"/>
            </a:avLst>
          </a:prstGeom>
          <a:solidFill>
            <a:srgbClr val="0D213C">
              <a:alpha val="95000"/>
            </a:srgb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0" name="contents num 05"/>
          <p:cNvSpPr txBox="1"/>
          <p:nvPr/>
        </p:nvSpPr>
        <p:spPr>
          <a:xfrm>
            <a:off x="886968" y="49834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</a:t>
            </a:r>
            <a:endParaRPr lang="en-US" sz="950" dirty="0"/>
          </a:p>
        </p:txBody>
      </p:sp>
      <p:sp>
        <p:nvSpPr>
          <p:cNvPr id="31" name="contents title 05"/>
          <p:cNvSpPr txBox="1"/>
          <p:nvPr/>
        </p:nvSpPr>
        <p:spPr>
          <a:xfrm>
            <a:off x="1316736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Hierarchical and results</a:t>
            </a:r>
            <a:endParaRPr lang="en-US" sz="1400" dirty="0"/>
          </a:p>
        </p:txBody>
      </p:sp>
      <p:sp>
        <p:nvSpPr>
          <p:cNvPr id="32" name="contents open 05"/>
          <p:cNvSpPr txBox="1"/>
          <p:nvPr/>
        </p:nvSpPr>
        <p:spPr>
          <a:xfrm>
            <a:off x="1316736" y="5367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295AE"/>
                </a:solidFill>
              </a:rPr>
              <a:t>OPEN SECTION  ·  SLIDE 10</a:t>
            </a:r>
            <a:endParaRPr lang="en-US" sz="750" dirty="0"/>
          </a:p>
        </p:txBody>
      </p:sp>
      <p:sp>
        <p:nvSpPr>
          <p:cNvPr id="33" name="contents link 05">
            <a:hlinkClick r:id="rId6" tooltip="Hierarchical and results" action="ppaction://hlinksldjump"/>
          </p:cNvPr>
          <p:cNvSpPr/>
          <p:nvPr/>
        </p:nvSpPr>
        <p:spPr>
          <a:xfrm>
            <a:off x="713232" y="4818888"/>
            <a:ext cx="2862072" cy="841248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34" name="contents card 06"/>
          <p:cNvSpPr/>
          <p:nvPr/>
        </p:nvSpPr>
        <p:spPr>
          <a:xfrm>
            <a:off x="3858768" y="4818888"/>
            <a:ext cx="2862072" cy="841248"/>
          </a:xfrm>
          <a:prstGeom prst="roundRect">
            <a:avLst>
              <a:gd name="adj" fmla="val 8696"/>
            </a:avLst>
          </a:prstGeom>
          <a:solidFill>
            <a:srgbClr val="133052">
              <a:alpha val="95000"/>
            </a:srgb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5" name="contents num 06"/>
          <p:cNvSpPr txBox="1"/>
          <p:nvPr/>
        </p:nvSpPr>
        <p:spPr>
          <a:xfrm>
            <a:off x="4032504" y="49834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</a:t>
            </a:r>
            <a:endParaRPr lang="en-US" sz="950" dirty="0"/>
          </a:p>
        </p:txBody>
      </p:sp>
      <p:sp>
        <p:nvSpPr>
          <p:cNvPr id="36" name="contents title 06"/>
          <p:cNvSpPr txBox="1"/>
          <p:nvPr/>
        </p:nvSpPr>
        <p:spPr>
          <a:xfrm>
            <a:off x="4462272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Code, limits, references</a:t>
            </a:r>
            <a:endParaRPr lang="en-US" sz="1400" dirty="0"/>
          </a:p>
        </p:txBody>
      </p:sp>
      <p:sp>
        <p:nvSpPr>
          <p:cNvPr id="37" name="contents open 06"/>
          <p:cNvSpPr txBox="1"/>
          <p:nvPr/>
        </p:nvSpPr>
        <p:spPr>
          <a:xfrm>
            <a:off x="4462272" y="5367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295AE"/>
                </a:solidFill>
              </a:rPr>
              <a:t>OPEN SECTION  ·  SLIDE 12</a:t>
            </a:r>
            <a:endParaRPr lang="en-US" sz="750" dirty="0"/>
          </a:p>
        </p:txBody>
      </p:sp>
      <p:sp>
        <p:nvSpPr>
          <p:cNvPr id="38" name="contents link 06">
            <a:hlinkClick r:id="rId7" tooltip="Code, limits, references" action="ppaction://hlinksldjump"/>
          </p:cNvPr>
          <p:cNvSpPr/>
          <p:nvPr/>
        </p:nvSpPr>
        <p:spPr>
          <a:xfrm>
            <a:off x="3858768" y="4818888"/>
            <a:ext cx="2862072" cy="841248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REVIEW 2 SCOPE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Review 2 adds to the project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The GitHub codebase adds unsupervised models and a no-import K-means script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PROBLEM AND SCOPE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2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4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/ 14</a:t>
            </a:r>
            <a:endParaRPr lang="en-US" sz="820" dirty="0"/>
          </a:p>
        </p:txBody>
      </p:sp>
      <p:sp>
        <p:nvSpPr>
          <p:cNvPr id="15" name="brief card"/>
          <p:cNvSpPr/>
          <p:nvPr/>
        </p:nvSpPr>
        <p:spPr>
          <a:xfrm>
            <a:off x="640080" y="1645920"/>
            <a:ext cx="493776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review 2 brief"/>
          <p:cNvSpPr txBox="1"/>
          <p:nvPr/>
        </p:nvSpPr>
        <p:spPr>
          <a:xfrm>
            <a:off x="932688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REVIEW 2 BRIEF</a:t>
            </a:r>
            <a:endParaRPr lang="en-US" sz="920" dirty="0"/>
          </a:p>
        </p:txBody>
      </p:sp>
      <p:sp>
        <p:nvSpPr>
          <p:cNvPr id="17" name="brief statement"/>
          <p:cNvSpPr txBox="1"/>
          <p:nvPr/>
        </p:nvSpPr>
        <p:spPr>
          <a:xfrm>
            <a:off x="932688" y="2267712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the mathematical model for the problem and implement it as a Python script, avoiding Python libraries.</a:t>
            </a:r>
            <a:endParaRPr lang="en-US" sz="1900" dirty="0"/>
          </a:p>
        </p:txBody>
      </p:sp>
      <p:graphicFrame>
        <p:nvGraphicFramePr>
          <p:cNvPr id="4" name="mark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2688" y="3611880"/>
          <a:ext cx="4352544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Mathematical modelling of the algorithm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Python script for the mathematical model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9" name="brief bullets"/>
          <p:cNvSpPr txBox="1"/>
          <p:nvPr/>
        </p:nvSpPr>
        <p:spPr>
          <a:xfrm>
            <a:off x="932688" y="47091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</a:rPr>
              <a:t>NumPy models: src/analysis/unsupervised.py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</a:rPr>
              <a:t>No-import script: review2_kmeans_pure_python.py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</a:rPr>
              <a:t>Both fit synthetic judge scores without labels</a:t>
            </a:r>
            <a:endParaRPr lang="en-US" sz="1350" dirty="0"/>
          </a:p>
        </p:txBody>
      </p:sp>
      <p:sp>
        <p:nvSpPr>
          <p:cNvPr id="20" name="reviews card"/>
          <p:cNvSpPr/>
          <p:nvPr/>
        </p:nvSpPr>
        <p:spPr>
          <a:xfrm>
            <a:off x="5788152" y="1645920"/>
            <a:ext cx="576072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1" name="label how the reviews build on each other"/>
          <p:cNvSpPr txBox="1"/>
          <p:nvPr/>
        </p:nvSpPr>
        <p:spPr>
          <a:xfrm>
            <a:off x="6080760" y="1920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HOW THE REVIEWS BUILD ON EACH OTHER</a:t>
            </a:r>
            <a:endParaRPr lang="en-US" sz="920" dirty="0"/>
          </a:p>
        </p:txBody>
      </p:sp>
      <p:graphicFrame>
        <p:nvGraphicFramePr>
          <p:cNvPr id="7" name="review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267712"/>
          <a:ext cx="51937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11704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Review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Content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EDA, linear regression, logistic regression and SVM classification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Presented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PCA, K-means, Gaussian mixture (EM), hierarchical clustering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This deck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HMM, CART and ensembles, comparative analysis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Next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080760" y="45720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question as Review 1, now without labels: can the hidden compliance state be recovered from judge scores alone?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08076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295AE"/>
                </a:solidFill>
              </a:rPr>
              <a:t>The labels are used only afterwards, to score the clusters.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unsupervised step sits in the red-team system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Judges score every turn of a red-team conversation. Unsupervised models test whether those scores alone reveal the target's state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PROBLEM AND SCOPE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3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5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 / 14</a:t>
            </a:r>
            <a:endParaRPr lang="en-US" sz="820" dirty="0"/>
          </a:p>
        </p:txBody>
      </p:sp>
      <p:sp>
        <p:nvSpPr>
          <p:cNvPr id="15" name="label red-team pipeline (unchanged)"/>
          <p:cNvSpPr txBox="1"/>
          <p:nvPr/>
        </p:nvSpPr>
        <p:spPr>
          <a:xfrm>
            <a:off x="640080" y="1627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rgbClr val="8295AE"/>
                </a:solidFill>
              </a:rPr>
              <a:t>RED-TEAM PIPELINE (UNCHANGED)</a:t>
            </a:r>
            <a:endParaRPr lang="en-US" sz="920" dirty="0"/>
          </a:p>
        </p:txBody>
      </p:sp>
      <p:sp>
        <p:nvSpPr>
          <p:cNvPr id="16" name="pipeline box 0"/>
          <p:cNvSpPr/>
          <p:nvPr/>
        </p:nvSpPr>
        <p:spPr>
          <a:xfrm>
            <a:off x="640080" y="19202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D1C35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7" name="pipeline text 0"/>
          <p:cNvSpPr txBox="1"/>
          <p:nvPr/>
        </p:nvSpPr>
        <p:spPr>
          <a:xfrm>
            <a:off x="64008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Synthetic category seeds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(generated locally)</a:t>
            </a:r>
            <a:endParaRPr lang="en-US" sz="1150" dirty="0"/>
          </a:p>
        </p:txBody>
      </p:sp>
      <p:sp>
        <p:nvSpPr>
          <p:cNvPr id="18" name="pipeline arrow 0"/>
          <p:cNvSpPr/>
          <p:nvPr/>
        </p:nvSpPr>
        <p:spPr>
          <a:xfrm>
            <a:off x="2578608" y="2308860"/>
            <a:ext cx="310896" cy="0"/>
          </a:xfrm>
          <a:prstGeom prst="line">
            <a:avLst/>
          </a:prstGeom>
          <a:noFill/>
          <a:ln w="12700">
            <a:solidFill>
              <a:srgbClr val="8295A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pipeline box 1"/>
          <p:cNvSpPr/>
          <p:nvPr/>
        </p:nvSpPr>
        <p:spPr>
          <a:xfrm>
            <a:off x="2907792" y="19202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D1C35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0" name="pipeline text 1"/>
          <p:cNvSpPr txBox="1"/>
          <p:nvPr/>
        </p:nvSpPr>
        <p:spPr>
          <a:xfrm>
            <a:off x="2907792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PPO attacker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Qwen2.5-0.5B + LoRA</a:t>
            </a:r>
            <a:endParaRPr lang="en-US" sz="1150" dirty="0"/>
          </a:p>
        </p:txBody>
      </p:sp>
      <p:sp>
        <p:nvSpPr>
          <p:cNvPr id="21" name="pipeline arrow 1"/>
          <p:cNvSpPr/>
          <p:nvPr/>
        </p:nvSpPr>
        <p:spPr>
          <a:xfrm>
            <a:off x="4846320" y="2308860"/>
            <a:ext cx="310896" cy="0"/>
          </a:xfrm>
          <a:prstGeom prst="line">
            <a:avLst/>
          </a:prstGeom>
          <a:noFill/>
          <a:ln w="12700">
            <a:solidFill>
              <a:srgbClr val="8295A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pipeline box 2"/>
          <p:cNvSpPr/>
          <p:nvPr/>
        </p:nvSpPr>
        <p:spPr>
          <a:xfrm>
            <a:off x="5175504" y="19202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D1C35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3" name="pipeline text 2"/>
          <p:cNvSpPr txBox="1"/>
          <p:nvPr/>
        </p:nvSpPr>
        <p:spPr>
          <a:xfrm>
            <a:off x="5175504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Target 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(allowlisted)</a:t>
            </a:r>
            <a:endParaRPr lang="en-US" sz="1150" dirty="0"/>
          </a:p>
        </p:txBody>
      </p:sp>
      <p:sp>
        <p:nvSpPr>
          <p:cNvPr id="24" name="pipeline arrow 2"/>
          <p:cNvSpPr/>
          <p:nvPr/>
        </p:nvSpPr>
        <p:spPr>
          <a:xfrm>
            <a:off x="7114032" y="2308860"/>
            <a:ext cx="310896" cy="0"/>
          </a:xfrm>
          <a:prstGeom prst="line">
            <a:avLst/>
          </a:prstGeom>
          <a:noFill/>
          <a:ln w="12700">
            <a:solidFill>
              <a:srgbClr val="8295A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pipeline box 3"/>
          <p:cNvSpPr/>
          <p:nvPr/>
        </p:nvSpPr>
        <p:spPr>
          <a:xfrm>
            <a:off x="7443216" y="19202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D1C35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6" name="pipeline text 3"/>
          <p:cNvSpPr txBox="1"/>
          <p:nvPr/>
        </p:nvSpPr>
        <p:spPr>
          <a:xfrm>
            <a:off x="7443216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Reward and Eval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judges (DistilBERT)</a:t>
            </a:r>
            <a:endParaRPr lang="en-US" sz="1150" dirty="0"/>
          </a:p>
        </p:txBody>
      </p:sp>
      <p:sp>
        <p:nvSpPr>
          <p:cNvPr id="27" name="pipeline arrow 3"/>
          <p:cNvSpPr/>
          <p:nvPr/>
        </p:nvSpPr>
        <p:spPr>
          <a:xfrm>
            <a:off x="9381744" y="2308860"/>
            <a:ext cx="310896" cy="0"/>
          </a:xfrm>
          <a:prstGeom prst="line">
            <a:avLst/>
          </a:prstGeom>
          <a:noFill/>
          <a:ln w="12700">
            <a:solidFill>
              <a:srgbClr val="8295A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pipeline box 4"/>
          <p:cNvSpPr/>
          <p:nvPr/>
        </p:nvSpPr>
        <p:spPr>
          <a:xfrm>
            <a:off x="9710928" y="19202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D1C35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9" name="pipeline text 4"/>
          <p:cNvSpPr txBox="1"/>
          <p:nvPr/>
        </p:nvSpPr>
        <p:spPr>
          <a:xfrm>
            <a:off x="9710928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Transcript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+ report</a:t>
            </a:r>
            <a:endParaRPr lang="en-US" sz="1150" dirty="0"/>
          </a:p>
        </p:txBody>
      </p:sp>
      <p:sp>
        <p:nvSpPr>
          <p:cNvPr id="30" name="schema arrow"/>
          <p:cNvSpPr/>
          <p:nvPr/>
        </p:nvSpPr>
        <p:spPr>
          <a:xfrm>
            <a:off x="10671048" y="2715768"/>
            <a:ext cx="0" cy="640080"/>
          </a:xfrm>
          <a:prstGeom prst="line">
            <a:avLst/>
          </a:prstGeom>
          <a:noFill/>
          <a:ln w="12700">
            <a:solidFill>
              <a:srgbClr val="8295AE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1" name="schema note"/>
          <p:cNvSpPr txBox="1"/>
          <p:nvPr/>
        </p:nvSpPr>
        <p:spPr>
          <a:xfrm>
            <a:off x="8778240" y="28529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295AE"/>
                </a:solidFill>
              </a:rPr>
              <a:t>same row schema</a:t>
            </a:r>
            <a:endParaRPr lang="en-US" sz="1000" dirty="0"/>
          </a:p>
        </p:txBody>
      </p:sp>
      <p:sp>
        <p:nvSpPr>
          <p:cNvPr id="32" name="label main_analysis.py · review 2 step"/>
          <p:cNvSpPr txBox="1"/>
          <p:nvPr/>
        </p:nvSpPr>
        <p:spPr>
          <a:xfrm>
            <a:off x="640080" y="33101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MAIN_ANALYSIS.PY · REVIEW 2 STEP</a:t>
            </a:r>
            <a:endParaRPr lang="en-US" sz="920" dirty="0"/>
          </a:p>
        </p:txBody>
      </p:sp>
      <p:sp>
        <p:nvSpPr>
          <p:cNvPr id="33" name="step box 0"/>
          <p:cNvSpPr/>
          <p:nvPr/>
        </p:nvSpPr>
        <p:spPr>
          <a:xfrm>
            <a:off x="640080" y="361188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4" name="step text 0"/>
          <p:cNvSpPr txBox="1"/>
          <p:nvPr/>
        </p:nvSpPr>
        <p:spPr>
          <a:xfrm>
            <a:off x="64008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Synthetic 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978 turns, 220 conversations,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known hidden state</a:t>
            </a:r>
            <a:endParaRPr lang="en-US" sz="1300" dirty="0"/>
          </a:p>
        </p:txBody>
      </p:sp>
      <p:sp>
        <p:nvSpPr>
          <p:cNvPr id="35" name="step arrow 0"/>
          <p:cNvSpPr/>
          <p:nvPr/>
        </p:nvSpPr>
        <p:spPr>
          <a:xfrm>
            <a:off x="2578608" y="4114800"/>
            <a:ext cx="310896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tep box 1"/>
          <p:cNvSpPr/>
          <p:nvPr/>
        </p:nvSpPr>
        <p:spPr>
          <a:xfrm>
            <a:off x="2907792" y="361188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7" name="step text 1"/>
          <p:cNvSpPr txBox="1"/>
          <p:nvPr/>
        </p:nvSpPr>
        <p:spPr>
          <a:xfrm>
            <a:off x="2907792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Standardize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3 live-judge probabilities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z = (x − μ) / σ</a:t>
            </a:r>
            <a:endParaRPr lang="en-US" sz="1300" dirty="0"/>
          </a:p>
        </p:txBody>
      </p:sp>
      <p:sp>
        <p:nvSpPr>
          <p:cNvPr id="38" name="step arrow 1"/>
          <p:cNvSpPr/>
          <p:nvPr/>
        </p:nvSpPr>
        <p:spPr>
          <a:xfrm>
            <a:off x="4846320" y="4114800"/>
            <a:ext cx="310896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tep box 2"/>
          <p:cNvSpPr/>
          <p:nvPr/>
        </p:nvSpPr>
        <p:spPr>
          <a:xfrm>
            <a:off x="5175504" y="361188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0" name="step text 2"/>
          <p:cNvSpPr txBox="1"/>
          <p:nvPr/>
        </p:nvSpPr>
        <p:spPr>
          <a:xfrm>
            <a:off x="5175504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PCA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3-D → 2-D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(the scores sum to 1)</a:t>
            </a:r>
            <a:endParaRPr lang="en-US" sz="1300" dirty="0"/>
          </a:p>
        </p:txBody>
      </p:sp>
      <p:sp>
        <p:nvSpPr>
          <p:cNvPr id="41" name="step arrow 2"/>
          <p:cNvSpPr/>
          <p:nvPr/>
        </p:nvSpPr>
        <p:spPr>
          <a:xfrm>
            <a:off x="7114032" y="4114800"/>
            <a:ext cx="310896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tep box 3"/>
          <p:cNvSpPr/>
          <p:nvPr/>
        </p:nvSpPr>
        <p:spPr>
          <a:xfrm>
            <a:off x="7443216" y="361188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3" name="step text 3"/>
          <p:cNvSpPr txBox="1"/>
          <p:nvPr/>
        </p:nvSpPr>
        <p:spPr>
          <a:xfrm>
            <a:off x="7443216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Cluster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K-means · GMM-EM ·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hierarchical</a:t>
            </a:r>
            <a:endParaRPr lang="en-US" sz="1300" dirty="0"/>
          </a:p>
        </p:txBody>
      </p:sp>
      <p:sp>
        <p:nvSpPr>
          <p:cNvPr id="44" name="step arrow 3"/>
          <p:cNvSpPr/>
          <p:nvPr/>
        </p:nvSpPr>
        <p:spPr>
          <a:xfrm>
            <a:off x="9381744" y="4114800"/>
            <a:ext cx="310896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step box 4"/>
          <p:cNvSpPr/>
          <p:nvPr/>
        </p:nvSpPr>
        <p:spPr>
          <a:xfrm>
            <a:off x="9710928" y="361188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6" name="step text 4"/>
          <p:cNvSpPr txBox="1"/>
          <p:nvPr/>
        </p:nvSpPr>
        <p:spPr>
          <a:xfrm>
            <a:off x="9710928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ARI, silhouette,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matched accuracy</a:t>
            </a:r>
            <a:endParaRPr lang="en-US" sz="1300" dirty="0"/>
          </a:p>
        </p:txBody>
      </p:sp>
      <p:sp>
        <p:nvSpPr>
          <p:cNvPr id="47" name="question card"/>
          <p:cNvSpPr/>
          <p:nvPr/>
        </p:nvSpPr>
        <p:spPr>
          <a:xfrm>
            <a:off x="640080" y="4892040"/>
            <a:ext cx="5440680" cy="1298448"/>
          </a:xfrm>
          <a:prstGeom prst="roundRect">
            <a:avLst>
              <a:gd name="adj" fmla="val 422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48" name="label question"/>
          <p:cNvSpPr txBox="1"/>
          <p:nvPr/>
        </p:nvSpPr>
        <p:spPr>
          <a:xfrm>
            <a:off x="896112" y="5047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QUESTION</a:t>
            </a:r>
            <a:endParaRPr lang="en-US" sz="920" dirty="0"/>
          </a:p>
        </p:txBody>
      </p:sp>
      <p:sp>
        <p:nvSpPr>
          <p:cNvPr id="49" name="Text 47"/>
          <p:cNvSpPr txBox="1"/>
          <p:nvPr/>
        </p:nvSpPr>
        <p:spPr>
          <a:xfrm>
            <a:off x="896112" y="53583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Without labels, do judge scores fall into three groups that match refusal, partial compliance and full violation?</a:t>
            </a:r>
            <a:endParaRPr lang="en-US" sz="1300" dirty="0"/>
          </a:p>
        </p:txBody>
      </p:sp>
      <p:sp>
        <p:nvSpPr>
          <p:cNvPr id="50" name="why card"/>
          <p:cNvSpPr/>
          <p:nvPr/>
        </p:nvSpPr>
        <p:spPr>
          <a:xfrm>
            <a:off x="6199632" y="4892040"/>
            <a:ext cx="5349240" cy="1298448"/>
          </a:xfrm>
          <a:prstGeom prst="roundRect">
            <a:avLst>
              <a:gd name="adj" fmla="val 422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1" name="label why it matters"/>
          <p:cNvSpPr txBox="1"/>
          <p:nvPr/>
        </p:nvSpPr>
        <p:spPr>
          <a:xfrm>
            <a:off x="6455664" y="5047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5"/>
                </a:solidFill>
              </a:rPr>
              <a:t>WHY IT MATTERS</a:t>
            </a:r>
            <a:endParaRPr lang="en-US" sz="920" dirty="0"/>
          </a:p>
        </p:txBody>
      </p:sp>
      <p:sp>
        <p:nvSpPr>
          <p:cNvPr id="52" name="Text 50"/>
          <p:cNvSpPr txBox="1"/>
          <p:nvPr/>
        </p:nvSpPr>
        <p:spPr>
          <a:xfrm>
            <a:off x="6455664" y="53583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Human labels are expensive. If score clusters track the true state, clusters can flag turns for review without a labelled set.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simulated campaign whose hidden states are known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The repository generates simulated conversations with known states so each cluster can be checked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DATA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4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6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 / 14</a:t>
            </a:r>
            <a:endParaRPr lang="en-US" sz="820" dirty="0"/>
          </a:p>
        </p:txBody>
      </p:sp>
      <p:sp>
        <p:nvSpPr>
          <p:cNvPr id="15" name="campaign card"/>
          <p:cNvSpPr/>
          <p:nvPr/>
        </p:nvSpPr>
        <p:spPr>
          <a:xfrm>
            <a:off x="640080" y="1645920"/>
            <a:ext cx="544068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synthetic multi-turn campaign"/>
          <p:cNvSpPr txBox="1"/>
          <p:nvPr/>
        </p:nvSpPr>
        <p:spPr>
          <a:xfrm>
            <a:off x="914400" y="18745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5"/>
                </a:solidFill>
              </a:rPr>
              <a:t>SYNTHETIC MULTI-TURN CAMPAIGN</a:t>
            </a:r>
            <a:endParaRPr lang="en-US" sz="920" dirty="0"/>
          </a:p>
        </p:txBody>
      </p:sp>
      <p:sp>
        <p:nvSpPr>
          <p:cNvPr id="17" name="stat turns"/>
          <p:cNvSpPr/>
          <p:nvPr/>
        </p:nvSpPr>
        <p:spPr>
          <a:xfrm>
            <a:off x="914400" y="2212848"/>
            <a:ext cx="1133856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8" name="stat value turns"/>
          <p:cNvSpPr txBox="1"/>
          <p:nvPr/>
        </p:nvSpPr>
        <p:spPr>
          <a:xfrm>
            <a:off x="914400" y="228600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978</a:t>
            </a:r>
            <a:endParaRPr lang="en-US" sz="2200" dirty="0"/>
          </a:p>
        </p:txBody>
      </p:sp>
      <p:sp>
        <p:nvSpPr>
          <p:cNvPr id="19" name="stat caption turns"/>
          <p:cNvSpPr txBox="1"/>
          <p:nvPr/>
        </p:nvSpPr>
        <p:spPr>
          <a:xfrm>
            <a:off x="960120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turns</a:t>
            </a:r>
            <a:endParaRPr lang="en-US" sz="950" dirty="0"/>
          </a:p>
        </p:txBody>
      </p:sp>
      <p:sp>
        <p:nvSpPr>
          <p:cNvPr id="20" name="stat conversations"/>
          <p:cNvSpPr/>
          <p:nvPr/>
        </p:nvSpPr>
        <p:spPr>
          <a:xfrm>
            <a:off x="2157984" y="2212848"/>
            <a:ext cx="1133856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1" name="stat value conversations"/>
          <p:cNvSpPr txBox="1"/>
          <p:nvPr/>
        </p:nvSpPr>
        <p:spPr>
          <a:xfrm>
            <a:off x="2157984" y="228600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</a:t>
            </a:r>
            <a:endParaRPr lang="en-US" sz="2200" dirty="0"/>
          </a:p>
        </p:txBody>
      </p:sp>
      <p:sp>
        <p:nvSpPr>
          <p:cNvPr id="22" name="stat caption conversations"/>
          <p:cNvSpPr txBox="1"/>
          <p:nvPr/>
        </p:nvSpPr>
        <p:spPr>
          <a:xfrm>
            <a:off x="2203704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conversations</a:t>
            </a:r>
            <a:endParaRPr lang="en-US" sz="950" dirty="0"/>
          </a:p>
        </p:txBody>
      </p:sp>
      <p:sp>
        <p:nvSpPr>
          <p:cNvPr id="23" name="stat target profiles"/>
          <p:cNvSpPr/>
          <p:nvPr/>
        </p:nvSpPr>
        <p:spPr>
          <a:xfrm>
            <a:off x="3401568" y="2212848"/>
            <a:ext cx="1133856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4" name="stat value target profiles"/>
          <p:cNvSpPr txBox="1"/>
          <p:nvPr/>
        </p:nvSpPr>
        <p:spPr>
          <a:xfrm>
            <a:off x="3401568" y="228600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stat caption target profiles"/>
          <p:cNvSpPr txBox="1"/>
          <p:nvPr/>
        </p:nvSpPr>
        <p:spPr>
          <a:xfrm>
            <a:off x="344728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target profiles</a:t>
            </a:r>
            <a:endParaRPr lang="en-US" sz="950" dirty="0"/>
          </a:p>
        </p:txBody>
      </p:sp>
      <p:sp>
        <p:nvSpPr>
          <p:cNvPr id="26" name="stat max turns"/>
          <p:cNvSpPr/>
          <p:nvPr/>
        </p:nvSpPr>
        <p:spPr>
          <a:xfrm>
            <a:off x="4645152" y="2212848"/>
            <a:ext cx="1133856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7" name="stat value max turns"/>
          <p:cNvSpPr txBox="1"/>
          <p:nvPr/>
        </p:nvSpPr>
        <p:spPr>
          <a:xfrm>
            <a:off x="4645152" y="228600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stat caption max turns"/>
          <p:cNvSpPr txBox="1"/>
          <p:nvPr/>
        </p:nvSpPr>
        <p:spPr>
          <a:xfrm>
            <a:off x="4690872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max turns</a:t>
            </a:r>
            <a:endParaRPr lang="en-US" sz="950" dirty="0"/>
          </a:p>
        </p:txBody>
      </p:sp>
      <p:graphicFrame>
        <p:nvGraphicFramePr>
          <p:cNvPr id="6" name="stat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4892040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Hidden state z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Turns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Refusal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523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Partial compliance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311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Full violation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144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914400" y="452628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Rows use the real campaign transcript schema (data/generate_synthetic_campaign.py, seed 42), so the same code runs on a real campaign.</a:t>
            </a:r>
            <a:endParaRPr lang="en-US" sz="1250" dirty="0"/>
          </a:p>
        </p:txBody>
      </p:sp>
      <p:sp>
        <p:nvSpPr>
          <p:cNvPr id="31" name="generator card"/>
          <p:cNvSpPr/>
          <p:nvPr/>
        </p:nvSpPr>
        <p:spPr>
          <a:xfrm>
            <a:off x="6199632" y="1645920"/>
            <a:ext cx="534924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2" name="label generating model"/>
          <p:cNvSpPr txBox="1"/>
          <p:nvPr/>
        </p:nvSpPr>
        <p:spPr>
          <a:xfrm>
            <a:off x="6473952" y="18745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GENERATING MODEL</a:t>
            </a:r>
            <a:endParaRPr lang="en-US" sz="920" dirty="0"/>
          </a:p>
        </p:txBody>
      </p:sp>
      <p:sp>
        <p:nvSpPr>
          <p:cNvPr id="33" name="generator equations"/>
          <p:cNvSpPr txBox="1"/>
          <p:nvPr/>
        </p:nvSpPr>
        <p:spPr>
          <a:xfrm>
            <a:off x="6473952" y="221284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z₁ ~ Cat(0.75, 0.20, 0.05)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z_t | z_{t−1} ~ A_target[z_{t−1}, ·]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(p_ref, p_par, p_full) ~ Dirichlet(α_{z_t})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stops when the judge's P(full) ≥ 0.5, or after 6 turns</a:t>
            </a:r>
            <a:endParaRPr lang="en-US" sz="1550" dirty="0"/>
          </a:p>
        </p:txBody>
      </p:sp>
      <p:sp>
        <p:nvSpPr>
          <p:cNvPr id="34" name="label jailbreakbench"/>
          <p:cNvSpPr txBox="1"/>
          <p:nvPr/>
        </p:nvSpPr>
        <p:spPr>
          <a:xfrm>
            <a:off x="6473952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DATA BOUNDARY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6473952" y="449884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These results use the generated synthetic campaign. Review 1 examined a separate real-data baseline; do not compare the two as one dataset.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MATHEMATICAL SETUP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Features, standardization and the simplex constraint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Turn-level models use the three judge probabilities; hierarchical clustering uses one row per conversation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DATA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5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7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 / 14</a:t>
            </a:r>
            <a:endParaRPr lang="en-US" sz="820" dirty="0"/>
          </a:p>
        </p:txBody>
      </p:sp>
      <p:sp>
        <p:nvSpPr>
          <p:cNvPr id="15" name="notation card"/>
          <p:cNvSpPr/>
          <p:nvPr/>
        </p:nvSpPr>
        <p:spPr>
          <a:xfrm>
            <a:off x="640080" y="1645920"/>
            <a:ext cx="475488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turn-level input"/>
          <p:cNvSpPr txBox="1"/>
          <p:nvPr/>
        </p:nvSpPr>
        <p:spPr>
          <a:xfrm>
            <a:off x="914400" y="1901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TURN-LEVEL INPUT</a:t>
            </a:r>
            <a:endParaRPr lang="en-US" sz="920" dirty="0"/>
          </a:p>
        </p:txBody>
      </p:sp>
      <p:sp>
        <p:nvSpPr>
          <p:cNvPr id="17" name="notation equations"/>
          <p:cNvSpPr txBox="1"/>
          <p:nvPr/>
        </p:nvSpPr>
        <p:spPr>
          <a:xfrm>
            <a:off x="914400" y="22402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xₙ = (P_refusal, P_partial, P_full) ∈ ℝ³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zₙ = (xₙ − μ) / σ   (per column)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P_refusal + P_partial + P_full = 1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this constraint the points lie on a plane, so one direction carries no variance. PCA should find it.</a:t>
            </a:r>
            <a:endParaRPr lang="en-US" sz="1600" dirty="0"/>
          </a:p>
        </p:txBody>
      </p:sp>
      <p:sp>
        <p:nvSpPr>
          <p:cNvPr id="18" name="label conversation-level input (hierarchical)"/>
          <p:cNvSpPr txBox="1"/>
          <p:nvPr/>
        </p:nvSpPr>
        <p:spPr>
          <a:xfrm>
            <a:off x="914400" y="44348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5"/>
                </a:solidFill>
              </a:rPr>
              <a:t>CONVERSATION-LEVEL INPUT (HIERARCHICAL)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7365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Mean P_refusal, P_partial and P_full; peak P_full; number of turns; final P_full. That is 220 × 6, standardized.</a:t>
            </a:r>
            <a:endParaRPr lang="en-US" sz="1250" dirty="0"/>
          </a:p>
        </p:txBody>
      </p:sp>
      <p:sp>
        <p:nvSpPr>
          <p:cNvPr id="20" name="code box src/analysis/unsupervised.py"/>
          <p:cNvSpPr/>
          <p:nvPr/>
        </p:nvSpPr>
        <p:spPr>
          <a:xfrm>
            <a:off x="5577840" y="1645920"/>
            <a:ext cx="5971032" cy="3291840"/>
          </a:xfrm>
          <a:prstGeom prst="roundRect">
            <a:avLst>
              <a:gd name="adj" fmla="val 1389"/>
            </a:avLst>
          </a:prstGeom>
          <a:solidFill>
            <a:srgbClr val="0B1A33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1" name="code label"/>
          <p:cNvSpPr txBox="1"/>
          <p:nvPr/>
        </p:nvSpPr>
        <p:spPr>
          <a:xfrm>
            <a:off x="5779008" y="17739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2"/>
                </a:solidFill>
              </a:rPr>
              <a:t>CODE SNIPPET</a:t>
            </a:r>
            <a:endParaRPr lang="en-US" sz="750" dirty="0"/>
          </a:p>
        </p:txBody>
      </p:sp>
      <p:sp>
        <p:nvSpPr>
          <p:cNvPr id="22" name="code source"/>
          <p:cNvSpPr txBox="1"/>
          <p:nvPr/>
        </p:nvSpPr>
        <p:spPr>
          <a:xfrm>
            <a:off x="8147304" y="17739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src/analysis/unsupervised.py</a:t>
            </a:r>
            <a:endParaRPr lang="en-US" sz="750" dirty="0"/>
          </a:p>
        </p:txBody>
      </p:sp>
      <p:sp>
        <p:nvSpPr>
          <p:cNvPr id="23" name="code text"/>
          <p:cNvSpPr txBox="1"/>
          <p:nvPr/>
        </p:nvSpPr>
        <p:spPr>
          <a:xfrm>
            <a:off x="5779008" y="2029968"/>
            <a:ext cx="556869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df = load_transcript_rows().dropna(subset=['true_compliance_state'])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y = df['true_compliance_state'].map(COMPLIANCE_STATES.index).values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X = df[SCORE_COLUMNS].values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X = (X - X.mean(axis=0)) / X.std(axis=0)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  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mean, U, ratio = pca(X)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07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Z = (X - mean) @ U[:, :2]      # 2-D principal subspace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08  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09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km_labels = kmeans(Z, 3)[0]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gmm_labels = gmm_em(Z, 3)[0]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hc_labels = agglomerative(C, 3, 'complete')</a:t>
            </a:r>
            <a:endParaRPr lang="en-US" sz="950" dirty="0"/>
          </a:p>
        </p:txBody>
      </p:sp>
      <p:sp>
        <p:nvSpPr>
          <p:cNvPr id="24" name="callout"/>
          <p:cNvSpPr/>
          <p:nvPr/>
        </p:nvSpPr>
        <p:spPr>
          <a:xfrm>
            <a:off x="5577840" y="5120640"/>
            <a:ext cx="5971032" cy="10515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5" name="callout text"/>
          <p:cNvSpPr txBox="1"/>
          <p:nvPr/>
        </p:nvSpPr>
        <p:spPr>
          <a:xfrm>
            <a:off x="5806440" y="5120640"/>
            <a:ext cx="5513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y is never passed to a model. It is only compared with the clusters afterwards.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UNIT 3 · PCA, CHOOSING LATENT DIMENSIONS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shows three judge scores carry only two dimensions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Eigen-decomposition of the covariance; the third eigenvalue is exactly zero because the probabilities sum to 1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MODELS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6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8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07 / 14</a:t>
            </a:r>
            <a:endParaRPr lang="en-US" sz="820" dirty="0"/>
          </a:p>
        </p:txBody>
      </p:sp>
      <p:sp>
        <p:nvSpPr>
          <p:cNvPr id="15" name="pca math card"/>
          <p:cNvSpPr/>
          <p:nvPr/>
        </p:nvSpPr>
        <p:spPr>
          <a:xfrm>
            <a:off x="640080" y="1645920"/>
            <a:ext cx="4206240" cy="4526280"/>
          </a:xfrm>
          <a:prstGeom prst="roundRect">
            <a:avLst>
              <a:gd name="adj" fmla="val 130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mathematical model"/>
          <p:cNvSpPr txBox="1"/>
          <p:nvPr/>
        </p:nvSpPr>
        <p:spPr>
          <a:xfrm>
            <a:off x="9144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MATHEMATICAL MODEL</a:t>
            </a:r>
            <a:endParaRPr lang="en-US" sz="920" dirty="0"/>
          </a:p>
        </p:txBody>
      </p:sp>
      <p:sp>
        <p:nvSpPr>
          <p:cNvPr id="17" name="pca equations"/>
          <p:cNvSpPr txBox="1"/>
          <p:nvPr/>
        </p:nvSpPr>
        <p:spPr>
          <a:xfrm>
            <a:off x="914400" y="221284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(1/N) Σₙ (xₙ − x̄)(xₙ − x̄)ᵀ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uᵢ = λᵢ uᵢ,   λ₁ ≥ λ₂ ≥ λ₃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zₙ = U_Mᵀ (xₙ − x̄)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ratioᵢ = λᵢ / Σⱼ λⱼ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 = 2. Keeping the zero-variance direction would make every Gaussian covariance in the GMM singular.</a:t>
            </a:r>
            <a:endParaRPr lang="en-US" sz="1600" dirty="0"/>
          </a:p>
        </p:txBody>
      </p:sp>
      <p:sp>
        <p:nvSpPr>
          <p:cNvPr id="18" name="code box "/>
          <p:cNvSpPr/>
          <p:nvPr/>
        </p:nvSpPr>
        <p:spPr>
          <a:xfrm>
            <a:off x="914400" y="4892040"/>
            <a:ext cx="3749040" cy="1097280"/>
          </a:xfrm>
          <a:prstGeom prst="roundRect">
            <a:avLst>
              <a:gd name="adj" fmla="val 4167"/>
            </a:avLst>
          </a:prstGeom>
          <a:solidFill>
            <a:srgbClr val="0B1A33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9" name="code label"/>
          <p:cNvSpPr txBox="1"/>
          <p:nvPr/>
        </p:nvSpPr>
        <p:spPr>
          <a:xfrm>
            <a:off x="1115568" y="5020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2"/>
                </a:solidFill>
              </a:rPr>
              <a:t>CODE</a:t>
            </a:r>
            <a:endParaRPr lang="en-US" sz="750" dirty="0"/>
          </a:p>
        </p:txBody>
      </p:sp>
      <p:sp>
        <p:nvSpPr>
          <p:cNvPr id="20" name="code text"/>
          <p:cNvSpPr txBox="1"/>
          <p:nvPr/>
        </p:nvSpPr>
        <p:spPr>
          <a:xfrm>
            <a:off x="1115568" y="5276088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 = (X - mean).T @ (X - mean) / len(X)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eigvals, eigvecs = np.linalg.eigh(S)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order = np.argsort(eigvals)[::-1]</a:t>
            </a:r>
            <a:endParaRPr lang="en-US" sz="950" dirty="0"/>
          </a:p>
        </p:txBody>
      </p:sp>
      <p:sp>
        <p:nvSpPr>
          <p:cNvPr id="21" name="scree card"/>
          <p:cNvSpPr/>
          <p:nvPr/>
        </p:nvSpPr>
        <p:spPr>
          <a:xfrm>
            <a:off x="5010912" y="1645920"/>
            <a:ext cx="4206240" cy="4526280"/>
          </a:xfrm>
          <a:prstGeom prst="roundRect">
            <a:avLst>
              <a:gd name="adj" fmla="val 130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pic>
        <p:nvPicPr>
          <p:cNvPr id="22" name="figure scree.png" descr="PCA scree plot: PC1 0.677, PC2 0.323, PC3 0.00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87471"/>
            <a:ext cx="4078224" cy="2843178"/>
          </a:xfrm>
          <a:prstGeom prst="rect">
            <a:avLst/>
          </a:prstGeom>
        </p:spPr>
      </p:pic>
      <p:sp>
        <p:nvSpPr>
          <p:cNvPr id="23" name="stat PC1: refusal versus the rest"/>
          <p:cNvSpPr/>
          <p:nvPr/>
        </p:nvSpPr>
        <p:spPr>
          <a:xfrm>
            <a:off x="9381744" y="1645920"/>
            <a:ext cx="2167128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4" name="stat value PC1: refusal versus the rest"/>
          <p:cNvSpPr txBox="1"/>
          <p:nvPr/>
        </p:nvSpPr>
        <p:spPr>
          <a:xfrm>
            <a:off x="9381744" y="171907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67.7 %</a:t>
            </a:r>
            <a:endParaRPr lang="en-US" sz="2200" dirty="0"/>
          </a:p>
        </p:txBody>
      </p:sp>
      <p:sp>
        <p:nvSpPr>
          <p:cNvPr id="25" name="stat caption PC1: refusal versus the rest"/>
          <p:cNvSpPr txBox="1"/>
          <p:nvPr/>
        </p:nvSpPr>
        <p:spPr>
          <a:xfrm>
            <a:off x="9427464" y="215798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PC1: refusal versus the rest</a:t>
            </a:r>
            <a:endParaRPr lang="en-US" sz="950" dirty="0"/>
          </a:p>
        </p:txBody>
      </p:sp>
      <p:sp>
        <p:nvSpPr>
          <p:cNvPr id="26" name="stat PC2: partial versus full"/>
          <p:cNvSpPr/>
          <p:nvPr/>
        </p:nvSpPr>
        <p:spPr>
          <a:xfrm>
            <a:off x="9381744" y="2670048"/>
            <a:ext cx="2167128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7" name="stat value PC2: partial versus full"/>
          <p:cNvSpPr txBox="1"/>
          <p:nvPr/>
        </p:nvSpPr>
        <p:spPr>
          <a:xfrm>
            <a:off x="9381744" y="2743200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32.3 %</a:t>
            </a:r>
            <a:endParaRPr lang="en-US" sz="2200" dirty="0"/>
          </a:p>
        </p:txBody>
      </p:sp>
      <p:sp>
        <p:nvSpPr>
          <p:cNvPr id="28" name="stat caption PC2: partial versus full"/>
          <p:cNvSpPr txBox="1"/>
          <p:nvPr/>
        </p:nvSpPr>
        <p:spPr>
          <a:xfrm>
            <a:off x="9427464" y="3182112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PC2: partial versus full</a:t>
            </a:r>
            <a:endParaRPr lang="en-US" sz="950" dirty="0"/>
          </a:p>
        </p:txBody>
      </p:sp>
      <p:sp>
        <p:nvSpPr>
          <p:cNvPr id="29" name="stat PC3: the simplex constraint"/>
          <p:cNvSpPr/>
          <p:nvPr/>
        </p:nvSpPr>
        <p:spPr>
          <a:xfrm>
            <a:off x="9381744" y="3694176"/>
            <a:ext cx="2167128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0" name="stat value PC3: the simplex constraint"/>
          <p:cNvSpPr txBox="1"/>
          <p:nvPr/>
        </p:nvSpPr>
        <p:spPr>
          <a:xfrm>
            <a:off x="9381744" y="3767328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</a:t>
            </a:r>
            <a:endParaRPr lang="en-US" sz="2200" dirty="0"/>
          </a:p>
        </p:txBody>
      </p:sp>
      <p:sp>
        <p:nvSpPr>
          <p:cNvPr id="31" name="stat caption PC3: the simplex constraint"/>
          <p:cNvSpPr txBox="1"/>
          <p:nvPr/>
        </p:nvSpPr>
        <p:spPr>
          <a:xfrm>
            <a:off x="9427464" y="4206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PC3: the simplex constraint</a:t>
            </a:r>
            <a:endParaRPr lang="en-US" sz="950" dirty="0"/>
          </a:p>
        </p:txBody>
      </p:sp>
      <p:sp>
        <p:nvSpPr>
          <p:cNvPr id="32" name="callout"/>
          <p:cNvSpPr/>
          <p:nvPr/>
        </p:nvSpPr>
        <p:spPr>
          <a:xfrm>
            <a:off x="9381744" y="4718304"/>
            <a:ext cx="2167128" cy="1453896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3" name="callout text"/>
          <p:cNvSpPr txBox="1"/>
          <p:nvPr/>
        </p:nvSpPr>
        <p:spPr>
          <a:xfrm>
            <a:off x="9610344" y="4718304"/>
            <a:ext cx="170992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Keep 2 PCs: 100 % of the variance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UNIT 3 · K-MEANS CLUSTERING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alternates nearest-centre assignment and mean updates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k-means++ seeding with 10 restarts; k is chosen with the elbow in distortion and with the silhouette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MODELS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7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9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08 / 14</a:t>
            </a:r>
            <a:endParaRPr lang="en-US" sz="820" dirty="0"/>
          </a:p>
        </p:txBody>
      </p:sp>
      <p:sp>
        <p:nvSpPr>
          <p:cNvPr id="15" name="kmeans math card"/>
          <p:cNvSpPr/>
          <p:nvPr/>
        </p:nvSpPr>
        <p:spPr>
          <a:xfrm>
            <a:off x="640080" y="1645920"/>
            <a:ext cx="502920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mathematical model"/>
          <p:cNvSpPr txBox="1"/>
          <p:nvPr/>
        </p:nvSpPr>
        <p:spPr>
          <a:xfrm>
            <a:off x="9144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MATHEMATICAL MODEL</a:t>
            </a:r>
            <a:endParaRPr lang="en-US" sz="920" dirty="0"/>
          </a:p>
        </p:txBody>
      </p:sp>
      <p:sp>
        <p:nvSpPr>
          <p:cNvPr id="17" name="kmeans equations"/>
          <p:cNvSpPr txBox="1"/>
          <p:nvPr/>
        </p:nvSpPr>
        <p:spPr>
          <a:xfrm>
            <a:off x="914400" y="221284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= Σₙ Σ_k r_nk ‖xₙ − μ_k‖²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E-step:  r_nk = 1 if k = argminⱼ ‖xₙ − μⱼ‖²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M-step:  μ_k = Σₙ r_nk xₙ / Σₙ r_nk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k-means++:  P(next centre = xₙ) ∝ minⱼ ‖xₙ − μⱼ‖²</a:t>
            </a:r>
            <a:endParaRPr lang="en-US" sz="1500" dirty="0"/>
          </a:p>
        </p:txBody>
      </p:sp>
      <p:sp>
        <p:nvSpPr>
          <p:cNvPr id="18" name="code box unsupervised.py::kmeans"/>
          <p:cNvSpPr/>
          <p:nvPr/>
        </p:nvSpPr>
        <p:spPr>
          <a:xfrm>
            <a:off x="914400" y="4069080"/>
            <a:ext cx="4572000" cy="1828800"/>
          </a:xfrm>
          <a:prstGeom prst="roundRect">
            <a:avLst>
              <a:gd name="adj" fmla="val 2500"/>
            </a:avLst>
          </a:prstGeom>
          <a:solidFill>
            <a:srgbClr val="0B1A33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9" name="code label"/>
          <p:cNvSpPr txBox="1"/>
          <p:nvPr/>
        </p:nvSpPr>
        <p:spPr>
          <a:xfrm>
            <a:off x="1115568" y="41970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2"/>
                </a:solidFill>
              </a:rPr>
              <a:t>CODE SNIPPET</a:t>
            </a:r>
            <a:endParaRPr lang="en-US" sz="750" dirty="0"/>
          </a:p>
        </p:txBody>
      </p:sp>
      <p:sp>
        <p:nvSpPr>
          <p:cNvPr id="20" name="code source"/>
          <p:cNvSpPr txBox="1"/>
          <p:nvPr/>
        </p:nvSpPr>
        <p:spPr>
          <a:xfrm>
            <a:off x="2084832" y="41970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unsupervised.py::kmeans</a:t>
            </a:r>
            <a:endParaRPr lang="en-US" sz="750" dirty="0"/>
          </a:p>
        </p:txBody>
      </p:sp>
      <p:sp>
        <p:nvSpPr>
          <p:cNvPr id="21" name="code text"/>
          <p:cNvSpPr txBox="1"/>
          <p:nvPr/>
        </p:nvSpPr>
        <p:spPr>
          <a:xfrm>
            <a:off x="1115568" y="4453128"/>
            <a:ext cx="41696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E-step: nearest centre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labels = sq_dists(X, mu).argmin(axis=1)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M-step: mean of each cluster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new_mu = np.array([X[labels == j].mean(axis=0)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    for j in range(k)])</a:t>
            </a:r>
            <a:endParaRPr lang="en-US" sz="950" dirty="0"/>
          </a:p>
        </p:txBody>
      </p:sp>
      <p:sp>
        <p:nvSpPr>
          <p:cNvPr id="22" name="kselect card"/>
          <p:cNvSpPr/>
          <p:nvPr/>
        </p:nvSpPr>
        <p:spPr>
          <a:xfrm>
            <a:off x="5833872" y="1645920"/>
            <a:ext cx="5715000" cy="3246120"/>
          </a:xfrm>
          <a:prstGeom prst="roundRect">
            <a:avLst>
              <a:gd name="adj" fmla="val 169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pic>
        <p:nvPicPr>
          <p:cNvPr id="23" name="figure kmeans_select.png" descr="K-means distortion and silhouette against k; silhouette peaks at k equals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085" y="1709928"/>
            <a:ext cx="4472575" cy="3118104"/>
          </a:xfrm>
          <a:prstGeom prst="rect">
            <a:avLst/>
          </a:prstGeom>
        </p:spPr>
      </p:pic>
      <p:sp>
        <p:nvSpPr>
          <p:cNvPr id="24" name="stat elbow + peak silhouette"/>
          <p:cNvSpPr/>
          <p:nvPr/>
        </p:nvSpPr>
        <p:spPr>
          <a:xfrm>
            <a:off x="5833872" y="5074920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5" name="stat value elbow + peak silhouette"/>
          <p:cNvSpPr txBox="1"/>
          <p:nvPr/>
        </p:nvSpPr>
        <p:spPr>
          <a:xfrm>
            <a:off x="5833872" y="514807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3</a:t>
            </a:r>
            <a:endParaRPr lang="en-US" sz="2200" dirty="0"/>
          </a:p>
        </p:txBody>
      </p:sp>
      <p:sp>
        <p:nvSpPr>
          <p:cNvPr id="26" name="stat caption elbow + peak silhouette"/>
          <p:cNvSpPr txBox="1"/>
          <p:nvPr/>
        </p:nvSpPr>
        <p:spPr>
          <a:xfrm>
            <a:off x="5879592" y="558698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elbow + peak silhouette</a:t>
            </a:r>
            <a:endParaRPr lang="en-US" sz="950" dirty="0"/>
          </a:p>
        </p:txBody>
      </p:sp>
      <p:sp>
        <p:nvSpPr>
          <p:cNvPr id="27" name="stat silhouette at k = 3"/>
          <p:cNvSpPr/>
          <p:nvPr/>
        </p:nvSpPr>
        <p:spPr>
          <a:xfrm>
            <a:off x="7790688" y="5074920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8" name="stat value silhouette at k = 3"/>
          <p:cNvSpPr txBox="1"/>
          <p:nvPr/>
        </p:nvSpPr>
        <p:spPr>
          <a:xfrm>
            <a:off x="7790688" y="514807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0.684</a:t>
            </a:r>
            <a:endParaRPr lang="en-US" sz="2200" dirty="0"/>
          </a:p>
        </p:txBody>
      </p:sp>
      <p:sp>
        <p:nvSpPr>
          <p:cNvPr id="29" name="stat caption silhouette at k = 3"/>
          <p:cNvSpPr txBox="1"/>
          <p:nvPr/>
        </p:nvSpPr>
        <p:spPr>
          <a:xfrm>
            <a:off x="7836408" y="558698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silhouette at k = 3</a:t>
            </a:r>
            <a:endParaRPr lang="en-US" sz="950" dirty="0"/>
          </a:p>
        </p:txBody>
      </p:sp>
      <p:sp>
        <p:nvSpPr>
          <p:cNvPr id="30" name="stat ARI vs true state"/>
          <p:cNvSpPr/>
          <p:nvPr/>
        </p:nvSpPr>
        <p:spPr>
          <a:xfrm>
            <a:off x="9747504" y="5074920"/>
            <a:ext cx="1801368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1" name="stat value ARI vs true state"/>
          <p:cNvSpPr txBox="1"/>
          <p:nvPr/>
        </p:nvSpPr>
        <p:spPr>
          <a:xfrm>
            <a:off x="9747504" y="5148072"/>
            <a:ext cx="1801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0.924</a:t>
            </a:r>
            <a:endParaRPr lang="en-US" sz="2200" dirty="0"/>
          </a:p>
        </p:txBody>
      </p:sp>
      <p:sp>
        <p:nvSpPr>
          <p:cNvPr id="32" name="stat caption ARI vs true state"/>
          <p:cNvSpPr txBox="1"/>
          <p:nvPr/>
        </p:nvSpPr>
        <p:spPr>
          <a:xfrm>
            <a:off x="9793224" y="558698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ARI vs true state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UNIT 3 · MIXTURES OF GAUSSIANS AND EM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mixture fitted with expectation–maximization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Soft responsibilities instead of hard assignments; initialized from K-means, converged in 41 iterations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MODELS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8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10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09 / 14</a:t>
            </a:r>
            <a:endParaRPr lang="en-US" sz="820" dirty="0"/>
          </a:p>
        </p:txBody>
      </p:sp>
      <p:sp>
        <p:nvSpPr>
          <p:cNvPr id="15" name="em math card"/>
          <p:cNvSpPr/>
          <p:nvPr/>
        </p:nvSpPr>
        <p:spPr>
          <a:xfrm>
            <a:off x="640080" y="1645920"/>
            <a:ext cx="557784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mathematical model"/>
          <p:cNvSpPr txBox="1"/>
          <p:nvPr/>
        </p:nvSpPr>
        <p:spPr>
          <a:xfrm>
            <a:off x="9144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MATHEMATICAL MODEL</a:t>
            </a:r>
            <a:endParaRPr lang="en-US" sz="920" dirty="0"/>
          </a:p>
        </p:txBody>
      </p:sp>
      <p:sp>
        <p:nvSpPr>
          <p:cNvPr id="17" name="em equations"/>
          <p:cNvSpPr txBox="1"/>
          <p:nvPr/>
        </p:nvSpPr>
        <p:spPr>
          <a:xfrm>
            <a:off x="914400" y="2212848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p(x) = Σ_k π_k N(x | μ_k, Σ_k)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E:  γ_nk = π_k N(xₙ|μ_k,Σ_k) / Σⱼ πⱼ N(xₙ|μⱼ,Σⱼ)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M:  N_k = Σₙ γ_nk,   π_k = N_k / N,   μ_k = Σₙ γ_nk xₙ / N_k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Σ_k = Σₙ γ_nk (xₙ − μ_k)(xₙ − μ_k)ᵀ / N_k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p(X) = Σₙ ln Σ_k π_k N(xₙ | μ_k, Σ_k)  (never decreases)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 = −2 ln L + p ln N</a:t>
            </a:r>
            <a:endParaRPr lang="en-US" sz="1450" dirty="0"/>
          </a:p>
        </p:txBody>
      </p:sp>
      <p:sp>
        <p:nvSpPr>
          <p:cNvPr id="18" name="code box unsupervised.py::gmm_em"/>
          <p:cNvSpPr/>
          <p:nvPr/>
        </p:nvSpPr>
        <p:spPr>
          <a:xfrm>
            <a:off x="914400" y="4343400"/>
            <a:ext cx="5120640" cy="1691640"/>
          </a:xfrm>
          <a:prstGeom prst="roundRect">
            <a:avLst>
              <a:gd name="adj" fmla="val 2703"/>
            </a:avLst>
          </a:prstGeom>
          <a:solidFill>
            <a:srgbClr val="0B1A33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9" name="code label"/>
          <p:cNvSpPr txBox="1"/>
          <p:nvPr/>
        </p:nvSpPr>
        <p:spPr>
          <a:xfrm>
            <a:off x="1115568" y="44714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2"/>
                </a:solidFill>
              </a:rPr>
              <a:t>E-STEP</a:t>
            </a:r>
            <a:endParaRPr lang="en-US" sz="750" dirty="0"/>
          </a:p>
        </p:txBody>
      </p:sp>
      <p:sp>
        <p:nvSpPr>
          <p:cNvPr id="20" name="code source"/>
          <p:cNvSpPr txBox="1"/>
          <p:nvPr/>
        </p:nvSpPr>
        <p:spPr>
          <a:xfrm>
            <a:off x="2633472" y="44714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unsupervised.py::gmm_em</a:t>
            </a:r>
            <a:endParaRPr lang="en-US" sz="750" dirty="0"/>
          </a:p>
        </p:txBody>
      </p:sp>
      <p:sp>
        <p:nvSpPr>
          <p:cNvPr id="21" name="code text"/>
          <p:cNvSpPr txBox="1"/>
          <p:nvPr/>
        </p:nvSpPr>
        <p:spPr>
          <a:xfrm>
            <a:off x="1115568" y="4727448"/>
            <a:ext cx="47183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lj = np.column_stack([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np.log(pi[j]) + log_gauss(X, mu[j], cov[j])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for j in range(k)])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 = lj.max(axis=1, keepdims=True)          # log-sum-exp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log_norm = m[:, 0] + np.log(np.exp(lj - m).sum(axis=1))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  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 = np.exp(lj - log_norm[:, None])         # gamma_nk</a:t>
            </a:r>
            <a:endParaRPr lang="en-US" sz="950" dirty="0"/>
          </a:p>
        </p:txBody>
      </p:sp>
      <p:sp>
        <p:nvSpPr>
          <p:cNvPr id="22" name="gmm figure card"/>
          <p:cNvSpPr/>
          <p:nvPr/>
        </p:nvSpPr>
        <p:spPr>
          <a:xfrm>
            <a:off x="6382512" y="1645920"/>
            <a:ext cx="5166360" cy="27432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pic>
        <p:nvPicPr>
          <p:cNvPr id="23" name="figure gmm.png" descr="GMM BIC against K and EM log-likelihood rising to converge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92276"/>
            <a:ext cx="5038344" cy="2050489"/>
          </a:xfrm>
          <a:prstGeom prst="rect">
            <a:avLst/>
          </a:prstGeom>
        </p:spPr>
      </p:pic>
      <p:sp>
        <p:nvSpPr>
          <p:cNvPr id="24" name="stat ARI vs true state"/>
          <p:cNvSpPr/>
          <p:nvPr/>
        </p:nvSpPr>
        <p:spPr>
          <a:xfrm>
            <a:off x="6382512" y="4572000"/>
            <a:ext cx="1645920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5" name="stat value ARI vs true state"/>
          <p:cNvSpPr txBox="1"/>
          <p:nvPr/>
        </p:nvSpPr>
        <p:spPr>
          <a:xfrm>
            <a:off x="6382512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0.865</a:t>
            </a:r>
            <a:endParaRPr lang="en-US" sz="2200" dirty="0"/>
          </a:p>
        </p:txBody>
      </p:sp>
      <p:sp>
        <p:nvSpPr>
          <p:cNvPr id="26" name="stat caption ARI vs true state"/>
          <p:cNvSpPr txBox="1"/>
          <p:nvPr/>
        </p:nvSpPr>
        <p:spPr>
          <a:xfrm>
            <a:off x="6428232" y="5084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ARI vs true state</a:t>
            </a:r>
            <a:endParaRPr lang="en-US" sz="950" dirty="0"/>
          </a:p>
        </p:txBody>
      </p:sp>
      <p:sp>
        <p:nvSpPr>
          <p:cNvPr id="27" name="stat accuracy after matching"/>
          <p:cNvSpPr/>
          <p:nvPr/>
        </p:nvSpPr>
        <p:spPr>
          <a:xfrm>
            <a:off x="8138160" y="4572000"/>
            <a:ext cx="1645920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8" name="stat value accuracy after matching"/>
          <p:cNvSpPr txBox="1"/>
          <p:nvPr/>
        </p:nvSpPr>
        <p:spPr>
          <a:xfrm>
            <a:off x="8138160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0.951</a:t>
            </a:r>
            <a:endParaRPr lang="en-US" sz="2200" dirty="0"/>
          </a:p>
        </p:txBody>
      </p:sp>
      <p:sp>
        <p:nvSpPr>
          <p:cNvPr id="29" name="stat caption accuracy after matching"/>
          <p:cNvSpPr txBox="1"/>
          <p:nvPr/>
        </p:nvSpPr>
        <p:spPr>
          <a:xfrm>
            <a:off x="8183880" y="5084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accuracy after matching</a:t>
            </a:r>
            <a:endParaRPr lang="en-US" sz="950" dirty="0"/>
          </a:p>
        </p:txBody>
      </p:sp>
      <p:sp>
        <p:nvSpPr>
          <p:cNvPr id="30" name="stat EM iterations"/>
          <p:cNvSpPr/>
          <p:nvPr/>
        </p:nvSpPr>
        <p:spPr>
          <a:xfrm>
            <a:off x="9893808" y="4572000"/>
            <a:ext cx="1655064" cy="841248"/>
          </a:xfrm>
          <a:prstGeom prst="roundRect">
            <a:avLst>
              <a:gd name="adj" fmla="val 5435"/>
            </a:avLst>
          </a:prstGeom>
          <a:solidFill>
            <a:srgbClr val="16305A"/>
          </a:solidFill>
          <a:ln w="63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1" name="stat value EM iterations"/>
          <p:cNvSpPr txBox="1"/>
          <p:nvPr/>
        </p:nvSpPr>
        <p:spPr>
          <a:xfrm>
            <a:off x="9893808" y="464515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2200" dirty="0"/>
          </a:p>
        </p:txBody>
      </p:sp>
      <p:sp>
        <p:nvSpPr>
          <p:cNvPr id="32" name="stat caption EM iterations"/>
          <p:cNvSpPr txBox="1"/>
          <p:nvPr/>
        </p:nvSpPr>
        <p:spPr>
          <a:xfrm>
            <a:off x="9939528" y="508406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EM iterations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382512" y="55321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295AE"/>
                </a:solidFill>
              </a:rPr>
              <a:t>BIC keeps falling as K grows: the Dirichlet-shaped clusters are skewed, so extra Gaussians help fit them. The silhouette still picks 3.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UNIT 3 · HIERARCHICAL CLUSTERING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Agglomerative clustering of whole conversations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220 conversations × 6 features; one merge loop covers all four linkages through the Lance–Williams update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RESULTS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9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11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 / 14</a:t>
            </a:r>
            <a:endParaRPr lang="en-US" sz="820" dirty="0"/>
          </a:p>
        </p:txBody>
      </p:sp>
      <p:sp>
        <p:nvSpPr>
          <p:cNvPr id="15" name="hc card"/>
          <p:cNvSpPr/>
          <p:nvPr/>
        </p:nvSpPr>
        <p:spPr>
          <a:xfrm>
            <a:off x="640080" y="1645920"/>
            <a:ext cx="512064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lance–williams updates"/>
          <p:cNvSpPr txBox="1"/>
          <p:nvPr/>
        </p:nvSpPr>
        <p:spPr>
          <a:xfrm>
            <a:off x="9144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LANCE–WILLIAMS UPDATES</a:t>
            </a:r>
            <a:endParaRPr lang="en-US" sz="920" dirty="0"/>
          </a:p>
        </p:txBody>
      </p:sp>
      <p:sp>
        <p:nvSpPr>
          <p:cNvPr id="17" name="lw equations"/>
          <p:cNvSpPr txBox="1"/>
          <p:nvPr/>
        </p:nvSpPr>
        <p:spPr>
          <a:xfrm>
            <a:off x="914400" y="21945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    d(AB, C) = min(d_AC, d_BC)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  d(AB, C) = max(d_AC, d_BC)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   (n_A d_AC + n_B d_BC) / (n_A + n_B)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       d² = ((n_A+n_C)d²_AC + (n_B+n_C)d²_BC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− n_C d²_AB) / (n_A+n_B+n_C)</a:t>
            </a:r>
            <a:endParaRPr lang="en-US" sz="1350" dirty="0"/>
          </a:p>
        </p:txBody>
      </p:sp>
      <p:sp>
        <p:nvSpPr>
          <p:cNvPr id="18" name="label measuring dissimilarity"/>
          <p:cNvSpPr txBox="1"/>
          <p:nvPr/>
        </p:nvSpPr>
        <p:spPr>
          <a:xfrm>
            <a:off x="91440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5"/>
                </a:solidFill>
              </a:rPr>
              <a:t>MEASURING DISSIMILARITY</a:t>
            </a:r>
            <a:endParaRPr lang="en-US" sz="920" dirty="0"/>
          </a:p>
        </p:txBody>
      </p:sp>
      <p:sp>
        <p:nvSpPr>
          <p:cNvPr id="19" name="eval equations"/>
          <p:cNvSpPr txBox="1"/>
          <p:nvPr/>
        </p:nvSpPr>
        <p:spPr>
          <a:xfrm>
            <a:off x="914400" y="437083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  s = (b − a) / max(a, b)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= (Σ C(n_ij,2) − E) / (½(Σ C(aᵢ,2) + Σ C(bⱼ,2)) − 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 accuracy = max over label permutations</a:t>
            </a:r>
            <a:endParaRPr lang="en-US" sz="1300" dirty="0"/>
          </a:p>
        </p:txBody>
      </p:sp>
      <p:sp>
        <p:nvSpPr>
          <p:cNvPr id="20" name="linkage chart card"/>
          <p:cNvSpPr/>
          <p:nvPr/>
        </p:nvSpPr>
        <p:spPr>
          <a:xfrm>
            <a:off x="5925312" y="1645920"/>
            <a:ext cx="562356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1" name="label ari vs final conversation state, by linkage"/>
          <p:cNvSpPr txBox="1"/>
          <p:nvPr/>
        </p:nvSpPr>
        <p:spPr>
          <a:xfrm>
            <a:off x="6199632" y="1874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ARI VS FINAL CONVERSATION STATE, BY LINKAGE</a:t>
            </a:r>
            <a:endParaRPr lang="en-US" sz="920" dirty="0"/>
          </a:p>
        </p:txBody>
      </p:sp>
      <p:graphicFrame>
        <p:nvGraphicFramePr>
          <p:cNvPr id="22" name="linkage ari chart" descr=""/>
          <p:cNvGraphicFramePr/>
          <p:nvPr/>
        </p:nvGraphicFramePr>
        <p:xfrm>
          <a:off x="6108192" y="2148840"/>
          <a:ext cx="5257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199632" y="53035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Single linkage chains every point into one cluster. Complete linkage separates the outcome groups best, so it is the reported model.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MEASURED RESULTS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labels, K-means recovers 97 % of the hidden states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Clusters in the 2-D principal subspace, compared with the true state afterwards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RESULTS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10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12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 / 14</a:t>
            </a:r>
            <a:endParaRPr lang="en-US" sz="820" dirty="0"/>
          </a:p>
        </p:txBody>
      </p:sp>
      <p:sp>
        <p:nvSpPr>
          <p:cNvPr id="15" name="clusters figure card"/>
          <p:cNvSpPr/>
          <p:nvPr/>
        </p:nvSpPr>
        <p:spPr>
          <a:xfrm>
            <a:off x="640080" y="1645920"/>
            <a:ext cx="10908792" cy="246888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pic>
        <p:nvPicPr>
          <p:cNvPr id="16" name="figure clusters.png" descr="Turns on the first two principal components, coloured by true state, K-means clusters and GMM clust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876" y="1691640"/>
            <a:ext cx="7315200" cy="2377440"/>
          </a:xfrm>
          <a:prstGeom prst="rect">
            <a:avLst/>
          </a:prstGeom>
        </p:spPr>
      </p:pic>
      <p:graphicFrame>
        <p:nvGraphicFramePr>
          <p:cNvPr id="12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79392"/>
          <a:ext cx="72237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822960"/>
                <a:gridCol w="13716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Implementation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ARI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Matched acc.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Silhouette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K-means (k = 3)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NumPy (Review 2)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0.924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0.969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0.684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GMM-EM (K = 3)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NumPy (Review 2)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0.865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0.951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0.652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Hierarchical, complete (conversations)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NumPy (Review 2)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0.692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0.805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0.423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K-means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scikit-learn baseline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0.924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0.684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DBSCAN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scikit-learn baseline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0.883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0.725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</a:tbl>
          </a:graphicData>
        </a:graphic>
      </p:graphicFrame>
      <p:sp>
        <p:nvSpPr>
          <p:cNvPr id="18" name="results insight"/>
          <p:cNvSpPr/>
          <p:nvPr/>
        </p:nvSpPr>
        <p:spPr>
          <a:xfrm>
            <a:off x="8028432" y="4279392"/>
            <a:ext cx="3520440" cy="1892808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9" name="results bullets"/>
          <p:cNvSpPr txBox="1"/>
          <p:nvPr/>
        </p:nvSpPr>
        <p:spPr>
          <a:xfrm>
            <a:off x="8211312" y="4462272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The NumPy K-means matches scikit-learn exactly (ARI 0.924).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Most errors fall on the partial / full boundary, where the judge scores overlap.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2 code and commands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Step 6 runs the models; a standalone K-means script uses no imports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DELIVERY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11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13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 / 14</a:t>
            </a:r>
            <a:endParaRPr lang="en-US" sz="820" dirty="0"/>
          </a:p>
        </p:txBody>
      </p:sp>
      <p:graphicFrame>
        <p:nvGraphicFramePr>
          <p:cNvPr id="13" name="fun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Function in src/analysis/unsupervised.py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pca(X)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Covariance eigen-decomposition, explained-variance ratio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kmeans(X, k)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k-means++ seeding, Lloyd iterations, best of 10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gmm_em(X, k)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EM with log-sum-exp, log-likelihood trace, BIC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agglomerative(X, k, linkage)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Lance–Williams: single / complete / average / Ward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silhouette, adjusted_rand, matched_accuracy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Cluster evaluation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main()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Runs everything, writes metrics.json and 2 plots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40080" y="5029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295AE"/>
                </a:solidFill>
              </a:rPr>
              <a:t>Model fitting uses no ready-made ML algorithm.</a:t>
            </a:r>
            <a:endParaRPr lang="en-US" sz="1250" dirty="0"/>
          </a:p>
        </p:txBody>
      </p:sp>
      <p:sp>
        <p:nvSpPr>
          <p:cNvPr id="17" name="code box "/>
          <p:cNvSpPr/>
          <p:nvPr/>
        </p:nvSpPr>
        <p:spPr>
          <a:xfrm>
            <a:off x="7754112" y="1645920"/>
            <a:ext cx="3794760" cy="1325880"/>
          </a:xfrm>
          <a:prstGeom prst="roundRect">
            <a:avLst>
              <a:gd name="adj" fmla="val 3448"/>
            </a:avLst>
          </a:prstGeom>
          <a:solidFill>
            <a:srgbClr val="0B1A33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8" name="code label"/>
          <p:cNvSpPr txBox="1"/>
          <p:nvPr/>
        </p:nvSpPr>
        <p:spPr>
          <a:xfrm>
            <a:off x="7955280" y="17739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2"/>
                </a:solidFill>
              </a:rPr>
              <a:t>COMMANDS</a:t>
            </a:r>
            <a:endParaRPr lang="en-US" sz="750" dirty="0"/>
          </a:p>
        </p:txBody>
      </p:sp>
      <p:sp>
        <p:nvSpPr>
          <p:cNvPr id="19" name="code text"/>
          <p:cNvSpPr txBox="1"/>
          <p:nvPr/>
        </p:nvSpPr>
        <p:spPr>
          <a:xfrm>
            <a:off x="7955280" y="2029968"/>
            <a:ext cx="33924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 python main_analysis.py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/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 python review2_kmeans_pure_python.py</a:t>
            </a:r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/>
            </a:r>
            <a:endParaRPr lang="en-US" sz="95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295AE"/>
                </a:solidFill>
                <a:latin typeface="Cascadia Code"/>
              </a:rPr>
              <a:t>03  python -m pytest tests/test_unsupervised.py</a:t>
            </a:r>
          </a:p>
        </p:txBody>
      </p:sp>
      <p:sp>
        <p:nvSpPr>
          <p:cNvPr id="20" name="tests card"/>
          <p:cNvSpPr/>
          <p:nvPr/>
        </p:nvSpPr>
        <p:spPr>
          <a:xfrm>
            <a:off x="7754112" y="3127248"/>
            <a:ext cx="3794760" cy="3044952"/>
          </a:xfrm>
          <a:prstGeom prst="roundRect">
            <a:avLst>
              <a:gd name="adj" fmla="val 180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1" name="label verification"/>
          <p:cNvSpPr txBox="1"/>
          <p:nvPr/>
        </p:nvSpPr>
        <p:spPr>
          <a:xfrm>
            <a:off x="8028432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1"/>
                </a:solidFill>
              </a:rPr>
              <a:t>VERIFICATION</a:t>
            </a:r>
            <a:endParaRPr lang="en-US" sz="920" dirty="0"/>
          </a:p>
        </p:txBody>
      </p:sp>
      <p:sp>
        <p:nvSpPr>
          <p:cNvPr id="22" name="tests stat"/>
          <p:cNvSpPr txBox="1"/>
          <p:nvPr/>
        </p:nvSpPr>
        <p:spPr>
          <a:xfrm>
            <a:off x="8028432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3000" dirty="0"/>
          </a:p>
        </p:txBody>
      </p:sp>
      <p:sp>
        <p:nvSpPr>
          <p:cNvPr id="23" name="tests bullets"/>
          <p:cNvSpPr txBox="1"/>
          <p:nvPr/>
        </p:nvSpPr>
        <p:spPr>
          <a:xfrm>
            <a:off x="8028432" y="4206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Focused Review 2 tests pass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No-import K-means: 96.9% matched accuracy on synthetic rows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EM log-likelihood never decreases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PCA finds the zero-variance simplex direction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LIMITATIONS AND NEXT REVIEW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results do not show yet, and the Review 3 plan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Review 3 compares these models with Unit 4 and 5 algorithms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DELIVERY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12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nav next text"/>
          <p:cNvSpPr txBox="1"/>
          <p:nvPr/>
        </p:nvSpPr>
        <p:spPr>
          <a:xfrm>
            <a:off x="10378440" y="654710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NEXT</a:t>
            </a:r>
            <a:endParaRPr lang="en-US" sz="820" dirty="0"/>
          </a:p>
        </p:txBody>
      </p:sp>
      <p:sp>
        <p:nvSpPr>
          <p:cNvPr id="13" name="nav next link">
            <a:hlinkClick r:id="rId3" tooltip="Go to slide 14" action="ppaction://hlinksldjump"/>
          </p:cNvPr>
          <p:cNvSpPr/>
          <p:nvPr/>
        </p:nvSpPr>
        <p:spPr>
          <a:xfrm>
            <a:off x="10378440" y="6510528"/>
            <a:ext cx="4846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13 / 14</a:t>
            </a:r>
            <a:endParaRPr lang="en-US" sz="820" dirty="0"/>
          </a:p>
        </p:txBody>
      </p:sp>
      <p:sp>
        <p:nvSpPr>
          <p:cNvPr id="15" name="limits card"/>
          <p:cNvSpPr/>
          <p:nvPr/>
        </p:nvSpPr>
        <p:spPr>
          <a:xfrm>
            <a:off x="640080" y="1645920"/>
            <a:ext cx="544068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label limitations"/>
          <p:cNvSpPr txBox="1"/>
          <p:nvPr/>
        </p:nvSpPr>
        <p:spPr>
          <a:xfrm>
            <a:off x="9144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4"/>
                </a:solidFill>
              </a:rPr>
              <a:t>LIMITATIONS</a:t>
            </a:r>
            <a:endParaRPr lang="en-US" sz="920" dirty="0"/>
          </a:p>
        </p:txBody>
      </p:sp>
      <p:sp>
        <p:nvSpPr>
          <p:cNvPr id="17" name="limit bullets"/>
          <p:cNvSpPr txBox="1"/>
          <p:nvPr/>
        </p:nvSpPr>
        <p:spPr>
          <a:xfrm>
            <a:off x="914400" y="2212848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The data is simulated. High scores show the method recovers a known structure, not real-world performance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Turn-level clustering ignores turn order, so each turn is treated as independent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The Gaussian assumption is wrong for Dirichlet-shaped scores, so BIC keeps preferring more components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Hierarchical clustering is O(N²) in memory, which is fine for 220 conversations but not for large campaigns</a:t>
            </a:r>
            <a:endParaRPr lang="en-US" sz="1300" dirty="0"/>
          </a:p>
        </p:txBody>
      </p:sp>
      <p:sp>
        <p:nvSpPr>
          <p:cNvPr id="18" name="review3 card"/>
          <p:cNvSpPr/>
          <p:nvPr/>
        </p:nvSpPr>
        <p:spPr>
          <a:xfrm>
            <a:off x="6199632" y="1645920"/>
            <a:ext cx="534924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9" name="label review 3 · units 4 and 5"/>
          <p:cNvSpPr txBox="1"/>
          <p:nvPr/>
        </p:nvSpPr>
        <p:spPr>
          <a:xfrm>
            <a:off x="6473952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200" kern="0" dirty="0">
                <a:solidFill>
                  <a:schemeClr val="accent5"/>
                </a:solidFill>
              </a:rPr>
              <a:t>REVIEW 3 · UNITS 4 AND 5</a:t>
            </a:r>
            <a:endParaRPr lang="en-US" sz="920" dirty="0"/>
          </a:p>
        </p:txBody>
      </p:sp>
      <p:graphicFrame>
        <p:nvGraphicFramePr>
          <p:cNvPr id="14" name="review3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2212848"/>
          <a:ext cx="48006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Use on this data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HMM: forward–backward, Viterbi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Add turn order: decode the state from score sequences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Baum–Welch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Learn the transition matrix and compare it with the true 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CART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Interpretable rules over judge scores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Boosting, bagging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Compare ensembles with the clusters and the Review 1 classifiers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473952" y="5074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295AE"/>
                </a:solidFill>
              </a:rPr>
              <a:t>Preview: the existing hmmlearn HMM already reaches ARI 0.868 with matched accuracy 0.951. That is how much turn order adds.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66928" y="201168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6692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REFERENCES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66928" y="5120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Textbooks, data and method sources</a:t>
            </a:r>
            <a:endParaRPr lang="en-US" sz="25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66928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295AE"/>
                </a:solidFill>
              </a:rPr>
              <a:t>Equations follow the course reference books; section numbers are given in the speaker notes</a:t>
            </a:r>
            <a:endParaRPr lang="en-US" sz="1250" dirty="0"/>
          </a:p>
        </p:txBody>
      </p:sp>
      <p:sp>
        <p:nvSpPr>
          <p:cNvPr id="6" name="footer rule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ooter section"/>
          <p:cNvSpPr txBox="1"/>
          <p:nvPr/>
        </p:nvSpPr>
        <p:spPr>
          <a:xfrm>
            <a:off x="566928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chemeClr val="accent2"/>
                </a:solidFill>
              </a:rPr>
              <a:t>DELIVERY</a:t>
            </a:r>
            <a:endParaRPr lang="en-US" sz="800" dirty="0"/>
          </a:p>
        </p:txBody>
      </p:sp>
      <p:sp>
        <p:nvSpPr>
          <p:cNvPr id="8" name="nav contents text"/>
          <p:cNvSpPr txBox="1"/>
          <p:nvPr/>
        </p:nvSpPr>
        <p:spPr>
          <a:xfrm>
            <a:off x="8759952" y="65471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CONTENTS</a:t>
            </a:r>
            <a:endParaRPr lang="en-US" sz="820" dirty="0"/>
          </a:p>
        </p:txBody>
      </p:sp>
      <p:sp>
        <p:nvSpPr>
          <p:cNvPr id="9" name="nav contents link">
            <a:hlinkClick r:id="rId1" tooltip="Go to slide 2" action="ppaction://hlinksldjump"/>
          </p:cNvPr>
          <p:cNvSpPr/>
          <p:nvPr/>
        </p:nvSpPr>
        <p:spPr>
          <a:xfrm>
            <a:off x="8759952" y="6510528"/>
            <a:ext cx="740664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0" name="nav previous text"/>
          <p:cNvSpPr txBox="1"/>
          <p:nvPr/>
        </p:nvSpPr>
        <p:spPr>
          <a:xfrm>
            <a:off x="9592056" y="6547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0" kern="0" dirty="0">
                <a:solidFill>
                  <a:schemeClr val="bg2"/>
                </a:solidFill>
              </a:rPr>
              <a:t>PREVIOUS</a:t>
            </a:r>
            <a:endParaRPr lang="en-US" sz="820" dirty="0"/>
          </a:p>
        </p:txBody>
      </p:sp>
      <p:sp>
        <p:nvSpPr>
          <p:cNvPr id="11" name="nav previous link">
            <a:hlinkClick r:id="rId2" tooltip="Go to slide 13" action="ppaction://hlinksldjump"/>
          </p:cNvPr>
          <p:cNvSpPr/>
          <p:nvPr/>
        </p:nvSpPr>
        <p:spPr>
          <a:xfrm>
            <a:off x="9592056" y="6510528"/>
            <a:ext cx="713232" cy="256032"/>
          </a:xfrm>
          <a:prstGeom prst="rect">
            <a:avLst/>
          </a:prstGeom>
          <a:solidFill>
            <a:schemeClr val="tx1">
              <a:alpha val="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2" name="page number"/>
          <p:cNvSpPr txBox="1"/>
          <p:nvPr/>
        </p:nvSpPr>
        <p:spPr>
          <a:xfrm>
            <a:off x="10972800" y="6547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295A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14 / 14</a:t>
            </a:r>
            <a:endParaRPr lang="en-US" sz="820" dirty="0"/>
          </a:p>
        </p:txBody>
      </p:sp>
      <p:sp>
        <p:nvSpPr>
          <p:cNvPr id="13" name="refs card 0.7"/>
          <p:cNvSpPr/>
          <p:nvPr/>
        </p:nvSpPr>
        <p:spPr>
          <a:xfrm>
            <a:off x="640080" y="1645920"/>
            <a:ext cx="534924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4" name="refs text 0.7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1. Bishop, Pattern Recognition and Machine Learning</a:t>
            </a:r>
            <a:endParaRPr lang="en-US" sz="1500" dirty="0"/>
          </a:p>
          <a:p>
            <a:pPr indent="0" marL="0">
              <a:spcAft>
                <a:spcPts val="3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Springer, 2006 · ch. 9 (K-means, mixtures, EM)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 Murphy, Machine Learning: a Probabilistic Perspective</a:t>
            </a:r>
            <a:endParaRPr lang="en-US" sz="1500" dirty="0"/>
          </a:p>
          <a:p>
            <a:pPr indent="0" marL="0">
              <a:spcAft>
                <a:spcPts val="3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MIT Press, 2012 · ch. 12 (PCA), 25 (clustering)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 Arthur and Vassilvitskii, k-means++</a:t>
            </a:r>
            <a:endParaRPr lang="en-US" sz="1500" dirty="0"/>
          </a:p>
          <a:p>
            <a:pPr indent="0" marL="0">
              <a:spcAft>
                <a:spcPts val="3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SODA 2007</a:t>
            </a:r>
            <a:endParaRPr lang="en-US" sz="1500" dirty="0"/>
          </a:p>
        </p:txBody>
      </p:sp>
      <p:sp>
        <p:nvSpPr>
          <p:cNvPr id="15" name="refs card 6.78"/>
          <p:cNvSpPr/>
          <p:nvPr/>
        </p:nvSpPr>
        <p:spPr>
          <a:xfrm>
            <a:off x="6199632" y="1645920"/>
            <a:ext cx="5349240" cy="4526280"/>
          </a:xfrm>
          <a:prstGeom prst="roundRect">
            <a:avLst>
              <a:gd name="adj" fmla="val 12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6" name="refs text 6.78"/>
          <p:cNvSpPr txBox="1"/>
          <p:nvPr/>
        </p:nvSpPr>
        <p:spPr>
          <a:xfrm>
            <a:off x="6473952" y="19202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 Chao et al., JailbreakBench</a:t>
            </a:r>
            <a:endParaRPr lang="en-US" sz="1500" dirty="0"/>
          </a:p>
          <a:p>
            <a:pPr indent="0" marL="0">
              <a:spcAft>
                <a:spcPts val="3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NeurIPS Datasets and Benchmarks 2024 · arxiv.org/abs/2404.01318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5. Hubert and Arabie, Comparing Partitions (ARI)</a:t>
            </a:r>
            <a:endParaRPr lang="en-US" sz="1500" dirty="0"/>
          </a:p>
          <a:p>
            <a:pPr indent="0" marL="0">
              <a:spcAft>
                <a:spcPts val="3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Journal of Classification, 1985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6. Project repository</a:t>
            </a:r>
            <a:endParaRPr lang="en-US" sz="1500" dirty="0"/>
          </a:p>
          <a:p>
            <a:pPr indent="0" marL="0">
              <a:spcAft>
                <a:spcPts val="3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github.com/Ananyacodes/jailbreaker-llm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ilbreaker Review 2">
  <a:themeElements>
    <a:clrScheme name="Jailbreaker Review 2">
      <a:dk1>
        <a:srgbClr val="071426"/>
      </a:dk1>
      <a:lt1>
        <a:srgbClr val="F7FAFC"/>
      </a:lt1>
      <a:dk2>
        <a:srgbClr val="102341"/>
      </a:dk2>
      <a:lt2>
        <a:srgbClr val="C8D4E3"/>
      </a:lt2>
      <a:accent1>
        <a:srgbClr val="5E7DE0"/>
      </a:accent1>
      <a:accent2>
        <a:srgbClr val="6E8CF5"/>
      </a:accent2>
      <a:accent3>
        <a:srgbClr val="F2C14E"/>
      </a:accent3>
      <a:accent4>
        <a:srgbClr val="E8746A"/>
      </a:accent4>
      <a:accent5>
        <a:srgbClr val="4FC1B0"/>
      </a:accent5>
      <a:accent6>
        <a:srgbClr val="2B4264"/>
      </a:accent6>
      <a:hlink>
        <a:srgbClr val="C8D4E3"/>
      </a:hlink>
      <a:folHlink>
        <a:srgbClr val="C8D4E3"/>
      </a:folHlink>
    </a:clrScheme>
    <a:fontScheme name="Jailbreaker Review 2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Jailbreaker-LLM: PBL Review 2</dc:title>
  <dc:subject>21CSC305P Machine Learning, Project Review 2</dc:subject>
  <dc:creator>Ananya Kar</dc:creator>
  <cp:lastModifiedBy>Ananya Kar</cp:lastModifiedBy>
  <cp:revision>1</cp:revision>
  <dcterms:created xsi:type="dcterms:W3CDTF">2026-10-13T05:55:26Z</dcterms:created>
  <dcterms:modified xsi:type="dcterms:W3CDTF">2026-10-13T05:55:26Z</dcterms:modified>
</cp:coreProperties>
</file>