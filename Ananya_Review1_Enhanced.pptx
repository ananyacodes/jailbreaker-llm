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7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Rows</c:v>
                </c:pt>
              </c:strCache>
            </c:strRef>
          </c:tx>
          <c:spPr>
            <a:solidFill>
              <a:srgbClr val="27D8C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7FAF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Refusal</c:v>
                </c:pt>
                <c:pt idx="1">
                  <c:v>Partial proxy</c:v>
                </c:pt>
                <c:pt idx="2">
                  <c:v>Violation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177</c:v>
                </c:pt>
                <c:pt idx="1">
                  <c:v>33</c:v>
                </c:pt>
                <c:pt idx="2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AEC-4197-96FD-14AB50F878A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8D4E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8D4E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27D8C8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7FAF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Logistic</c:v>
                </c:pt>
                <c:pt idx="1">
                  <c:v>Linear SVM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0.68899999999999995</c:v>
                </c:pt>
                <c:pt idx="1">
                  <c:v>0.77800000000000002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A3-4218-A79B-C84092F223E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Macro F1</c:v>
                </c:pt>
              </c:strCache>
            </c:strRef>
          </c:tx>
          <c:spPr>
            <a:solidFill>
              <a:srgbClr val="FFBD2E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7FAFC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Logistic</c:v>
                </c:pt>
                <c:pt idx="1">
                  <c:v>Linear SVM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0.61399999999999999</c:v>
                </c:pt>
                <c:pt idx="1">
                  <c:v>0.71199999999999997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EA3-4218-A79B-C84092F223E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8D4E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8D4E3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  <c:majorUnit val="0.2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
              <a:solidFill>
                <a:srgbClr val="C8D4E3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56828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Repository: https://github.com/Ananyacodes/jailbreaker-llm. Local clone pinned to commit 1bacbafcef78f913a879c622c3492e52f0d1d112. All three decks explain the same shared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https://github.com/Ananyacodes/jailbreaker-llm. Responsible-use framing: https://www.nist.gov/publications/artificial-intelligence-risk-management-framework-generative-artificial-intelligence.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README and module map: https://github.com/Ananyacodes/jailbreaker-llm/blob/1bacbafcef78f913a879c622c3492e52f0d1d112/README.md. Config evidence: https://github.com/Ananyacodes/jailbreaker-llm/blob/1bacbafcef78f913a879c622c3492e52f0d1d112/configs/base_model.yaml. Mutation evidence: https://github.com/Ananyacodes/jailbreaker-llm/blob/1bacbafcef78f913a879c622c3492e52f0d1d112/src/mutation/cluster_transcripts.py.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source: https://github.com/Ananyacodes/jailbreaker-llm/blob/1bacbafcef78f913a879c622c3492e52f0d1d112/README.md and https://github.com/Ananyacodes/jailbreaker-llm/blob/1bacbafcef78f913a879c622c3492e52f0d1d112/src/eval/run_campaign.py.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 source: https://huggingface.co/datasets/JailbreakBench/JBB-Behaviors. Paper: https://arxiv.org/abs/2404.01318. Local preparation: scripts/prepare_jailbreakbench.py lines 22-151. Revision 886acc352a31533ffbcf4ef22c744658688086fc.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locally from data/public/jailbreakbench/judge-comparison.csv and outputs/analysis_real/metrics.json. No raw harmful text appears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Config: https://github.com/Ananyacodes/jailbreaker-llm/blob/1bacbafcef78f913a879c622c3492e52f0d1d112/configs/base_model.yaml. Code: https://github.com/Ananyacodes/jailbreaker-llm/blob/1bacbafcef78f913a879c622c3492e52f0d1d112/src/model/pretrain.py.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Code: https://github.com/Ananyacodes/jailbreaker-llm/blob/1bacbafcef78f913a879c622c3492e52f0d1d112/src/model/transformer.py#L25-L119. Attention formulation: https://arxiv.org/abs/1706.03762.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Reward Judge: https://github.com/Ananyacodes/jailbreaker-llm/blob/1bacbafcef78f913a879c622c3492e52f0d1d112/src/judge/train_judge.py. Eval Judge: https://github.com/Ananyacodes/jailbreaker-llm/blob/1bacbafcef78f913a879c622c3492e52f0d1d112/src/judge/eval_judge.py#L8-L39. Dataset labels: https://huggingface.co/datasets/JailbreakBench/JBB-Behaviors.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Code: https://github.com/Ananyacodes/jailbreaker-llm/blob/1bacbafcef78f913a879c622c3492e52f0d1d112/src/attacker/ppo_trainer.py#L7-L100. PPO: https://arxiv.org/abs/1707.06347. GAE: https://arxiv.org/abs/1506.02438.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Code: https://github.com/Ananyacodes/jailbreaker-llm/blob/1bacbafcef78f913a879c622c3492e52f0d1d112/src/attacker/reward.py and https://github.com/Ananyacodes/jailbreaker-llm/blob/1bacbafcef78f913a879c622c3492e52f0d1d112/src/attacker/ppo_trainer.py#L57-L66. Config: https://github.com/Ananyacodes/jailbreaker-llm/blob/1bacbafcef78f913a879c622c3492e52f0d1d112/configs/rl_finetune.yaml.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Code: https://github.com/Ananyacodes/jailbreaker-llm/blob/1bacbafcef78f913a879c622c3492e52f0d1d112/src/agent/multi_turn_loop.py#L25-L101 and https://github.com/Ananyacodes/jailbreaker-llm/blob/1bacbafcef78f913a879c622c3492e52f0d1d112/src/attacker/technique_library.py.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Allowlist: https://github.com/Ananyacodes/jailbreaker-llm/blob/1bacbafcef78f913a879c622c3492e52f0d1d112/src/targets/allowlist.py. Campaign ledger: https://github.com/Ananyacodes/jailbreaker-llm/blob/1bacbafcef78f913a879c622c3492e52f0d1d112/src/eval/run_campaign.py. Redaction: https://github.com/Ananyacodes/jailbreaker-llm/blob/1bacbafcef78f913a879c622c3492e52f0d1d112/src/eval/redact.py. Guidance: https://www.nist.gov/publications/artificial-intelligence-risk-management-framework-generative-artificial-intelligence.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 code: https://github.com/Ananyacodes/jailbreaker-llm/blob/1bacbafcef78f913a879c622c3492e52f0d1d112/src/eval/report.py. Campaign runner: https://github.com/Ananyacodes/jailbreaker-llm/blob/1bacbafcef78f913a879c622c3492e52f0d1d112/src/eval/run_campaign.py.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Code: https://github.com/Ananyacodes/jailbreaker-llm/blob/1bacbafcef78f913a879c622c3492e52f0d1d112/src/mutation/cluster_transcripts.py#L31-L67. Current code uses sentence embeddings, not TF-IDF.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Measured locally by main_analysis.py. Saved metrics: outputs/analysis_real/metrics.json. Dataset: https://huggingface.co/datasets/JailbreakBench/JBB-Behaviors. Split has zero shared goal IDs.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Updated local code: src/eval/transfer_eval.py lines 1-81. This closes the generalization-metric gap identified in the project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Module ownership guide: docs/COMPONENT_GUIDE.md. These are presentation emphases, not separate projects.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Known limitations: https://github.com/Ananyacodes/jailbreaker-llm/blob/1bacbafcef78f913a879c622c3492e52f0d1d112/README.md. Responsible AI guidance: https://www.nist.gov/publications/artificial-intelligence-risk-management-framework-generative-artificial-intelligence.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 web references accessed 20 September 2026. Code excerpts were checked against the local clone at the stated commit plus the bundled coursework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33058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9.xml"/><Relationship Id="rId3" Type="http://schemas.openxmlformats.org/officeDocument/2006/relationships/slide" Target="slide3.xml"/><Relationship Id="rId7" Type="http://schemas.openxmlformats.org/officeDocument/2006/relationships/slide" Target="slide15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3.xml"/><Relationship Id="rId5" Type="http://schemas.openxmlformats.org/officeDocument/2006/relationships/slide" Target="slide10.xml"/><Relationship Id="rId4" Type="http://schemas.openxmlformats.org/officeDocument/2006/relationships/slide" Target="slide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slide" Target="slide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slide" Target="slide5.xml"/><Relationship Id="rId4" Type="http://schemas.openxmlformats.org/officeDocument/2006/relationships/slide" Target="slid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slide" Target="slide6.xml"/><Relationship Id="rId4" Type="http://schemas.openxmlformats.org/officeDocument/2006/relationships/slide" Target="sl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Ananyacodes/jailbreaker-llm" TargetMode="External"/><Relationship Id="rId5" Type="http://schemas.openxmlformats.org/officeDocument/2006/relationships/slide" Target="slide7.xml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8.xml"/><Relationship Id="rId5" Type="http://schemas.openxmlformats.org/officeDocument/2006/relationships/slide" Target="slide6.xml"/><Relationship Id="rId4" Type="http://schemas.openxmlformats.org/officeDocument/2006/relationships/slide" Target="slide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slide" Target="slide9.xml"/><Relationship Id="rId4" Type="http://schemas.openxmlformats.org/officeDocument/2006/relationships/slide" Target="sl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Ananyacodes/jailbreaker-llm" TargetMode="External"/><Relationship Id="rId5" Type="http://schemas.openxmlformats.org/officeDocument/2006/relationships/slide" Target="slide10.xml"/><Relationship Id="rId4" Type="http://schemas.openxmlformats.org/officeDocument/2006/relationships/slide" Target="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slide" Target="slide11.xml"/><Relationship Id="rId4" Type="http://schemas.openxmlformats.org/officeDocument/2006/relationships/slide" Target="sl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Ananyacodes/jailbreaker-llm" TargetMode="External"/><Relationship Id="rId5" Type="http://schemas.openxmlformats.org/officeDocument/2006/relationships/slide" Target="slide12.xml"/><Relationship Id="rId4" Type="http://schemas.openxmlformats.org/officeDocument/2006/relationships/slide" Target="sl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Ananyacodes/jailbreaker-llm" TargetMode="External"/><Relationship Id="rId5" Type="http://schemas.openxmlformats.org/officeDocument/2006/relationships/slide" Target="slide13.xml"/><Relationship Id="rId4" Type="http://schemas.openxmlformats.org/officeDocument/2006/relationships/slide" Target="slid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Ananyacodes/jailbreaker-llm" TargetMode="External"/><Relationship Id="rId5" Type="http://schemas.openxmlformats.org/officeDocument/2006/relationships/slide" Target="slide14.xml"/><Relationship Id="rId4" Type="http://schemas.openxmlformats.org/officeDocument/2006/relationships/slide" Target="slid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Ananyacodes/jailbreaker-llm" TargetMode="External"/><Relationship Id="rId5" Type="http://schemas.openxmlformats.org/officeDocument/2006/relationships/slide" Target="slide15.xml"/><Relationship Id="rId4" Type="http://schemas.openxmlformats.org/officeDocument/2006/relationships/slide" Target="slid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Ananyacodes/jailbreaker-llm" TargetMode="External"/><Relationship Id="rId5" Type="http://schemas.openxmlformats.org/officeDocument/2006/relationships/slide" Target="slide16.xml"/><Relationship Id="rId4" Type="http://schemas.openxmlformats.org/officeDocument/2006/relationships/slide" Target="slid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Ananyacodes/jailbreaker-llm" TargetMode="External"/><Relationship Id="rId5" Type="http://schemas.openxmlformats.org/officeDocument/2006/relationships/slide" Target="slide17.xml"/><Relationship Id="rId4" Type="http://schemas.openxmlformats.org/officeDocument/2006/relationships/slide" Target="slid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slide" Target="slide18.xml"/><Relationship Id="rId5" Type="http://schemas.openxmlformats.org/officeDocument/2006/relationships/slide" Target="slide16.xml"/><Relationship Id="rId4" Type="http://schemas.openxmlformats.org/officeDocument/2006/relationships/slide" Target="slide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github.com/Ananyacodes/jailbreaker-llm" TargetMode="External"/><Relationship Id="rId5" Type="http://schemas.openxmlformats.org/officeDocument/2006/relationships/slide" Target="slide19.xml"/><Relationship Id="rId4" Type="http://schemas.openxmlformats.org/officeDocument/2006/relationships/slide" Target="slid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0.xml"/><Relationship Id="rId4" Type="http://schemas.openxmlformats.org/officeDocument/2006/relationships/slide" Target="slide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slide" Target="slide21.xml"/><Relationship Id="rId4" Type="http://schemas.openxmlformats.org/officeDocument/2006/relationships/slide" Target="slide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slide" Target="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AI Security Cover Artwork">
            <a:extLst>
              <a:ext uri="{FF2B5EF4-FFF2-40B4-BE49-F238E27FC236}">
                <a16:creationId xmlns:a16="http://schemas.microsoft.com/office/drawing/2014/main" id="{ADF5BDBE-9777-8919-EDE1-7B0B034BE77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Cover Text Contrast Overlay">
            <a:extLst>
              <a:ext uri="{FF2B5EF4-FFF2-40B4-BE49-F238E27FC236}">
                <a16:creationId xmlns:a16="http://schemas.microsoft.com/office/drawing/2014/main" id="{766EA2B6-99B8-DBFF-D1B0-D60308075ED8}"/>
              </a:ext>
            </a:extLst>
          </p:cNvPr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061323">
              <a:alpha val="97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68096" y="987552"/>
            <a:ext cx="7498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 </a:t>
            </a:r>
            <a:r>
              <a:rPr lang="en-US" sz="1000" b="1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r>
              <a:rPr lang="en-US" sz="1000" b="1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PBL-I PROJECT REVIEW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68096" y="1481328"/>
            <a:ext cx="80467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3700" b="1" dirty="0">
                <a:solidFill>
                  <a:srgbClr val="F7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Jailbreaker-LLM</a:t>
            </a:r>
            <a:endParaRPr lang="en-US" sz="3700" dirty="0"/>
          </a:p>
        </p:txBody>
      </p:sp>
      <p:sp>
        <p:nvSpPr>
          <p:cNvPr id="6" name="Text 4"/>
          <p:cNvSpPr/>
          <p:nvPr/>
        </p:nvSpPr>
        <p:spPr>
          <a:xfrm>
            <a:off x="768096" y="2176272"/>
            <a:ext cx="845820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7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Automated LLM Red-Teaming with PPO, Independent Judges and Multi-Turn Evaluation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8096" y="5065776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Ananya Kar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68096" y="5458968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82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RA2411003010453</a:t>
            </a:r>
            <a:endParaRPr lang="en-US" sz="1150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A4E25F-7B4E-C101-C29E-EE983228B6EF}"/>
              </a:ext>
            </a:extLst>
          </p:cNvPr>
          <p:cNvCxnSpPr/>
          <p:nvPr/>
        </p:nvCxnSpPr>
        <p:spPr>
          <a:xfrm>
            <a:off x="774700" y="977900"/>
            <a:ext cx="584200" cy="0"/>
          </a:xfrm>
          <a:prstGeom prst="line">
            <a:avLst/>
          </a:prstGeom>
          <a:ln w="44450">
            <a:solidFill>
              <a:srgbClr val="33DD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I Security Contents Artwork">
            <a:extLst>
              <a:ext uri="{FF2B5EF4-FFF2-40B4-BE49-F238E27FC236}">
                <a16:creationId xmlns:a16="http://schemas.microsoft.com/office/drawing/2014/main" id="{77BEA265-475E-F395-7076-C459B5914606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2BF979C-6B0C-6608-4130-744CBFF897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61323">
              <a:alpha val="82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A1B6937-6D60-2F51-A026-088A0D7F65D4}"/>
              </a:ext>
            </a:extLst>
          </p:cNvPr>
          <p:cNvSpPr/>
          <p:nvPr/>
        </p:nvSpPr>
        <p:spPr>
          <a:xfrm>
            <a:off x="0" y="0"/>
            <a:ext cx="8046720" cy="6858000"/>
          </a:xfrm>
          <a:prstGeom prst="rect">
            <a:avLst/>
          </a:prstGeom>
          <a:solidFill>
            <a:srgbClr val="061323">
              <a:alpha val="98000"/>
            </a:srgb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04B8D7-5FA6-DC8B-507E-2DE9A30C1726}"/>
              </a:ext>
            </a:extLst>
          </p:cNvPr>
          <p:cNvSpPr txBox="1"/>
          <p:nvPr/>
        </p:nvSpPr>
        <p:spPr>
          <a:xfrm>
            <a:off x="711200" y="609600"/>
            <a:ext cx="3048000" cy="135422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880" b="1">
                <a:solidFill>
                  <a:srgbClr val="33DDCF"/>
                </a:solidFill>
                <a:latin typeface="Calibri" panose="020F0502020204030204" pitchFamily="34" charset="0"/>
              </a:rPr>
              <a:t>INTERACTIVE CONTENTS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F6FF7E-B305-B147-6FF7-0BF80426BBF3}"/>
              </a:ext>
            </a:extLst>
          </p:cNvPr>
          <p:cNvSpPr txBox="1"/>
          <p:nvPr/>
        </p:nvSpPr>
        <p:spPr>
          <a:xfrm>
            <a:off x="711200" y="1041400"/>
            <a:ext cx="5207000" cy="446276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2900" b="1">
                <a:solidFill>
                  <a:srgbClr val="F7FAFC"/>
                </a:solidFill>
                <a:latin typeface="Georgia" panose="02040502050405020303" pitchFamily="18" charset="0"/>
              </a:rPr>
              <a:t>Choose a section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609F38A-0B8E-C58D-0FB6-F3499FAD463F}"/>
              </a:ext>
            </a:extLst>
          </p:cNvPr>
          <p:cNvSpPr txBox="1"/>
          <p:nvPr/>
        </p:nvSpPr>
        <p:spPr>
          <a:xfrm>
            <a:off x="711200" y="1676400"/>
            <a:ext cx="5588000" cy="40011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300">
                <a:solidFill>
                  <a:srgbClr val="C8D4E3"/>
                </a:solidFill>
                <a:latin typeface="Calibri" panose="020F0502020204030204" pitchFamily="34" charset="0"/>
              </a:rPr>
              <a:t>Every student presents the complete system. The links below provide a faster path during questions.</a:t>
            </a:r>
          </a:p>
        </p:txBody>
      </p:sp>
      <p:sp>
        <p:nvSpPr>
          <p:cNvPr id="9" name="Rectangle: Rounded Corners 8">
            <a:hlinkClick r:id="rId3" action="ppaction://hlinksldjump"/>
            <a:extLst>
              <a:ext uri="{FF2B5EF4-FFF2-40B4-BE49-F238E27FC236}">
                <a16:creationId xmlns:a16="http://schemas.microsoft.com/office/drawing/2014/main" id="{6FA48A0C-59E6-1D56-470F-43E215CE205F}"/>
              </a:ext>
            </a:extLst>
          </p:cNvPr>
          <p:cNvSpPr/>
          <p:nvPr/>
        </p:nvSpPr>
        <p:spPr>
          <a:xfrm>
            <a:off x="711200" y="2603500"/>
            <a:ext cx="2768600" cy="838200"/>
          </a:xfrm>
          <a:prstGeom prst="roundRect">
            <a:avLst/>
          </a:prstGeom>
          <a:solidFill>
            <a:srgbClr val="0D213C">
              <a:alpha val="95000"/>
            </a:srgbClr>
          </a:solidFill>
          <a:ln w="10160" cap="flat" cmpd="sng" algn="ctr">
            <a:solidFill>
              <a:srgbClr val="33DDCF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TextBox 9">
            <a:hlinkClick r:id="rId3" action="ppaction://hlinksldjump"/>
            <a:extLst>
              <a:ext uri="{FF2B5EF4-FFF2-40B4-BE49-F238E27FC236}">
                <a16:creationId xmlns:a16="http://schemas.microsoft.com/office/drawing/2014/main" id="{5176203C-4F55-652F-578F-6C6EBD03848E}"/>
              </a:ext>
            </a:extLst>
          </p:cNvPr>
          <p:cNvSpPr txBox="1"/>
          <p:nvPr/>
        </p:nvSpPr>
        <p:spPr>
          <a:xfrm>
            <a:off x="889000" y="2768600"/>
            <a:ext cx="3810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950" b="1">
                <a:solidFill>
                  <a:srgbClr val="33DDCF"/>
                </a:solidFill>
                <a:latin typeface="Cascadia Code" panose="020B0609020000020004" pitchFamily="49" charset="0"/>
              </a:rPr>
              <a:t>01</a:t>
            </a:r>
          </a:p>
        </p:txBody>
      </p:sp>
      <p:sp>
        <p:nvSpPr>
          <p:cNvPr id="11" name="TextBox 10">
            <a:hlinkClick r:id="rId3" action="ppaction://hlinksldjump"/>
            <a:extLst>
              <a:ext uri="{FF2B5EF4-FFF2-40B4-BE49-F238E27FC236}">
                <a16:creationId xmlns:a16="http://schemas.microsoft.com/office/drawing/2014/main" id="{FB214998-5746-0F9A-0270-B6D79ADD5367}"/>
              </a:ext>
            </a:extLst>
          </p:cNvPr>
          <p:cNvSpPr txBox="1"/>
          <p:nvPr/>
        </p:nvSpPr>
        <p:spPr>
          <a:xfrm>
            <a:off x="1320800" y="2743200"/>
            <a:ext cx="1955800" cy="2185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420" b="1">
                <a:solidFill>
                  <a:srgbClr val="F7FAFC"/>
                </a:solidFill>
                <a:latin typeface="Calibri" panose="020F0502020204030204" pitchFamily="34" charset="0"/>
              </a:rPr>
              <a:t>Project and architecture</a:t>
            </a:r>
          </a:p>
        </p:txBody>
      </p:sp>
      <p:sp>
        <p:nvSpPr>
          <p:cNvPr id="12" name="TextBox 11">
            <a:hlinkClick r:id="rId3" action="ppaction://hlinksldjump"/>
            <a:extLst>
              <a:ext uri="{FF2B5EF4-FFF2-40B4-BE49-F238E27FC236}">
                <a16:creationId xmlns:a16="http://schemas.microsoft.com/office/drawing/2014/main" id="{B878496F-1246-A1A6-FBD6-B453E1517BD9}"/>
              </a:ext>
            </a:extLst>
          </p:cNvPr>
          <p:cNvSpPr txBox="1"/>
          <p:nvPr/>
        </p:nvSpPr>
        <p:spPr>
          <a:xfrm>
            <a:off x="1320800" y="3200400"/>
            <a:ext cx="1168400" cy="1108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720" b="1">
                <a:solidFill>
                  <a:srgbClr val="8295AE"/>
                </a:solidFill>
                <a:latin typeface="Calibri" panose="020F0502020204030204" pitchFamily="34" charset="0"/>
              </a:rPr>
              <a:t>OPEN SECTION</a:t>
            </a:r>
          </a:p>
        </p:txBody>
      </p:sp>
      <p:sp>
        <p:nvSpPr>
          <p:cNvPr id="13" name="Rectangle: Rounded Corners 12">
            <a:hlinkClick r:id="rId4" action="ppaction://hlinksldjump"/>
            <a:extLst>
              <a:ext uri="{FF2B5EF4-FFF2-40B4-BE49-F238E27FC236}">
                <a16:creationId xmlns:a16="http://schemas.microsoft.com/office/drawing/2014/main" id="{CC540343-1631-141D-FF78-544A370C5F49}"/>
              </a:ext>
            </a:extLst>
          </p:cNvPr>
          <p:cNvSpPr/>
          <p:nvPr/>
        </p:nvSpPr>
        <p:spPr>
          <a:xfrm>
            <a:off x="3860800" y="2603500"/>
            <a:ext cx="2768600" cy="838200"/>
          </a:xfrm>
          <a:prstGeom prst="roundRect">
            <a:avLst/>
          </a:prstGeom>
          <a:solidFill>
            <a:srgbClr val="133052">
              <a:alpha val="95000"/>
            </a:srgbClr>
          </a:solidFill>
          <a:ln w="10160" cap="flat" cmpd="sng" algn="ctr">
            <a:solidFill>
              <a:srgbClr val="33DDCF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hlinkClick r:id="rId4" action="ppaction://hlinksldjump"/>
            <a:extLst>
              <a:ext uri="{FF2B5EF4-FFF2-40B4-BE49-F238E27FC236}">
                <a16:creationId xmlns:a16="http://schemas.microsoft.com/office/drawing/2014/main" id="{738B5E57-FCD6-0F0F-C401-25A7B0BA038A}"/>
              </a:ext>
            </a:extLst>
          </p:cNvPr>
          <p:cNvSpPr txBox="1"/>
          <p:nvPr/>
        </p:nvSpPr>
        <p:spPr>
          <a:xfrm>
            <a:off x="4038600" y="2768600"/>
            <a:ext cx="3810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950" b="1">
                <a:solidFill>
                  <a:srgbClr val="33DDCF"/>
                </a:solidFill>
                <a:latin typeface="Cascadia Code" panose="020B0609020000020004" pitchFamily="49" charset="0"/>
              </a:rPr>
              <a:t>02</a:t>
            </a:r>
          </a:p>
        </p:txBody>
      </p:sp>
      <p:sp>
        <p:nvSpPr>
          <p:cNvPr id="15" name="TextBox 14">
            <a:hlinkClick r:id="rId4" action="ppaction://hlinksldjump"/>
            <a:extLst>
              <a:ext uri="{FF2B5EF4-FFF2-40B4-BE49-F238E27FC236}">
                <a16:creationId xmlns:a16="http://schemas.microsoft.com/office/drawing/2014/main" id="{D1E08665-63FA-D856-C62A-C2A5F77183C9}"/>
              </a:ext>
            </a:extLst>
          </p:cNvPr>
          <p:cNvSpPr txBox="1"/>
          <p:nvPr/>
        </p:nvSpPr>
        <p:spPr>
          <a:xfrm>
            <a:off x="4470400" y="2743200"/>
            <a:ext cx="1955800" cy="2185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420" b="1">
                <a:solidFill>
                  <a:srgbClr val="F7FAFC"/>
                </a:solidFill>
                <a:latin typeface="Calibri" panose="020F0502020204030204" pitchFamily="34" charset="0"/>
              </a:rPr>
              <a:t>Dataset and base model</a:t>
            </a:r>
          </a:p>
        </p:txBody>
      </p:sp>
      <p:sp>
        <p:nvSpPr>
          <p:cNvPr id="16" name="TextBox 15">
            <a:hlinkClick r:id="rId4" action="ppaction://hlinksldjump"/>
            <a:extLst>
              <a:ext uri="{FF2B5EF4-FFF2-40B4-BE49-F238E27FC236}">
                <a16:creationId xmlns:a16="http://schemas.microsoft.com/office/drawing/2014/main" id="{709EBF69-7B09-E70F-BE41-4147303B3133}"/>
              </a:ext>
            </a:extLst>
          </p:cNvPr>
          <p:cNvSpPr txBox="1"/>
          <p:nvPr/>
        </p:nvSpPr>
        <p:spPr>
          <a:xfrm>
            <a:off x="4470400" y="3200400"/>
            <a:ext cx="1168400" cy="1108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720" b="1">
                <a:solidFill>
                  <a:srgbClr val="8295AE"/>
                </a:solidFill>
                <a:latin typeface="Calibri" panose="020F0502020204030204" pitchFamily="34" charset="0"/>
              </a:rPr>
              <a:t>OPEN SECTION</a:t>
            </a:r>
          </a:p>
        </p:txBody>
      </p:sp>
      <p:sp>
        <p:nvSpPr>
          <p:cNvPr id="17" name="Rectangle: Rounded Corners 16">
            <a:hlinkClick r:id="rId5" action="ppaction://hlinksldjump"/>
            <a:extLst>
              <a:ext uri="{FF2B5EF4-FFF2-40B4-BE49-F238E27FC236}">
                <a16:creationId xmlns:a16="http://schemas.microsoft.com/office/drawing/2014/main" id="{E98F871D-FA35-620A-70FF-159292F7006D}"/>
              </a:ext>
            </a:extLst>
          </p:cNvPr>
          <p:cNvSpPr/>
          <p:nvPr/>
        </p:nvSpPr>
        <p:spPr>
          <a:xfrm>
            <a:off x="711200" y="3708400"/>
            <a:ext cx="2768600" cy="838200"/>
          </a:xfrm>
          <a:prstGeom prst="roundRect">
            <a:avLst/>
          </a:prstGeom>
          <a:solidFill>
            <a:srgbClr val="0D213C">
              <a:alpha val="95000"/>
            </a:srgbClr>
          </a:solidFill>
          <a:ln w="10160" cap="flat" cmpd="sng" algn="ctr">
            <a:solidFill>
              <a:srgbClr val="33DDCF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hlinkClick r:id="rId5" action="ppaction://hlinksldjump"/>
            <a:extLst>
              <a:ext uri="{FF2B5EF4-FFF2-40B4-BE49-F238E27FC236}">
                <a16:creationId xmlns:a16="http://schemas.microsoft.com/office/drawing/2014/main" id="{B13030ED-6458-D90F-30EB-301EE4C7A93F}"/>
              </a:ext>
            </a:extLst>
          </p:cNvPr>
          <p:cNvSpPr txBox="1"/>
          <p:nvPr/>
        </p:nvSpPr>
        <p:spPr>
          <a:xfrm>
            <a:off x="889000" y="3873500"/>
            <a:ext cx="3810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950" b="1">
                <a:solidFill>
                  <a:srgbClr val="33DDCF"/>
                </a:solidFill>
                <a:latin typeface="Cascadia Code" panose="020B0609020000020004" pitchFamily="49" charset="0"/>
              </a:rPr>
              <a:t>03</a:t>
            </a:r>
          </a:p>
        </p:txBody>
      </p:sp>
      <p:sp>
        <p:nvSpPr>
          <p:cNvPr id="19" name="TextBox 18">
            <a:hlinkClick r:id="rId5" action="ppaction://hlinksldjump"/>
            <a:extLst>
              <a:ext uri="{FF2B5EF4-FFF2-40B4-BE49-F238E27FC236}">
                <a16:creationId xmlns:a16="http://schemas.microsoft.com/office/drawing/2014/main" id="{06A4C99E-50F2-69A1-7CC1-FE682C7C5CCF}"/>
              </a:ext>
            </a:extLst>
          </p:cNvPr>
          <p:cNvSpPr txBox="1"/>
          <p:nvPr/>
        </p:nvSpPr>
        <p:spPr>
          <a:xfrm>
            <a:off x="1320800" y="3848100"/>
            <a:ext cx="1955800" cy="2185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420" b="1">
                <a:solidFill>
                  <a:srgbClr val="F7FAFC"/>
                </a:solidFill>
                <a:latin typeface="Calibri" panose="020F0502020204030204" pitchFamily="34" charset="0"/>
              </a:rPr>
              <a:t>Judges, PPO and rewards</a:t>
            </a:r>
          </a:p>
        </p:txBody>
      </p:sp>
      <p:sp>
        <p:nvSpPr>
          <p:cNvPr id="20" name="TextBox 19">
            <a:hlinkClick r:id="rId5" action="ppaction://hlinksldjump"/>
            <a:extLst>
              <a:ext uri="{FF2B5EF4-FFF2-40B4-BE49-F238E27FC236}">
                <a16:creationId xmlns:a16="http://schemas.microsoft.com/office/drawing/2014/main" id="{C7EA6CD8-AAAC-B504-5AE2-1ADB48DDB8E3}"/>
              </a:ext>
            </a:extLst>
          </p:cNvPr>
          <p:cNvSpPr txBox="1"/>
          <p:nvPr/>
        </p:nvSpPr>
        <p:spPr>
          <a:xfrm>
            <a:off x="1320800" y="4305300"/>
            <a:ext cx="1168400" cy="1108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720" b="1">
                <a:solidFill>
                  <a:srgbClr val="8295AE"/>
                </a:solidFill>
                <a:latin typeface="Calibri" panose="020F0502020204030204" pitchFamily="34" charset="0"/>
              </a:rPr>
              <a:t>OPEN SECTION</a:t>
            </a:r>
          </a:p>
        </p:txBody>
      </p:sp>
      <p:sp>
        <p:nvSpPr>
          <p:cNvPr id="21" name="Rectangle: Rounded Corners 20">
            <a:hlinkClick r:id="rId6" action="ppaction://hlinksldjump"/>
            <a:extLst>
              <a:ext uri="{FF2B5EF4-FFF2-40B4-BE49-F238E27FC236}">
                <a16:creationId xmlns:a16="http://schemas.microsoft.com/office/drawing/2014/main" id="{7281F2A3-E76C-2206-84E7-8104D97A6C26}"/>
              </a:ext>
            </a:extLst>
          </p:cNvPr>
          <p:cNvSpPr/>
          <p:nvPr/>
        </p:nvSpPr>
        <p:spPr>
          <a:xfrm>
            <a:off x="3860800" y="3708400"/>
            <a:ext cx="2768600" cy="838200"/>
          </a:xfrm>
          <a:prstGeom prst="roundRect">
            <a:avLst/>
          </a:prstGeom>
          <a:solidFill>
            <a:srgbClr val="133052">
              <a:alpha val="95000"/>
            </a:srgbClr>
          </a:solidFill>
          <a:ln w="10160" cap="flat" cmpd="sng" algn="ctr">
            <a:solidFill>
              <a:srgbClr val="33DDCF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hlinkClick r:id="rId6" action="ppaction://hlinksldjump"/>
            <a:extLst>
              <a:ext uri="{FF2B5EF4-FFF2-40B4-BE49-F238E27FC236}">
                <a16:creationId xmlns:a16="http://schemas.microsoft.com/office/drawing/2014/main" id="{B0328004-7337-C58B-E050-668F86D3DEFC}"/>
              </a:ext>
            </a:extLst>
          </p:cNvPr>
          <p:cNvSpPr txBox="1"/>
          <p:nvPr/>
        </p:nvSpPr>
        <p:spPr>
          <a:xfrm>
            <a:off x="4038600" y="3873500"/>
            <a:ext cx="3810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950" b="1">
                <a:solidFill>
                  <a:srgbClr val="33DDCF"/>
                </a:solidFill>
                <a:latin typeface="Cascadia Code" panose="020B0609020000020004" pitchFamily="49" charset="0"/>
              </a:rPr>
              <a:t>04</a:t>
            </a:r>
          </a:p>
        </p:txBody>
      </p:sp>
      <p:sp>
        <p:nvSpPr>
          <p:cNvPr id="23" name="TextBox 22">
            <a:hlinkClick r:id="rId6" action="ppaction://hlinksldjump"/>
            <a:extLst>
              <a:ext uri="{FF2B5EF4-FFF2-40B4-BE49-F238E27FC236}">
                <a16:creationId xmlns:a16="http://schemas.microsoft.com/office/drawing/2014/main" id="{6E6368F6-D276-0BC9-854A-D08FF1DBE8B5}"/>
              </a:ext>
            </a:extLst>
          </p:cNvPr>
          <p:cNvSpPr txBox="1"/>
          <p:nvPr/>
        </p:nvSpPr>
        <p:spPr>
          <a:xfrm>
            <a:off x="4470400" y="3848100"/>
            <a:ext cx="1955800" cy="2185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420" b="1">
                <a:solidFill>
                  <a:srgbClr val="F7FAFC"/>
                </a:solidFill>
                <a:latin typeface="Calibri" panose="020F0502020204030204" pitchFamily="34" charset="0"/>
              </a:rPr>
              <a:t>Agent and safety controls</a:t>
            </a:r>
          </a:p>
        </p:txBody>
      </p:sp>
      <p:sp>
        <p:nvSpPr>
          <p:cNvPr id="24" name="TextBox 23">
            <a:hlinkClick r:id="rId6" action="ppaction://hlinksldjump"/>
            <a:extLst>
              <a:ext uri="{FF2B5EF4-FFF2-40B4-BE49-F238E27FC236}">
                <a16:creationId xmlns:a16="http://schemas.microsoft.com/office/drawing/2014/main" id="{02579C59-ED07-DE27-80A3-F5EDE2B2D462}"/>
              </a:ext>
            </a:extLst>
          </p:cNvPr>
          <p:cNvSpPr txBox="1"/>
          <p:nvPr/>
        </p:nvSpPr>
        <p:spPr>
          <a:xfrm>
            <a:off x="4470400" y="4305300"/>
            <a:ext cx="1168400" cy="1108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720" b="1">
                <a:solidFill>
                  <a:srgbClr val="8295AE"/>
                </a:solidFill>
                <a:latin typeface="Calibri" panose="020F0502020204030204" pitchFamily="34" charset="0"/>
              </a:rPr>
              <a:t>OPEN SECTION</a:t>
            </a:r>
          </a:p>
        </p:txBody>
      </p:sp>
      <p:sp>
        <p:nvSpPr>
          <p:cNvPr id="25" name="Rectangle: Rounded Corners 24">
            <a:hlinkClick r:id="rId7" action="ppaction://hlinksldjump"/>
            <a:extLst>
              <a:ext uri="{FF2B5EF4-FFF2-40B4-BE49-F238E27FC236}">
                <a16:creationId xmlns:a16="http://schemas.microsoft.com/office/drawing/2014/main" id="{D7F2D656-2727-A735-1A03-5765C6505696}"/>
              </a:ext>
            </a:extLst>
          </p:cNvPr>
          <p:cNvSpPr/>
          <p:nvPr/>
        </p:nvSpPr>
        <p:spPr>
          <a:xfrm>
            <a:off x="711200" y="4813300"/>
            <a:ext cx="2768600" cy="838200"/>
          </a:xfrm>
          <a:prstGeom prst="roundRect">
            <a:avLst/>
          </a:prstGeom>
          <a:solidFill>
            <a:srgbClr val="0D213C">
              <a:alpha val="95000"/>
            </a:srgbClr>
          </a:solidFill>
          <a:ln w="10160" cap="flat" cmpd="sng" algn="ctr">
            <a:solidFill>
              <a:srgbClr val="33DDCF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hlinkClick r:id="rId7" action="ppaction://hlinksldjump"/>
            <a:extLst>
              <a:ext uri="{FF2B5EF4-FFF2-40B4-BE49-F238E27FC236}">
                <a16:creationId xmlns:a16="http://schemas.microsoft.com/office/drawing/2014/main" id="{39680434-8671-C702-2520-5F39B1CAAA25}"/>
              </a:ext>
            </a:extLst>
          </p:cNvPr>
          <p:cNvSpPr txBox="1"/>
          <p:nvPr/>
        </p:nvSpPr>
        <p:spPr>
          <a:xfrm>
            <a:off x="889000" y="4978400"/>
            <a:ext cx="3810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950" b="1">
                <a:solidFill>
                  <a:srgbClr val="33DDCF"/>
                </a:solidFill>
                <a:latin typeface="Cascadia Code" panose="020B0609020000020004" pitchFamily="49" charset="0"/>
              </a:rPr>
              <a:t>05</a:t>
            </a:r>
          </a:p>
        </p:txBody>
      </p:sp>
      <p:sp>
        <p:nvSpPr>
          <p:cNvPr id="27" name="TextBox 26">
            <a:hlinkClick r:id="rId7" action="ppaction://hlinksldjump"/>
            <a:extLst>
              <a:ext uri="{FF2B5EF4-FFF2-40B4-BE49-F238E27FC236}">
                <a16:creationId xmlns:a16="http://schemas.microsoft.com/office/drawing/2014/main" id="{BB4B0A5A-08B2-F61D-B2E5-2794E1477E0E}"/>
              </a:ext>
            </a:extLst>
          </p:cNvPr>
          <p:cNvSpPr txBox="1"/>
          <p:nvPr/>
        </p:nvSpPr>
        <p:spPr>
          <a:xfrm>
            <a:off x="1320800" y="4953000"/>
            <a:ext cx="1955800" cy="2185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420" b="1">
                <a:solidFill>
                  <a:srgbClr val="F7FAFC"/>
                </a:solidFill>
                <a:latin typeface="Calibri" panose="020F0502020204030204" pitchFamily="34" charset="0"/>
              </a:rPr>
              <a:t>Evaluation and transfer</a:t>
            </a:r>
          </a:p>
        </p:txBody>
      </p:sp>
      <p:sp>
        <p:nvSpPr>
          <p:cNvPr id="28" name="TextBox 27">
            <a:hlinkClick r:id="rId7" action="ppaction://hlinksldjump"/>
            <a:extLst>
              <a:ext uri="{FF2B5EF4-FFF2-40B4-BE49-F238E27FC236}">
                <a16:creationId xmlns:a16="http://schemas.microsoft.com/office/drawing/2014/main" id="{B294CCAD-A41D-3CFC-DE98-23F54603FC96}"/>
              </a:ext>
            </a:extLst>
          </p:cNvPr>
          <p:cNvSpPr txBox="1"/>
          <p:nvPr/>
        </p:nvSpPr>
        <p:spPr>
          <a:xfrm>
            <a:off x="1320800" y="5410200"/>
            <a:ext cx="1168400" cy="1108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720" b="1">
                <a:solidFill>
                  <a:srgbClr val="8295AE"/>
                </a:solidFill>
                <a:latin typeface="Calibri" panose="020F0502020204030204" pitchFamily="34" charset="0"/>
              </a:rPr>
              <a:t>OPEN SECTION</a:t>
            </a:r>
          </a:p>
        </p:txBody>
      </p:sp>
      <p:sp>
        <p:nvSpPr>
          <p:cNvPr id="29" name="Rectangle: Rounded Corners 28">
            <a:hlinkClick r:id="rId8" action="ppaction://hlinksldjump"/>
            <a:extLst>
              <a:ext uri="{FF2B5EF4-FFF2-40B4-BE49-F238E27FC236}">
                <a16:creationId xmlns:a16="http://schemas.microsoft.com/office/drawing/2014/main" id="{84FAFF03-1D6C-CBEE-1A34-2BBA5DA23C1D}"/>
              </a:ext>
            </a:extLst>
          </p:cNvPr>
          <p:cNvSpPr/>
          <p:nvPr/>
        </p:nvSpPr>
        <p:spPr>
          <a:xfrm>
            <a:off x="3860800" y="4813300"/>
            <a:ext cx="2768600" cy="838200"/>
          </a:xfrm>
          <a:prstGeom prst="roundRect">
            <a:avLst/>
          </a:prstGeom>
          <a:solidFill>
            <a:srgbClr val="133052">
              <a:alpha val="95000"/>
            </a:srgbClr>
          </a:solidFill>
          <a:ln w="10160" cap="flat" cmpd="sng" algn="ctr">
            <a:solidFill>
              <a:srgbClr val="33DDCF">
                <a:alpha val="5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hlinkClick r:id="rId8" action="ppaction://hlinksldjump"/>
            <a:extLst>
              <a:ext uri="{FF2B5EF4-FFF2-40B4-BE49-F238E27FC236}">
                <a16:creationId xmlns:a16="http://schemas.microsoft.com/office/drawing/2014/main" id="{F1041A25-5B40-8AAE-EF8E-C9C402959EE3}"/>
              </a:ext>
            </a:extLst>
          </p:cNvPr>
          <p:cNvSpPr txBox="1"/>
          <p:nvPr/>
        </p:nvSpPr>
        <p:spPr>
          <a:xfrm>
            <a:off x="4038600" y="4978400"/>
            <a:ext cx="381000" cy="14619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950" b="1">
                <a:solidFill>
                  <a:srgbClr val="33DDCF"/>
                </a:solidFill>
                <a:latin typeface="Cascadia Code" panose="020B0609020000020004" pitchFamily="49" charset="0"/>
              </a:rPr>
              <a:t>06</a:t>
            </a:r>
          </a:p>
        </p:txBody>
      </p:sp>
      <p:sp>
        <p:nvSpPr>
          <p:cNvPr id="31" name="TextBox 30">
            <a:hlinkClick r:id="rId8" action="ppaction://hlinksldjump"/>
            <a:extLst>
              <a:ext uri="{FF2B5EF4-FFF2-40B4-BE49-F238E27FC236}">
                <a16:creationId xmlns:a16="http://schemas.microsoft.com/office/drawing/2014/main" id="{A5819DF2-8E99-BB40-41A6-E2D4CDEE7BBB}"/>
              </a:ext>
            </a:extLst>
          </p:cNvPr>
          <p:cNvSpPr txBox="1"/>
          <p:nvPr/>
        </p:nvSpPr>
        <p:spPr>
          <a:xfrm>
            <a:off x="4470400" y="4953000"/>
            <a:ext cx="1955800" cy="21852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1420" b="1">
                <a:solidFill>
                  <a:srgbClr val="F7FAFC"/>
                </a:solidFill>
                <a:latin typeface="Calibri" panose="020F0502020204030204" pitchFamily="34" charset="0"/>
              </a:rPr>
              <a:t>Execution and references</a:t>
            </a:r>
          </a:p>
        </p:txBody>
      </p:sp>
      <p:sp>
        <p:nvSpPr>
          <p:cNvPr id="32" name="TextBox 31">
            <a:hlinkClick r:id="rId8" action="ppaction://hlinksldjump"/>
            <a:extLst>
              <a:ext uri="{FF2B5EF4-FFF2-40B4-BE49-F238E27FC236}">
                <a16:creationId xmlns:a16="http://schemas.microsoft.com/office/drawing/2014/main" id="{5AABDC6B-814A-47FA-31DD-7148ACDC40AB}"/>
              </a:ext>
            </a:extLst>
          </p:cNvPr>
          <p:cNvSpPr txBox="1"/>
          <p:nvPr/>
        </p:nvSpPr>
        <p:spPr>
          <a:xfrm>
            <a:off x="4470400" y="5410200"/>
            <a:ext cx="1168400" cy="110800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720" b="1">
                <a:solidFill>
                  <a:srgbClr val="8295AE"/>
                </a:solidFill>
                <a:latin typeface="Calibri" panose="020F0502020204030204" pitchFamily="34" charset="0"/>
              </a:rPr>
              <a:t>OPEN SECTION</a:t>
            </a:r>
          </a:p>
        </p:txBody>
      </p:sp>
    </p:spTree>
    <p:extLst>
      <p:ext uri="{BB962C8B-B14F-4D97-AF65-F5344CB8AC3E}">
        <p14:creationId xmlns:p14="http://schemas.microsoft.com/office/powerpoint/2010/main" val="12360647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90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SCOPE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7FAFC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Research problem and project objectives</a:t>
            </a:r>
            <a:endParaRPr lang="en-US" sz="2700" dirty="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06070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2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red-team campaigns need reproducible training, independent evaluation and defensible metrics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358384" cy="4407408"/>
          </a:xfrm>
          <a:prstGeom prst="roundRect">
            <a:avLst>
              <a:gd name="adj" fmla="val 830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32688" y="193852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135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932688" y="2322576"/>
            <a:ext cx="4663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F7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language-model attacker learns multi-turn strategies that test whether an authorized target model follows its safety policy.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14400" y="3694176"/>
            <a:ext cx="4645152" cy="16642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5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fast Reward Judge for the PPO signal</a:t>
            </a:r>
            <a:endParaRPr lang="en-US" sz="1450" dirty="0"/>
          </a:p>
          <a:p>
            <a:r>
              <a:rPr lang="en-US" sz="145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final evaluation separate from attacker training</a:t>
            </a:r>
            <a:endParaRPr lang="en-US" sz="1450" dirty="0"/>
          </a:p>
          <a:p>
            <a:r>
              <a:rPr lang="en-US" sz="145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full conversations, target scope and human-review flags</a:t>
            </a:r>
            <a:endParaRPr lang="en-US" sz="1450" dirty="0"/>
          </a:p>
          <a:p>
            <a:r>
              <a:rPr lang="en-US" sz="145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transfer only on unseen authorized targets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45352" y="1645920"/>
            <a:ext cx="5303520" cy="4407408"/>
          </a:xfrm>
          <a:prstGeom prst="roundRect">
            <a:avLst>
              <a:gd name="adj" fmla="val 830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6537960" y="1938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135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92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10528" y="2322576"/>
          <a:ext cx="4617720" cy="1920240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90" b="1" dirty="0">
                          <a:solidFill>
                            <a:srgbClr val="07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0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D8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90" b="1" dirty="0">
                          <a:solidFill>
                            <a:srgbClr val="07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09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D8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Pinned JBB files, checksums and grouped splits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model, judge and PPO attacker checkpoints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Campaign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Redacted, resumable multi-turn transcripts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6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report, clusters and transfer metrics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6537960" y="513892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boundary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537960" y="5449824"/>
            <a:ext cx="4343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00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target adapter permits only explicitly allowlisted systems. The repository ships no production target credentials.</a:t>
            </a:r>
            <a:endParaRPr lang="en-US" sz="1300" dirty="0"/>
          </a:p>
        </p:txBody>
      </p:sp>
      <p:cxnSp>
        <p:nvCxnSpPr>
          <p:cNvPr id="14" name="CodexHeaderAccent">
            <a:extLst>
              <a:ext uri="{FF2B5EF4-FFF2-40B4-BE49-F238E27FC236}">
                <a16:creationId xmlns:a16="http://schemas.microsoft.com/office/drawing/2014/main" id="{EF2E66D0-C733-3769-0F52-C20ED92E4355}"/>
              </a:ext>
            </a:extLst>
          </p:cNvPr>
          <p:cNvCxnSpPr/>
          <p:nvPr/>
        </p:nvCxnSpPr>
        <p:spPr>
          <a:xfrm>
            <a:off x="558800" y="190500"/>
            <a:ext cx="457200" cy="0"/>
          </a:xfrm>
          <a:prstGeom prst="line">
            <a:avLst/>
          </a:prstGeom>
          <a:ln w="38100">
            <a:solidFill>
              <a:srgbClr val="33DD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50C7573-FA22-489D-2D87-BF8A08C22AB4}"/>
              </a:ext>
            </a:extLst>
          </p:cNvPr>
          <p:cNvCxnSpPr/>
          <p:nvPr/>
        </p:nvCxnSpPr>
        <p:spPr>
          <a:xfrm>
            <a:off x="558800" y="6515100"/>
            <a:ext cx="11074400" cy="0"/>
          </a:xfrm>
          <a:prstGeom prst="line">
            <a:avLst/>
          </a:prstGeom>
          <a:ln w="7620" cap="flat" cmpd="sng" algn="ctr">
            <a:solidFill>
              <a:srgbClr val="38537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CodexSectionLabel">
            <a:extLst>
              <a:ext uri="{FF2B5EF4-FFF2-40B4-BE49-F238E27FC236}">
                <a16:creationId xmlns:a16="http://schemas.microsoft.com/office/drawing/2014/main" id="{0A5E0C57-E643-53B5-2307-038D2E198C5B}"/>
              </a:ext>
            </a:extLst>
          </p:cNvPr>
          <p:cNvSpPr txBox="1"/>
          <p:nvPr/>
        </p:nvSpPr>
        <p:spPr>
          <a:xfrm>
            <a:off x="558800" y="6604000"/>
            <a:ext cx="2413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800" b="1">
                <a:solidFill>
                  <a:srgbClr val="33DDCF"/>
                </a:solidFill>
                <a:latin typeface="Calibri" panose="020F0502020204030204" pitchFamily="34" charset="0"/>
              </a:rPr>
              <a:t>PROJECT</a:t>
            </a:r>
          </a:p>
        </p:txBody>
      </p:sp>
      <p:sp>
        <p:nvSpPr>
          <p:cNvPr id="17" name="CodexNavContents">
            <a:hlinkClick r:id="rId3" action="ppaction://hlinksldjump"/>
            <a:extLst>
              <a:ext uri="{FF2B5EF4-FFF2-40B4-BE49-F238E27FC236}">
                <a16:creationId xmlns:a16="http://schemas.microsoft.com/office/drawing/2014/main" id="{403E3773-4AA5-87E9-2589-FEDDD1D98D13}"/>
              </a:ext>
            </a:extLst>
          </p:cNvPr>
          <p:cNvSpPr txBox="1"/>
          <p:nvPr/>
        </p:nvSpPr>
        <p:spPr>
          <a:xfrm>
            <a:off x="8763000" y="6604000"/>
            <a:ext cx="7366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CONTENTS</a:t>
            </a:r>
          </a:p>
        </p:txBody>
      </p:sp>
      <p:sp>
        <p:nvSpPr>
          <p:cNvPr id="18" name="CodexNavPrevious">
            <a:hlinkClick r:id="rId3" action="ppaction://hlinksldjump"/>
            <a:extLst>
              <a:ext uri="{FF2B5EF4-FFF2-40B4-BE49-F238E27FC236}">
                <a16:creationId xmlns:a16="http://schemas.microsoft.com/office/drawing/2014/main" id="{54ED74E6-CEA7-0BDA-E941-9BC5FDB4DEA5}"/>
              </a:ext>
            </a:extLst>
          </p:cNvPr>
          <p:cNvSpPr txBox="1"/>
          <p:nvPr/>
        </p:nvSpPr>
        <p:spPr>
          <a:xfrm>
            <a:off x="9588500" y="6604000"/>
            <a:ext cx="7112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PREVIOUS</a:t>
            </a:r>
          </a:p>
        </p:txBody>
      </p:sp>
      <p:sp>
        <p:nvSpPr>
          <p:cNvPr id="19" name="CodexNavNext">
            <a:hlinkClick r:id="rId4" action="ppaction://hlinksldjump"/>
            <a:extLst>
              <a:ext uri="{FF2B5EF4-FFF2-40B4-BE49-F238E27FC236}">
                <a16:creationId xmlns:a16="http://schemas.microsoft.com/office/drawing/2014/main" id="{EF8E93F4-0EC5-1EA4-F16D-C854D860012B}"/>
              </a:ext>
            </a:extLst>
          </p:cNvPr>
          <p:cNvSpPr txBox="1"/>
          <p:nvPr/>
        </p:nvSpPr>
        <p:spPr>
          <a:xfrm>
            <a:off x="10375900" y="6604000"/>
            <a:ext cx="4826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NEXT</a:t>
            </a:r>
          </a:p>
        </p:txBody>
      </p:sp>
      <p:sp>
        <p:nvSpPr>
          <p:cNvPr id="20" name="CodexPageNumber">
            <a:extLst>
              <a:ext uri="{FF2B5EF4-FFF2-40B4-BE49-F238E27FC236}">
                <a16:creationId xmlns:a16="http://schemas.microsoft.com/office/drawing/2014/main" id="{4E65D3E5-25E8-BE04-D419-08A8C1AAA39F}"/>
              </a:ext>
            </a:extLst>
          </p:cNvPr>
          <p:cNvSpPr txBox="1"/>
          <p:nvPr/>
        </p:nvSpPr>
        <p:spPr>
          <a:xfrm>
            <a:off x="10972800" y="6604000"/>
            <a:ext cx="6604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IN" sz="820">
                <a:solidFill>
                  <a:srgbClr val="8295AE"/>
                </a:solidFill>
                <a:latin typeface="Cascadia Code" panose="020B0609020000020004" pitchFamily="49" charset="0"/>
              </a:rPr>
              <a:t>03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90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AUDIT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7FAFC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Current implementation versus the earlier mechanism inventory</a:t>
            </a:r>
            <a:endParaRPr lang="en-US" sz="2700" dirty="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06070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2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fresh clone changes several architectural details that matter for a valid presentation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27632"/>
          <a:ext cx="10917936" cy="3621024"/>
        </p:xfrm>
        <a:graphic>
          <a:graphicData uri="http://schemas.openxmlformats.org/drawingml/2006/table">
            <a:tbl>
              <a:tblPr/>
              <a:tblGrid>
                <a:gridCol w="1325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430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07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D8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07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Earlier description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D8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80" b="1" dirty="0">
                          <a:solidFill>
                            <a:srgbClr val="07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code at commit 1bacbaf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D8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From-scratch nanoGPT path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Pythia-160m warm-start is default; scratch path remains optional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head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HF TRL adapter required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wrapper supports HF and custom GPT backends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judge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classifier supplies evaluation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Separate eval ensemble; PPO Reward Judge never proves findings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TF-IDF plus DBSCAN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Normalized MiniLM embeddings plus cosine-distance DBSCAN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Vendor-specific formatters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report only; no PSIRT or automotive exporters in this commit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640080" y="5504688"/>
            <a:ext cx="10917936" cy="603504"/>
          </a:xfrm>
          <a:prstGeom prst="roundRect">
            <a:avLst>
              <a:gd name="adj" fmla="val 6061"/>
            </a:avLst>
          </a:prstGeom>
          <a:solidFill>
            <a:srgbClr val="142C50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77824" y="5669280"/>
            <a:ext cx="10442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30" b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rule: explain what the repository actually implements. Treat the from-scratch transformer and custom tokenizer as supported alternatives, not the default run.</a:t>
            </a:r>
            <a:endParaRPr lang="en-US" sz="1330" dirty="0"/>
          </a:p>
        </p:txBody>
      </p:sp>
      <p:cxnSp>
        <p:nvCxnSpPr>
          <p:cNvPr id="8" name="CodexHeaderAccent">
            <a:extLst>
              <a:ext uri="{FF2B5EF4-FFF2-40B4-BE49-F238E27FC236}">
                <a16:creationId xmlns:a16="http://schemas.microsoft.com/office/drawing/2014/main" id="{5B877FC5-BF00-6934-D955-D62A60549437}"/>
              </a:ext>
            </a:extLst>
          </p:cNvPr>
          <p:cNvCxnSpPr/>
          <p:nvPr/>
        </p:nvCxnSpPr>
        <p:spPr>
          <a:xfrm>
            <a:off x="558800" y="190500"/>
            <a:ext cx="457200" cy="0"/>
          </a:xfrm>
          <a:prstGeom prst="line">
            <a:avLst/>
          </a:prstGeom>
          <a:ln w="38100">
            <a:solidFill>
              <a:srgbClr val="33DD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46298A9-D4CC-7F73-25CD-0F1623D2952A}"/>
              </a:ext>
            </a:extLst>
          </p:cNvPr>
          <p:cNvCxnSpPr/>
          <p:nvPr/>
        </p:nvCxnSpPr>
        <p:spPr>
          <a:xfrm>
            <a:off x="558800" y="6515100"/>
            <a:ext cx="11074400" cy="0"/>
          </a:xfrm>
          <a:prstGeom prst="line">
            <a:avLst/>
          </a:prstGeom>
          <a:ln w="7620" cap="flat" cmpd="sng" algn="ctr">
            <a:solidFill>
              <a:srgbClr val="38537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odexSectionLabel">
            <a:extLst>
              <a:ext uri="{FF2B5EF4-FFF2-40B4-BE49-F238E27FC236}">
                <a16:creationId xmlns:a16="http://schemas.microsoft.com/office/drawing/2014/main" id="{31B8E7CD-F68D-76EA-0C1A-628B9F0A1EB5}"/>
              </a:ext>
            </a:extLst>
          </p:cNvPr>
          <p:cNvSpPr txBox="1"/>
          <p:nvPr/>
        </p:nvSpPr>
        <p:spPr>
          <a:xfrm>
            <a:off x="558800" y="6604000"/>
            <a:ext cx="2413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800" b="1">
                <a:solidFill>
                  <a:srgbClr val="33DDCF"/>
                </a:solidFill>
                <a:latin typeface="Calibri" panose="020F0502020204030204" pitchFamily="34" charset="0"/>
              </a:rPr>
              <a:t>PROJECT</a:t>
            </a:r>
          </a:p>
        </p:txBody>
      </p:sp>
      <p:sp>
        <p:nvSpPr>
          <p:cNvPr id="11" name="CodexNavContents">
            <a:hlinkClick r:id="rId3" action="ppaction://hlinksldjump"/>
            <a:extLst>
              <a:ext uri="{FF2B5EF4-FFF2-40B4-BE49-F238E27FC236}">
                <a16:creationId xmlns:a16="http://schemas.microsoft.com/office/drawing/2014/main" id="{C2DFAF5E-2398-054B-4CFB-90F7E2B8E670}"/>
              </a:ext>
            </a:extLst>
          </p:cNvPr>
          <p:cNvSpPr txBox="1"/>
          <p:nvPr/>
        </p:nvSpPr>
        <p:spPr>
          <a:xfrm>
            <a:off x="8763000" y="6604000"/>
            <a:ext cx="7366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CONTENTS</a:t>
            </a:r>
          </a:p>
        </p:txBody>
      </p:sp>
      <p:sp>
        <p:nvSpPr>
          <p:cNvPr id="12" name="CodexNavPrevious">
            <a:hlinkClick r:id="rId4" action="ppaction://hlinksldjump"/>
            <a:extLst>
              <a:ext uri="{FF2B5EF4-FFF2-40B4-BE49-F238E27FC236}">
                <a16:creationId xmlns:a16="http://schemas.microsoft.com/office/drawing/2014/main" id="{67D99CF2-4404-8824-DE48-B031A3D62C03}"/>
              </a:ext>
            </a:extLst>
          </p:cNvPr>
          <p:cNvSpPr txBox="1"/>
          <p:nvPr/>
        </p:nvSpPr>
        <p:spPr>
          <a:xfrm>
            <a:off x="9588500" y="6604000"/>
            <a:ext cx="7112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PREVIOUS</a:t>
            </a:r>
          </a:p>
        </p:txBody>
      </p:sp>
      <p:sp>
        <p:nvSpPr>
          <p:cNvPr id="13" name="CodexNavNext">
            <a:hlinkClick r:id="rId5" action="ppaction://hlinksldjump"/>
            <a:extLst>
              <a:ext uri="{FF2B5EF4-FFF2-40B4-BE49-F238E27FC236}">
                <a16:creationId xmlns:a16="http://schemas.microsoft.com/office/drawing/2014/main" id="{D269EC27-10A5-C1CF-94AC-023A6468B784}"/>
              </a:ext>
            </a:extLst>
          </p:cNvPr>
          <p:cNvSpPr txBox="1"/>
          <p:nvPr/>
        </p:nvSpPr>
        <p:spPr>
          <a:xfrm>
            <a:off x="10375900" y="6604000"/>
            <a:ext cx="4826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NEXT</a:t>
            </a:r>
          </a:p>
        </p:txBody>
      </p:sp>
      <p:sp>
        <p:nvSpPr>
          <p:cNvPr id="14" name="CodexPageNumber">
            <a:extLst>
              <a:ext uri="{FF2B5EF4-FFF2-40B4-BE49-F238E27FC236}">
                <a16:creationId xmlns:a16="http://schemas.microsoft.com/office/drawing/2014/main" id="{EFF301E7-5A61-ABD9-FC0E-CBC29BF6AE04}"/>
              </a:ext>
            </a:extLst>
          </p:cNvPr>
          <p:cNvSpPr txBox="1"/>
          <p:nvPr/>
        </p:nvSpPr>
        <p:spPr>
          <a:xfrm>
            <a:off x="10972800" y="6604000"/>
            <a:ext cx="6604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IN" sz="820">
                <a:solidFill>
                  <a:srgbClr val="8295AE"/>
                </a:solidFill>
                <a:latin typeface="Cascadia Code" panose="020B0609020000020004" pitchFamily="49" charset="0"/>
              </a:rPr>
              <a:t>04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90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7FAFC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End-to-end system flow</a:t>
            </a:r>
            <a:endParaRPr lang="en-US" sz="2700" dirty="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06070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2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and final evaluation use different judges to reduce reward hacking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94360" y="1874520"/>
            <a:ext cx="1572768" cy="768096"/>
          </a:xfrm>
          <a:prstGeom prst="roundRect">
            <a:avLst>
              <a:gd name="adj" fmla="val 4762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667512" y="209397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JBB data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578608" y="1874520"/>
            <a:ext cx="1572768" cy="768096"/>
          </a:xfrm>
          <a:prstGeom prst="roundRect">
            <a:avLst>
              <a:gd name="adj" fmla="val 4762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651760" y="209397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LM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62856" y="1874520"/>
            <a:ext cx="1572768" cy="768096"/>
          </a:xfrm>
          <a:prstGeom prst="roundRect">
            <a:avLst>
              <a:gd name="adj" fmla="val 4762"/>
            </a:avLst>
          </a:prstGeom>
          <a:solidFill>
            <a:srgbClr val="142C50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636008" y="209397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Judge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547104" y="1874520"/>
            <a:ext cx="1572768" cy="768096"/>
          </a:xfrm>
          <a:prstGeom prst="roundRect">
            <a:avLst>
              <a:gd name="adj" fmla="val 4762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620256" y="209397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Attacker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531352" y="1874520"/>
            <a:ext cx="1572768" cy="768096"/>
          </a:xfrm>
          <a:prstGeom prst="roundRect">
            <a:avLst>
              <a:gd name="adj" fmla="val 4762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604504" y="209397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Multi-turn Agent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531352" y="4133088"/>
            <a:ext cx="1572768" cy="768096"/>
          </a:xfrm>
          <a:prstGeom prst="roundRect">
            <a:avLst>
              <a:gd name="adj" fmla="val 4762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604504" y="435254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Gate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47104" y="4133088"/>
            <a:ext cx="1572768" cy="768096"/>
          </a:xfrm>
          <a:prstGeom prst="roundRect">
            <a:avLst>
              <a:gd name="adj" fmla="val 4762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620256" y="435254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Authorized Target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62856" y="4133088"/>
            <a:ext cx="1572768" cy="768096"/>
          </a:xfrm>
          <a:prstGeom prst="roundRect">
            <a:avLst>
              <a:gd name="adj" fmla="val 4762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636008" y="435254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Redacted Transcript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78608" y="4133088"/>
            <a:ext cx="1572768" cy="768096"/>
          </a:xfrm>
          <a:prstGeom prst="roundRect">
            <a:avLst>
              <a:gd name="adj" fmla="val 4762"/>
            </a:avLst>
          </a:prstGeom>
          <a:solidFill>
            <a:srgbClr val="142C50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2651760" y="435254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Judge + Report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" y="4133088"/>
            <a:ext cx="1572768" cy="768096"/>
          </a:xfrm>
          <a:prstGeom prst="roundRect">
            <a:avLst>
              <a:gd name="adj" fmla="val 4762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67512" y="435254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+ Transfer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185416" y="2258568"/>
            <a:ext cx="310896" cy="0"/>
          </a:xfrm>
          <a:prstGeom prst="line">
            <a:avLst/>
          </a:prstGeom>
          <a:noFill/>
          <a:ln w="25400">
            <a:solidFill>
              <a:srgbClr val="27D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4169664" y="2258568"/>
            <a:ext cx="310896" cy="0"/>
          </a:xfrm>
          <a:prstGeom prst="line">
            <a:avLst/>
          </a:prstGeom>
          <a:noFill/>
          <a:ln w="25400">
            <a:solidFill>
              <a:srgbClr val="27D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153912" y="2258568"/>
            <a:ext cx="310896" cy="0"/>
          </a:xfrm>
          <a:prstGeom prst="line">
            <a:avLst/>
          </a:prstGeom>
          <a:noFill/>
          <a:ln w="25400">
            <a:solidFill>
              <a:srgbClr val="27D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8138160" y="2258568"/>
            <a:ext cx="310896" cy="0"/>
          </a:xfrm>
          <a:prstGeom prst="line">
            <a:avLst/>
          </a:prstGeom>
          <a:noFill/>
          <a:ln w="25400">
            <a:solidFill>
              <a:srgbClr val="27D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9317736" y="2688336"/>
            <a:ext cx="0" cy="1298448"/>
          </a:xfrm>
          <a:prstGeom prst="line">
            <a:avLst/>
          </a:prstGeom>
          <a:noFill/>
          <a:ln w="25400">
            <a:solidFill>
              <a:srgbClr val="27D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8412480" y="4517136"/>
            <a:ext cx="0" cy="0"/>
          </a:xfrm>
          <a:prstGeom prst="line">
            <a:avLst/>
          </a:prstGeom>
          <a:noFill/>
          <a:ln w="25400">
            <a:solidFill>
              <a:srgbClr val="27D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6428232" y="4517136"/>
            <a:ext cx="0" cy="0"/>
          </a:xfrm>
          <a:prstGeom prst="line">
            <a:avLst/>
          </a:prstGeom>
          <a:noFill/>
          <a:ln w="25400">
            <a:solidFill>
              <a:srgbClr val="27D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443984" y="4517136"/>
            <a:ext cx="0" cy="0"/>
          </a:xfrm>
          <a:prstGeom prst="line">
            <a:avLst/>
          </a:prstGeom>
          <a:noFill/>
          <a:ln w="25400">
            <a:solidFill>
              <a:srgbClr val="27D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2459736" y="4517136"/>
            <a:ext cx="0" cy="0"/>
          </a:xfrm>
          <a:prstGeom prst="line">
            <a:avLst/>
          </a:prstGeom>
          <a:noFill/>
          <a:ln w="25400">
            <a:solidFill>
              <a:srgbClr val="27D8C8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4553712" y="299923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path</a:t>
            </a:r>
            <a:endParaRPr lang="en-US" sz="1020" dirty="0"/>
          </a:p>
        </p:txBody>
      </p:sp>
      <p:sp>
        <p:nvSpPr>
          <p:cNvPr id="35" name="Text 33"/>
          <p:cNvSpPr/>
          <p:nvPr/>
        </p:nvSpPr>
        <p:spPr>
          <a:xfrm>
            <a:off x="3703320" y="5285232"/>
            <a:ext cx="3255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82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 and independent evaluation path</a:t>
            </a:r>
            <a:endParaRPr lang="en-US" sz="1020" dirty="0"/>
          </a:p>
        </p:txBody>
      </p:sp>
      <p:sp>
        <p:nvSpPr>
          <p:cNvPr id="36" name="Text 34"/>
          <p:cNvSpPr/>
          <p:nvPr/>
        </p:nvSpPr>
        <p:spPr>
          <a:xfrm>
            <a:off x="566928" y="636422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30" i="1" dirty="0">
                <a:solidFill>
                  <a:srgbClr val="82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eval judge receives no attacker gradient. Scope checks occur before target calls.</a:t>
            </a:r>
            <a:endParaRPr lang="en-US" sz="830" dirty="0"/>
          </a:p>
        </p:txBody>
      </p:sp>
      <p:cxnSp>
        <p:nvCxnSpPr>
          <p:cNvPr id="37" name="CodexHeaderAccent">
            <a:extLst>
              <a:ext uri="{FF2B5EF4-FFF2-40B4-BE49-F238E27FC236}">
                <a16:creationId xmlns:a16="http://schemas.microsoft.com/office/drawing/2014/main" id="{8197F017-B216-CFC5-E984-A96F65986885}"/>
              </a:ext>
            </a:extLst>
          </p:cNvPr>
          <p:cNvCxnSpPr/>
          <p:nvPr/>
        </p:nvCxnSpPr>
        <p:spPr>
          <a:xfrm>
            <a:off x="558800" y="190500"/>
            <a:ext cx="457200" cy="0"/>
          </a:xfrm>
          <a:prstGeom prst="line">
            <a:avLst/>
          </a:prstGeom>
          <a:ln w="38100">
            <a:solidFill>
              <a:srgbClr val="33DD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F8F4FFF2-D128-F84C-39ED-9A652DA4A763}"/>
              </a:ext>
            </a:extLst>
          </p:cNvPr>
          <p:cNvCxnSpPr/>
          <p:nvPr/>
        </p:nvCxnSpPr>
        <p:spPr>
          <a:xfrm>
            <a:off x="558800" y="6515100"/>
            <a:ext cx="11074400" cy="0"/>
          </a:xfrm>
          <a:prstGeom prst="line">
            <a:avLst/>
          </a:prstGeom>
          <a:ln w="7620" cap="flat" cmpd="sng" algn="ctr">
            <a:solidFill>
              <a:srgbClr val="38537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CodexSectionLabel">
            <a:extLst>
              <a:ext uri="{FF2B5EF4-FFF2-40B4-BE49-F238E27FC236}">
                <a16:creationId xmlns:a16="http://schemas.microsoft.com/office/drawing/2014/main" id="{55D59A97-04F3-75E8-46D7-5F711733A4D6}"/>
              </a:ext>
            </a:extLst>
          </p:cNvPr>
          <p:cNvSpPr txBox="1"/>
          <p:nvPr/>
        </p:nvSpPr>
        <p:spPr>
          <a:xfrm>
            <a:off x="558800" y="6604000"/>
            <a:ext cx="2413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800" b="1">
                <a:solidFill>
                  <a:srgbClr val="33DDCF"/>
                </a:solidFill>
                <a:latin typeface="Calibri" panose="020F0502020204030204" pitchFamily="34" charset="0"/>
              </a:rPr>
              <a:t>PROJECT</a:t>
            </a:r>
          </a:p>
        </p:txBody>
      </p:sp>
      <p:sp>
        <p:nvSpPr>
          <p:cNvPr id="40" name="CodexNavContents">
            <a:hlinkClick r:id="rId3" action="ppaction://hlinksldjump"/>
            <a:extLst>
              <a:ext uri="{FF2B5EF4-FFF2-40B4-BE49-F238E27FC236}">
                <a16:creationId xmlns:a16="http://schemas.microsoft.com/office/drawing/2014/main" id="{493E93BE-4787-C8A3-9196-895790998EEE}"/>
              </a:ext>
            </a:extLst>
          </p:cNvPr>
          <p:cNvSpPr txBox="1"/>
          <p:nvPr/>
        </p:nvSpPr>
        <p:spPr>
          <a:xfrm>
            <a:off x="8763000" y="6604000"/>
            <a:ext cx="7366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CONTENTS</a:t>
            </a:r>
          </a:p>
        </p:txBody>
      </p:sp>
      <p:sp>
        <p:nvSpPr>
          <p:cNvPr id="41" name="CodexNavPrevious">
            <a:hlinkClick r:id="rId4" action="ppaction://hlinksldjump"/>
            <a:extLst>
              <a:ext uri="{FF2B5EF4-FFF2-40B4-BE49-F238E27FC236}">
                <a16:creationId xmlns:a16="http://schemas.microsoft.com/office/drawing/2014/main" id="{DC4C0EAF-B96D-AC71-5BC9-C7EFBC606E87}"/>
              </a:ext>
            </a:extLst>
          </p:cNvPr>
          <p:cNvSpPr txBox="1"/>
          <p:nvPr/>
        </p:nvSpPr>
        <p:spPr>
          <a:xfrm>
            <a:off x="9588500" y="6604000"/>
            <a:ext cx="7112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PREVIOUS</a:t>
            </a:r>
          </a:p>
        </p:txBody>
      </p:sp>
      <p:sp>
        <p:nvSpPr>
          <p:cNvPr id="42" name="CodexNavNext">
            <a:hlinkClick r:id="rId5" action="ppaction://hlinksldjump"/>
            <a:extLst>
              <a:ext uri="{FF2B5EF4-FFF2-40B4-BE49-F238E27FC236}">
                <a16:creationId xmlns:a16="http://schemas.microsoft.com/office/drawing/2014/main" id="{509D6076-A4D1-2F20-BCBF-0B451D4C0036}"/>
              </a:ext>
            </a:extLst>
          </p:cNvPr>
          <p:cNvSpPr txBox="1"/>
          <p:nvPr/>
        </p:nvSpPr>
        <p:spPr>
          <a:xfrm>
            <a:off x="10375900" y="6604000"/>
            <a:ext cx="4826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NEXT</a:t>
            </a:r>
          </a:p>
        </p:txBody>
      </p:sp>
      <p:sp>
        <p:nvSpPr>
          <p:cNvPr id="43" name="CodexPageNumber">
            <a:extLst>
              <a:ext uri="{FF2B5EF4-FFF2-40B4-BE49-F238E27FC236}">
                <a16:creationId xmlns:a16="http://schemas.microsoft.com/office/drawing/2014/main" id="{160F3D5C-CD4B-947A-F6EE-065DEB8CC990}"/>
              </a:ext>
            </a:extLst>
          </p:cNvPr>
          <p:cNvSpPr txBox="1"/>
          <p:nvPr/>
        </p:nvSpPr>
        <p:spPr>
          <a:xfrm>
            <a:off x="10972800" y="6604000"/>
            <a:ext cx="6604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IN" sz="820">
                <a:solidFill>
                  <a:srgbClr val="8295AE"/>
                </a:solidFill>
                <a:latin typeface="Cascadia Code" panose="020B0609020000020004" pitchFamily="49" charset="0"/>
              </a:rPr>
              <a:t>05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90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7FAFC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Pinned JailbreakBench data and leakage-resistant splits</a:t>
            </a:r>
            <a:endParaRPr lang="en-US" sz="2700" dirty="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06070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2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updated project replaces synthetic rows as the default analysis input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627632"/>
            <a:ext cx="1572768" cy="749808"/>
          </a:xfrm>
          <a:prstGeom prst="roundRect">
            <a:avLst>
              <a:gd name="adj" fmla="val 4878"/>
            </a:avLst>
          </a:prstGeom>
          <a:solidFill>
            <a:srgbClr val="142C50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713232" y="171907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D8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13232" y="207568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Harmful behaviors</a:t>
            </a:r>
            <a:endParaRPr lang="en-US" sz="960" dirty="0"/>
          </a:p>
        </p:txBody>
      </p:sp>
      <p:sp>
        <p:nvSpPr>
          <p:cNvPr id="8" name="Shape 6"/>
          <p:cNvSpPr/>
          <p:nvPr/>
        </p:nvSpPr>
        <p:spPr>
          <a:xfrm>
            <a:off x="2395728" y="1627632"/>
            <a:ext cx="1572768" cy="749808"/>
          </a:xfrm>
          <a:prstGeom prst="roundRect">
            <a:avLst>
              <a:gd name="adj" fmla="val 4878"/>
            </a:avLst>
          </a:prstGeom>
          <a:solidFill>
            <a:srgbClr val="142C50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468880" y="171907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D8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68880" y="207568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Matched benign behaviors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4151376" y="1627632"/>
            <a:ext cx="1572768" cy="749808"/>
          </a:xfrm>
          <a:prstGeom prst="roundRect">
            <a:avLst>
              <a:gd name="adj" fmla="val 4878"/>
            </a:avLst>
          </a:prstGeom>
          <a:solidFill>
            <a:srgbClr val="142C50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4224528" y="171907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D8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224528" y="207568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Judge-comparison rows</a:t>
            </a:r>
            <a:endParaRPr lang="en-US" sz="960" dirty="0"/>
          </a:p>
        </p:txBody>
      </p:sp>
      <p:sp>
        <p:nvSpPr>
          <p:cNvPr id="14" name="Shape 12"/>
          <p:cNvSpPr/>
          <p:nvPr/>
        </p:nvSpPr>
        <p:spPr>
          <a:xfrm>
            <a:off x="5907024" y="1627632"/>
            <a:ext cx="1572768" cy="749808"/>
          </a:xfrm>
          <a:prstGeom prst="roundRect">
            <a:avLst>
              <a:gd name="adj" fmla="val 4878"/>
            </a:avLst>
          </a:prstGeom>
          <a:solidFill>
            <a:srgbClr val="142C50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980176" y="1719072"/>
            <a:ext cx="14264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D8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MIT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980176" y="2075688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license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640080" y="2651760"/>
            <a:ext cx="6839712" cy="3401568"/>
          </a:xfrm>
          <a:prstGeom prst="roundRect">
            <a:avLst>
              <a:gd name="adj" fmla="val 1075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932688" y="294436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135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PREPARATION LOGIC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914400" y="3328416"/>
            <a:ext cx="6254496" cy="2267712"/>
          </a:xfrm>
          <a:prstGeom prst="roundRect">
            <a:avLst>
              <a:gd name="adj" fmla="val 1613"/>
            </a:avLst>
          </a:prstGeom>
          <a:solidFill>
            <a:srgbClr val="0B1C34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1060704" y="3493008"/>
            <a:ext cx="0" cy="1938528"/>
          </a:xfrm>
          <a:prstGeom prst="line">
            <a:avLst/>
          </a:prstGeom>
          <a:noFill/>
          <a:ln w="31750">
            <a:solidFill>
              <a:srgbClr val="27D8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1225296" y="3663696"/>
            <a:ext cx="5779008" cy="1767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IN" sz="112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01</a:t>
            </a:r>
            <a:r>
              <a:rPr lang="en-IN" sz="1120">
                <a:solidFill>
                  <a:srgbClr val="6F8EA9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IN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vote_sum = human1 + human2 + human3</a:t>
            </a:r>
          </a:p>
          <a:p>
            <a:pPr marL="0" indent="0">
              <a:buNone/>
            </a:pPr>
            <a:r>
              <a:rPr lang="en-IN" sz="112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02</a:t>
            </a:r>
            <a:r>
              <a:rPr lang="en-IN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IN" sz="1120">
                <a:solidFill>
                  <a:srgbClr val="79E0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IN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vote_sum == </a:t>
            </a:r>
            <a:r>
              <a:rPr lang="en-IN" sz="112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IN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: label = </a:t>
            </a:r>
            <a:r>
              <a:rPr lang="en-IN" sz="1120">
                <a:solidFill>
                  <a:srgbClr val="FFCA80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"refusal"</a:t>
            </a:r>
          </a:p>
          <a:p>
            <a:pPr marL="0" indent="0">
              <a:buNone/>
            </a:pPr>
            <a:r>
              <a:rPr lang="en-IN" sz="112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03</a:t>
            </a:r>
            <a:r>
              <a:rPr lang="en-IN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IN" sz="1120">
                <a:solidFill>
                  <a:srgbClr val="79E0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elif</a:t>
            </a:r>
            <a:r>
              <a:rPr lang="en-IN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vote_sum == </a:t>
            </a:r>
            <a:r>
              <a:rPr lang="en-IN" sz="112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3</a:t>
            </a:r>
            <a:r>
              <a:rPr lang="en-IN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: label = </a:t>
            </a:r>
            <a:r>
              <a:rPr lang="en-IN" sz="1120">
                <a:solidFill>
                  <a:srgbClr val="FFCA80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"full_violation"</a:t>
            </a:r>
          </a:p>
          <a:p>
            <a:pPr marL="0" indent="0">
              <a:buNone/>
            </a:pPr>
            <a:r>
              <a:rPr lang="en-IN" sz="112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04</a:t>
            </a:r>
            <a:r>
              <a:rPr lang="en-IN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IN" sz="1120">
                <a:solidFill>
                  <a:srgbClr val="79E0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IN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: label = </a:t>
            </a:r>
            <a:r>
              <a:rPr lang="en-IN" sz="1120">
                <a:solidFill>
                  <a:srgbClr val="FFCA80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"partial_compliance"</a:t>
            </a:r>
          </a:p>
          <a:p>
            <a:pPr marL="0" indent="0">
              <a:buNone/>
            </a:pPr>
            <a:r>
              <a:rPr lang="en-IN" sz="112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05</a:t>
            </a:r>
            <a:r>
              <a:rPr lang="en-IN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</a:t>
            </a:r>
          </a:p>
          <a:p>
            <a:pPr marL="0" indent="0">
              <a:buNone/>
            </a:pPr>
            <a:r>
              <a:rPr lang="en-IN" sz="112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06</a:t>
            </a:r>
            <a:r>
              <a:rPr lang="en-IN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GroupShuffleSplit(test_size=</a:t>
            </a:r>
            <a:r>
              <a:rPr lang="en-IN" sz="112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0.30</a:t>
            </a:r>
            <a:r>
              <a:rPr lang="en-IN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, random_state=</a:t>
            </a:r>
            <a:r>
              <a:rPr lang="en-IN" sz="112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42</a:t>
            </a:r>
            <a:r>
              <a:rPr lang="en-IN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20" dirty="0">
              <a:solidFill>
                <a:srgbClr val="F7FAFC"/>
              </a:solidFill>
              <a:latin typeface="Cascadia Code" panose="020B0609020000020004" pitchFamily="49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744968" y="1627632"/>
            <a:ext cx="3803904" cy="4425696"/>
          </a:xfrm>
          <a:prstGeom prst="roundRect">
            <a:avLst>
              <a:gd name="adj" fmla="val 962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046720" y="192024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135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SPLIT</a:t>
            </a:r>
            <a:endParaRPr lang="en-US" sz="92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028432" y="2304288"/>
          <a:ext cx="3200400" cy="1938528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7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D8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7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D8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07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goals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D8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208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164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7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2"/>
          <p:cNvSpPr/>
          <p:nvPr/>
        </p:nvSpPr>
        <p:spPr>
          <a:xfrm>
            <a:off x="8065008" y="4663440"/>
            <a:ext cx="3108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7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 shared goals across train, validation and test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8065008" y="5376672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70" dirty="0">
                <a:solidFill>
                  <a:srgbClr val="82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partial class represents human disagreement, so it is an uncertainty proxy.</a:t>
            </a:r>
            <a:endParaRPr lang="en-US" sz="1170" dirty="0"/>
          </a:p>
        </p:txBody>
      </p:sp>
      <p:cxnSp>
        <p:nvCxnSpPr>
          <p:cNvPr id="27" name="CodexHeaderAccent">
            <a:extLst>
              <a:ext uri="{FF2B5EF4-FFF2-40B4-BE49-F238E27FC236}">
                <a16:creationId xmlns:a16="http://schemas.microsoft.com/office/drawing/2014/main" id="{288F9780-3ED7-0F7E-9FA0-DF793040093E}"/>
              </a:ext>
            </a:extLst>
          </p:cNvPr>
          <p:cNvCxnSpPr/>
          <p:nvPr/>
        </p:nvCxnSpPr>
        <p:spPr>
          <a:xfrm>
            <a:off x="558800" y="190500"/>
            <a:ext cx="457200" cy="0"/>
          </a:xfrm>
          <a:prstGeom prst="line">
            <a:avLst/>
          </a:prstGeom>
          <a:ln w="38100">
            <a:solidFill>
              <a:srgbClr val="33DD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A207F92-BFB9-6A91-BA68-2C0A237F9D5B}"/>
              </a:ext>
            </a:extLst>
          </p:cNvPr>
          <p:cNvCxnSpPr/>
          <p:nvPr/>
        </p:nvCxnSpPr>
        <p:spPr>
          <a:xfrm>
            <a:off x="558800" y="6515100"/>
            <a:ext cx="11074400" cy="0"/>
          </a:xfrm>
          <a:prstGeom prst="line">
            <a:avLst/>
          </a:prstGeom>
          <a:ln w="7620" cap="flat" cmpd="sng" algn="ctr">
            <a:solidFill>
              <a:srgbClr val="38537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CodexSectionLabel">
            <a:extLst>
              <a:ext uri="{FF2B5EF4-FFF2-40B4-BE49-F238E27FC236}">
                <a16:creationId xmlns:a16="http://schemas.microsoft.com/office/drawing/2014/main" id="{BDEE1C91-F65C-0A25-350C-ED123B054397}"/>
              </a:ext>
            </a:extLst>
          </p:cNvPr>
          <p:cNvSpPr txBox="1"/>
          <p:nvPr/>
        </p:nvSpPr>
        <p:spPr>
          <a:xfrm>
            <a:off x="558800" y="6604000"/>
            <a:ext cx="2413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800" b="1">
                <a:solidFill>
                  <a:srgbClr val="33DDCF"/>
                </a:solidFill>
                <a:latin typeface="Calibri" panose="020F0502020204030204" pitchFamily="34" charset="0"/>
              </a:rPr>
              <a:t>DATA AND MODEL</a:t>
            </a:r>
          </a:p>
        </p:txBody>
      </p:sp>
      <p:sp>
        <p:nvSpPr>
          <p:cNvPr id="30" name="CodexNavContents">
            <a:hlinkClick r:id="rId3" action="ppaction://hlinksldjump"/>
            <a:extLst>
              <a:ext uri="{FF2B5EF4-FFF2-40B4-BE49-F238E27FC236}">
                <a16:creationId xmlns:a16="http://schemas.microsoft.com/office/drawing/2014/main" id="{90ACD1CA-6CAB-F3A1-E71F-D4FBD6969426}"/>
              </a:ext>
            </a:extLst>
          </p:cNvPr>
          <p:cNvSpPr txBox="1"/>
          <p:nvPr/>
        </p:nvSpPr>
        <p:spPr>
          <a:xfrm>
            <a:off x="8763000" y="6604000"/>
            <a:ext cx="7366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CONTENTS</a:t>
            </a:r>
          </a:p>
        </p:txBody>
      </p:sp>
      <p:sp>
        <p:nvSpPr>
          <p:cNvPr id="31" name="CodexNavPrevious">
            <a:hlinkClick r:id="rId4" action="ppaction://hlinksldjump"/>
            <a:extLst>
              <a:ext uri="{FF2B5EF4-FFF2-40B4-BE49-F238E27FC236}">
                <a16:creationId xmlns:a16="http://schemas.microsoft.com/office/drawing/2014/main" id="{212A85D6-5F6C-FBF2-5FD1-0B2D028E26B1}"/>
              </a:ext>
            </a:extLst>
          </p:cNvPr>
          <p:cNvSpPr txBox="1"/>
          <p:nvPr/>
        </p:nvSpPr>
        <p:spPr>
          <a:xfrm>
            <a:off x="9588500" y="6604000"/>
            <a:ext cx="7112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PREVIOUS</a:t>
            </a:r>
          </a:p>
        </p:txBody>
      </p:sp>
      <p:sp>
        <p:nvSpPr>
          <p:cNvPr id="32" name="CodexNavNext">
            <a:hlinkClick r:id="rId5" action="ppaction://hlinksldjump"/>
            <a:extLst>
              <a:ext uri="{FF2B5EF4-FFF2-40B4-BE49-F238E27FC236}">
                <a16:creationId xmlns:a16="http://schemas.microsoft.com/office/drawing/2014/main" id="{2008C97A-87D0-E81C-9E15-CD17113350B2}"/>
              </a:ext>
            </a:extLst>
          </p:cNvPr>
          <p:cNvSpPr txBox="1"/>
          <p:nvPr/>
        </p:nvSpPr>
        <p:spPr>
          <a:xfrm>
            <a:off x="10375900" y="6604000"/>
            <a:ext cx="4826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NEXT</a:t>
            </a:r>
          </a:p>
        </p:txBody>
      </p:sp>
      <p:sp>
        <p:nvSpPr>
          <p:cNvPr id="33" name="CodexPageNumber">
            <a:extLst>
              <a:ext uri="{FF2B5EF4-FFF2-40B4-BE49-F238E27FC236}">
                <a16:creationId xmlns:a16="http://schemas.microsoft.com/office/drawing/2014/main" id="{B44C9C9E-7382-3538-5AB6-83065AEED338}"/>
              </a:ext>
            </a:extLst>
          </p:cNvPr>
          <p:cNvSpPr txBox="1"/>
          <p:nvPr/>
        </p:nvSpPr>
        <p:spPr>
          <a:xfrm>
            <a:off x="10972800" y="6604000"/>
            <a:ext cx="6604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IN" sz="820">
                <a:solidFill>
                  <a:srgbClr val="8295AE"/>
                </a:solidFill>
                <a:latin typeface="Cascadia Code" panose="020B0609020000020004" pitchFamily="49" charset="0"/>
              </a:rPr>
              <a:t>06 / 21</a:t>
            </a:r>
          </a:p>
        </p:txBody>
      </p:sp>
      <p:sp>
        <p:nvSpPr>
          <p:cNvPr id="34" name="CodexCodeTag0">
            <a:extLst>
              <a:ext uri="{FF2B5EF4-FFF2-40B4-BE49-F238E27FC236}">
                <a16:creationId xmlns:a16="http://schemas.microsoft.com/office/drawing/2014/main" id="{F6915C11-BEF2-5764-E6DA-5728E1DB8DD0}"/>
              </a:ext>
            </a:extLst>
          </p:cNvPr>
          <p:cNvSpPr txBox="1"/>
          <p:nvPr/>
        </p:nvSpPr>
        <p:spPr>
          <a:xfrm>
            <a:off x="1250696" y="3523996"/>
            <a:ext cx="914400" cy="1046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680" b="1">
                <a:solidFill>
                  <a:srgbClr val="33DDCF"/>
                </a:solidFill>
                <a:latin typeface="Calibri" panose="020F0502020204030204" pitchFamily="34" charset="0"/>
              </a:rPr>
              <a:t>CODE SNIPPET</a:t>
            </a:r>
          </a:p>
        </p:txBody>
      </p:sp>
      <p:sp>
        <p:nvSpPr>
          <p:cNvPr id="35" name="CodexCodeSource0">
            <a:hlinkClick r:id="rId6"/>
            <a:extLst>
              <a:ext uri="{FF2B5EF4-FFF2-40B4-BE49-F238E27FC236}">
                <a16:creationId xmlns:a16="http://schemas.microsoft.com/office/drawing/2014/main" id="{A529AA3C-2D2D-002C-0848-3E3DC7B27698}"/>
              </a:ext>
            </a:extLst>
          </p:cNvPr>
          <p:cNvSpPr txBox="1"/>
          <p:nvPr/>
        </p:nvSpPr>
        <p:spPr>
          <a:xfrm>
            <a:off x="6089904" y="3523996"/>
            <a:ext cx="863600" cy="1046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IN" sz="680" b="1">
                <a:solidFill>
                  <a:srgbClr val="33DDCF"/>
                </a:solidFill>
                <a:latin typeface="Calibri" panose="020F0502020204030204" pitchFamily="34" charset="0"/>
              </a:rPr>
              <a:t>OPEN SOURCE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90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7FAFC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Real-data label balance and human agreement</a:t>
            </a:r>
            <a:endParaRPr lang="en-US" sz="2700" dirty="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06070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2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come from the 300-row judge-comparison set, not a generated campaign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713232" y="1627632"/>
          <a:ext cx="5897880" cy="44074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931152" y="1627632"/>
            <a:ext cx="4617720" cy="4407408"/>
          </a:xfrm>
          <a:prstGeom prst="roundRect">
            <a:avLst>
              <a:gd name="adj" fmla="val 830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4"/>
          <p:cNvSpPr/>
          <p:nvPr/>
        </p:nvSpPr>
        <p:spPr>
          <a:xfrm>
            <a:off x="7242048" y="2011680"/>
            <a:ext cx="1609344" cy="749808"/>
          </a:xfrm>
          <a:prstGeom prst="roundRect">
            <a:avLst>
              <a:gd name="adj" fmla="val 4878"/>
            </a:avLst>
          </a:prstGeom>
          <a:solidFill>
            <a:srgbClr val="142C50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7315200" y="2103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D8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267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315200" y="24597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Unanimous rows</a:t>
            </a:r>
            <a:endParaRPr lang="en-US" sz="960" dirty="0"/>
          </a:p>
        </p:txBody>
      </p:sp>
      <p:sp>
        <p:nvSpPr>
          <p:cNvPr id="10" name="Shape 7"/>
          <p:cNvSpPr/>
          <p:nvPr/>
        </p:nvSpPr>
        <p:spPr>
          <a:xfrm>
            <a:off x="9052560" y="2011680"/>
            <a:ext cx="1609344" cy="749808"/>
          </a:xfrm>
          <a:prstGeom prst="roundRect">
            <a:avLst>
              <a:gd name="adj" fmla="val 4878"/>
            </a:avLst>
          </a:prstGeom>
          <a:solidFill>
            <a:srgbClr val="142C50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9125712" y="2103120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D8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89%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9125712" y="2459736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Unanimous rate</a:t>
            </a:r>
            <a:endParaRPr lang="en-US" sz="960" dirty="0"/>
          </a:p>
        </p:txBody>
      </p:sp>
      <p:sp>
        <p:nvSpPr>
          <p:cNvPr id="13" name="Shape 10"/>
          <p:cNvSpPr/>
          <p:nvPr/>
        </p:nvSpPr>
        <p:spPr>
          <a:xfrm>
            <a:off x="7242048" y="3054096"/>
            <a:ext cx="1609344" cy="749808"/>
          </a:xfrm>
          <a:prstGeom prst="roundRect">
            <a:avLst>
              <a:gd name="adj" fmla="val 4878"/>
            </a:avLst>
          </a:prstGeom>
          <a:solidFill>
            <a:srgbClr val="142C50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7315200" y="31455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D8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0.359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7315200" y="35021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positive-vote fraction</a:t>
            </a:r>
            <a:endParaRPr lang="en-US" sz="960" dirty="0"/>
          </a:p>
        </p:txBody>
      </p:sp>
      <p:sp>
        <p:nvSpPr>
          <p:cNvPr id="16" name="Shape 13"/>
          <p:cNvSpPr/>
          <p:nvPr/>
        </p:nvSpPr>
        <p:spPr>
          <a:xfrm>
            <a:off x="9052560" y="3054096"/>
            <a:ext cx="1609344" cy="749808"/>
          </a:xfrm>
          <a:prstGeom prst="roundRect">
            <a:avLst>
              <a:gd name="adj" fmla="val 4878"/>
            </a:avLst>
          </a:prstGeom>
          <a:solidFill>
            <a:srgbClr val="142C50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9125712" y="3145536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7D8C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0.206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9125712" y="350215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6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Vote-fraction variance</a:t>
            </a:r>
            <a:endParaRPr lang="en-US" sz="960" dirty="0"/>
          </a:p>
        </p:txBody>
      </p:sp>
      <p:sp>
        <p:nvSpPr>
          <p:cNvPr id="19" name="Text 16"/>
          <p:cNvSpPr/>
          <p:nvPr/>
        </p:nvSpPr>
        <p:spPr>
          <a:xfrm>
            <a:off x="7242048" y="43159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242048" y="4645152"/>
            <a:ext cx="343814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7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disagreement class is small. Accuracy alone can hide failures on that class, so the analysis also reports macro F1.</a:t>
            </a:r>
            <a:endParaRPr lang="en-US" sz="1500" dirty="0"/>
          </a:p>
        </p:txBody>
      </p:sp>
      <p:cxnSp>
        <p:nvCxnSpPr>
          <p:cNvPr id="21" name="CodexHeaderAccent">
            <a:extLst>
              <a:ext uri="{FF2B5EF4-FFF2-40B4-BE49-F238E27FC236}">
                <a16:creationId xmlns:a16="http://schemas.microsoft.com/office/drawing/2014/main" id="{4FCB7CD3-F4A6-DEEE-D965-DE7C151A6522}"/>
              </a:ext>
            </a:extLst>
          </p:cNvPr>
          <p:cNvCxnSpPr/>
          <p:nvPr/>
        </p:nvCxnSpPr>
        <p:spPr>
          <a:xfrm>
            <a:off x="558800" y="190500"/>
            <a:ext cx="457200" cy="0"/>
          </a:xfrm>
          <a:prstGeom prst="line">
            <a:avLst/>
          </a:prstGeom>
          <a:ln w="38100">
            <a:solidFill>
              <a:srgbClr val="33DD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2B312D6-F0C8-B948-3920-DABCD9F396B4}"/>
              </a:ext>
            </a:extLst>
          </p:cNvPr>
          <p:cNvCxnSpPr/>
          <p:nvPr/>
        </p:nvCxnSpPr>
        <p:spPr>
          <a:xfrm>
            <a:off x="558800" y="6515100"/>
            <a:ext cx="11074400" cy="0"/>
          </a:xfrm>
          <a:prstGeom prst="line">
            <a:avLst/>
          </a:prstGeom>
          <a:ln w="7620" cap="flat" cmpd="sng" algn="ctr">
            <a:solidFill>
              <a:srgbClr val="38537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odexSectionLabel">
            <a:extLst>
              <a:ext uri="{FF2B5EF4-FFF2-40B4-BE49-F238E27FC236}">
                <a16:creationId xmlns:a16="http://schemas.microsoft.com/office/drawing/2014/main" id="{27AAFA07-6A52-E05B-E2E1-38E45BA23911}"/>
              </a:ext>
            </a:extLst>
          </p:cNvPr>
          <p:cNvSpPr txBox="1"/>
          <p:nvPr/>
        </p:nvSpPr>
        <p:spPr>
          <a:xfrm>
            <a:off x="558800" y="6604000"/>
            <a:ext cx="2413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800" b="1">
                <a:solidFill>
                  <a:srgbClr val="33DDCF"/>
                </a:solidFill>
                <a:latin typeface="Calibri" panose="020F0502020204030204" pitchFamily="34" charset="0"/>
              </a:rPr>
              <a:t>DATA AND MODEL</a:t>
            </a:r>
          </a:p>
        </p:txBody>
      </p:sp>
      <p:sp>
        <p:nvSpPr>
          <p:cNvPr id="24" name="CodexNavContents">
            <a:hlinkClick r:id="rId4" action="ppaction://hlinksldjump"/>
            <a:extLst>
              <a:ext uri="{FF2B5EF4-FFF2-40B4-BE49-F238E27FC236}">
                <a16:creationId xmlns:a16="http://schemas.microsoft.com/office/drawing/2014/main" id="{43B8BD0A-FCC8-E0E1-8BF3-DDE979AA82B9}"/>
              </a:ext>
            </a:extLst>
          </p:cNvPr>
          <p:cNvSpPr txBox="1"/>
          <p:nvPr/>
        </p:nvSpPr>
        <p:spPr>
          <a:xfrm>
            <a:off x="8763000" y="6604000"/>
            <a:ext cx="7366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CONTENTS</a:t>
            </a:r>
          </a:p>
        </p:txBody>
      </p:sp>
      <p:sp>
        <p:nvSpPr>
          <p:cNvPr id="25" name="CodexNavPrevious">
            <a:hlinkClick r:id="rId5" action="ppaction://hlinksldjump"/>
            <a:extLst>
              <a:ext uri="{FF2B5EF4-FFF2-40B4-BE49-F238E27FC236}">
                <a16:creationId xmlns:a16="http://schemas.microsoft.com/office/drawing/2014/main" id="{52D8D8F1-A61E-F2CC-0D9F-A867E3BBAC75}"/>
              </a:ext>
            </a:extLst>
          </p:cNvPr>
          <p:cNvSpPr txBox="1"/>
          <p:nvPr/>
        </p:nvSpPr>
        <p:spPr>
          <a:xfrm>
            <a:off x="9588500" y="6604000"/>
            <a:ext cx="7112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PREVIOUS</a:t>
            </a:r>
          </a:p>
        </p:txBody>
      </p:sp>
      <p:sp>
        <p:nvSpPr>
          <p:cNvPr id="26" name="CodexNavNext">
            <a:hlinkClick r:id="rId6" action="ppaction://hlinksldjump"/>
            <a:extLst>
              <a:ext uri="{FF2B5EF4-FFF2-40B4-BE49-F238E27FC236}">
                <a16:creationId xmlns:a16="http://schemas.microsoft.com/office/drawing/2014/main" id="{05625641-B30B-05E3-F42B-48A861E476CC}"/>
              </a:ext>
            </a:extLst>
          </p:cNvPr>
          <p:cNvSpPr txBox="1"/>
          <p:nvPr/>
        </p:nvSpPr>
        <p:spPr>
          <a:xfrm>
            <a:off x="10375900" y="6604000"/>
            <a:ext cx="4826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NEXT</a:t>
            </a:r>
          </a:p>
        </p:txBody>
      </p:sp>
      <p:sp>
        <p:nvSpPr>
          <p:cNvPr id="27" name="CodexPageNumber">
            <a:extLst>
              <a:ext uri="{FF2B5EF4-FFF2-40B4-BE49-F238E27FC236}">
                <a16:creationId xmlns:a16="http://schemas.microsoft.com/office/drawing/2014/main" id="{C696A846-8CE9-5A53-0B1F-1B10D5F90528}"/>
              </a:ext>
            </a:extLst>
          </p:cNvPr>
          <p:cNvSpPr txBox="1"/>
          <p:nvPr/>
        </p:nvSpPr>
        <p:spPr>
          <a:xfrm>
            <a:off x="10972800" y="6604000"/>
            <a:ext cx="6604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IN" sz="820">
                <a:solidFill>
                  <a:srgbClr val="8295AE"/>
                </a:solidFill>
                <a:latin typeface="Cascadia Code" panose="020B0609020000020004" pitchFamily="49" charset="0"/>
              </a:rPr>
              <a:t>07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90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7FAFC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Warm-start default and optional from-scratch path</a:t>
            </a:r>
            <a:endParaRPr lang="en-US" sz="2700" dirty="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06070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2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 tokenizer and transformer remain educationally important even though the default run uses Pythia-160m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664208"/>
            <a:ext cx="5321808" cy="4370832"/>
          </a:xfrm>
          <a:prstGeom prst="roundRect">
            <a:avLst>
              <a:gd name="adj" fmla="val 837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32688" y="19568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135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PATH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932688" y="235915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7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Warm-start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2999232"/>
            <a:ext cx="4553712" cy="19385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Loads EleutherAI/pythia-160m</a:t>
            </a:r>
            <a:endParaRPr lang="en-US" sz="1500" dirty="0"/>
          </a:p>
          <a:p>
            <a:r>
              <a:rPr lang="en-US" sz="15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a Hugging Face checkpoint and tokenizer</a:t>
            </a:r>
            <a:endParaRPr lang="en-US" sz="1500" dirty="0"/>
          </a:p>
          <a:p>
            <a:r>
              <a:rPr lang="en-US" sz="15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Avoids the cost of pretraining from scratch</a:t>
            </a:r>
            <a:endParaRPr lang="en-US" sz="1500" dirty="0"/>
          </a:p>
          <a:p>
            <a:r>
              <a:rPr lang="en-US" sz="15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the shared value-head wrapper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14400" y="5010912"/>
            <a:ext cx="4736592" cy="713232"/>
          </a:xfrm>
          <a:prstGeom prst="roundRect">
            <a:avLst>
              <a:gd name="adj" fmla="val 5128"/>
            </a:avLst>
          </a:prstGeom>
          <a:solidFill>
            <a:srgbClr val="0B1C34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060704" y="5175504"/>
            <a:ext cx="0" cy="384048"/>
          </a:xfrm>
          <a:prstGeom prst="line">
            <a:avLst/>
          </a:prstGeom>
          <a:noFill/>
          <a:ln w="31750">
            <a:solidFill>
              <a:srgbClr val="27D8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225296" y="5193792"/>
            <a:ext cx="4261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IN" sz="104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01</a:t>
            </a:r>
            <a:r>
              <a:rPr lang="en-IN" sz="1040">
                <a:solidFill>
                  <a:srgbClr val="6F8EA9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IN" sz="104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warm_start_from: </a:t>
            </a:r>
            <a:r>
              <a:rPr lang="en-IN" sz="1040">
                <a:solidFill>
                  <a:srgbClr val="FFCA80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"EleutherAI/pythia-160m"</a:t>
            </a:r>
          </a:p>
          <a:p>
            <a:pPr marL="0" indent="0">
              <a:buNone/>
            </a:pPr>
            <a:r>
              <a:rPr lang="en-IN" sz="104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02</a:t>
            </a:r>
            <a:r>
              <a:rPr lang="en-IN" sz="104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out_dir: </a:t>
            </a:r>
            <a:r>
              <a:rPr lang="en-IN" sz="1040">
                <a:solidFill>
                  <a:srgbClr val="FFCA80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"checkpoints/base_model"</a:t>
            </a:r>
            <a:endParaRPr lang="en-US" sz="1040" dirty="0">
              <a:solidFill>
                <a:srgbClr val="FFCA80"/>
              </a:solidFill>
              <a:latin typeface="Cascadia Code" panose="020B0609020000020004" pitchFamily="49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36208" y="1664208"/>
            <a:ext cx="5321808" cy="4370832"/>
          </a:xfrm>
          <a:prstGeom prst="roundRect">
            <a:avLst>
              <a:gd name="adj" fmla="val 837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528816" y="1956816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135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PATH</a:t>
            </a:r>
            <a:endParaRPr lang="en-US" sz="920" dirty="0"/>
          </a:p>
        </p:txBody>
      </p:sp>
      <p:sp>
        <p:nvSpPr>
          <p:cNvPr id="14" name="Text 12"/>
          <p:cNvSpPr/>
          <p:nvPr/>
        </p:nvSpPr>
        <p:spPr>
          <a:xfrm>
            <a:off x="6528816" y="235915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7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 BPE + nanoGPT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510528" y="2999232"/>
            <a:ext cx="4553712" cy="19385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Trains the BPE tokenizer under src/tokenizer</a:t>
            </a:r>
            <a:endParaRPr lang="en-US" sz="1500" dirty="0"/>
          </a:p>
          <a:p>
            <a:r>
              <a:rPr lang="en-US" sz="15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 12-layer, 12-head decoder-only transformer</a:t>
            </a:r>
            <a:endParaRPr lang="en-US" sz="1500" dirty="0"/>
          </a:p>
          <a:p>
            <a:r>
              <a:rPr lang="en-US" sz="15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next-token cross-entropy</a:t>
            </a:r>
            <a:endParaRPr lang="en-US" sz="1500" dirty="0"/>
          </a:p>
          <a:p>
            <a:r>
              <a:rPr lang="en-US" sz="15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gradient accumulation, clipping and warmup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10528" y="5010912"/>
            <a:ext cx="4736592" cy="713232"/>
          </a:xfrm>
          <a:prstGeom prst="roundRect">
            <a:avLst>
              <a:gd name="adj" fmla="val 5128"/>
            </a:avLst>
          </a:prstGeom>
          <a:solidFill>
            <a:srgbClr val="0B1C34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656832" y="5175504"/>
            <a:ext cx="0" cy="384048"/>
          </a:xfrm>
          <a:prstGeom prst="line">
            <a:avLst/>
          </a:prstGeom>
          <a:noFill/>
          <a:ln w="31750">
            <a:solidFill>
              <a:srgbClr val="27D8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821424" y="5193792"/>
            <a:ext cx="4261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IN" sz="104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01</a:t>
            </a:r>
            <a:r>
              <a:rPr lang="en-IN" sz="1040">
                <a:solidFill>
                  <a:srgbClr val="6F8EA9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IN" sz="1040">
                <a:solidFill>
                  <a:srgbClr val="79E0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IN" sz="104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warm_start_from:</a:t>
            </a:r>
          </a:p>
          <a:p>
            <a:pPr marL="0" indent="0">
              <a:buNone/>
            </a:pPr>
            <a:r>
              <a:rPr lang="en-IN" sz="104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02</a:t>
            </a:r>
            <a:r>
              <a:rPr lang="en-IN" sz="104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    warm_start(...)</a:t>
            </a:r>
          </a:p>
          <a:p>
            <a:pPr marL="0" indent="0">
              <a:buNone/>
            </a:pPr>
            <a:r>
              <a:rPr lang="en-IN" sz="104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03</a:t>
            </a:r>
            <a:r>
              <a:rPr lang="en-IN" sz="104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IN" sz="1040">
                <a:solidFill>
                  <a:srgbClr val="79E0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else</a:t>
            </a:r>
            <a:r>
              <a:rPr lang="en-IN" sz="104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:</a:t>
            </a:r>
          </a:p>
          <a:p>
            <a:pPr marL="0" indent="0">
              <a:buNone/>
            </a:pPr>
            <a:r>
              <a:rPr lang="en-IN" sz="104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04</a:t>
            </a:r>
            <a:r>
              <a:rPr lang="en-IN" sz="104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    from_scratch(cfg, resume)</a:t>
            </a:r>
            <a:endParaRPr lang="en-US" sz="1040" dirty="0">
              <a:solidFill>
                <a:srgbClr val="F7FAFC"/>
              </a:solidFill>
              <a:latin typeface="Cascadia Code" panose="020B0609020000020004" pitchFamily="49" charset="0"/>
            </a:endParaRPr>
          </a:p>
        </p:txBody>
      </p:sp>
      <p:cxnSp>
        <p:nvCxnSpPr>
          <p:cNvPr id="19" name="CodexHeaderAccent">
            <a:extLst>
              <a:ext uri="{FF2B5EF4-FFF2-40B4-BE49-F238E27FC236}">
                <a16:creationId xmlns:a16="http://schemas.microsoft.com/office/drawing/2014/main" id="{5570F280-3750-12DF-5861-79D39BA84494}"/>
              </a:ext>
            </a:extLst>
          </p:cNvPr>
          <p:cNvCxnSpPr/>
          <p:nvPr/>
        </p:nvCxnSpPr>
        <p:spPr>
          <a:xfrm>
            <a:off x="558800" y="190500"/>
            <a:ext cx="457200" cy="0"/>
          </a:xfrm>
          <a:prstGeom prst="line">
            <a:avLst/>
          </a:prstGeom>
          <a:ln w="38100">
            <a:solidFill>
              <a:srgbClr val="33DD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77766DA-D03E-5143-FA23-3A7563972AFF}"/>
              </a:ext>
            </a:extLst>
          </p:cNvPr>
          <p:cNvCxnSpPr/>
          <p:nvPr/>
        </p:nvCxnSpPr>
        <p:spPr>
          <a:xfrm>
            <a:off x="558800" y="6515100"/>
            <a:ext cx="11074400" cy="0"/>
          </a:xfrm>
          <a:prstGeom prst="line">
            <a:avLst/>
          </a:prstGeom>
          <a:ln w="7620" cap="flat" cmpd="sng" algn="ctr">
            <a:solidFill>
              <a:srgbClr val="38537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odexSectionLabel">
            <a:extLst>
              <a:ext uri="{FF2B5EF4-FFF2-40B4-BE49-F238E27FC236}">
                <a16:creationId xmlns:a16="http://schemas.microsoft.com/office/drawing/2014/main" id="{393D9ACF-0A44-A2AA-F108-86C5E1E76302}"/>
              </a:ext>
            </a:extLst>
          </p:cNvPr>
          <p:cNvSpPr txBox="1"/>
          <p:nvPr/>
        </p:nvSpPr>
        <p:spPr>
          <a:xfrm>
            <a:off x="558800" y="6604000"/>
            <a:ext cx="2413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800" b="1">
                <a:solidFill>
                  <a:srgbClr val="33DDCF"/>
                </a:solidFill>
                <a:latin typeface="Calibri" panose="020F0502020204030204" pitchFamily="34" charset="0"/>
              </a:rPr>
              <a:t>DATA AND MODEL</a:t>
            </a:r>
          </a:p>
        </p:txBody>
      </p:sp>
      <p:sp>
        <p:nvSpPr>
          <p:cNvPr id="22" name="CodexNavContents">
            <a:hlinkClick r:id="rId3" action="ppaction://hlinksldjump"/>
            <a:extLst>
              <a:ext uri="{FF2B5EF4-FFF2-40B4-BE49-F238E27FC236}">
                <a16:creationId xmlns:a16="http://schemas.microsoft.com/office/drawing/2014/main" id="{DE0D5782-F24D-C7F1-1D58-43109E18BACB}"/>
              </a:ext>
            </a:extLst>
          </p:cNvPr>
          <p:cNvSpPr txBox="1"/>
          <p:nvPr/>
        </p:nvSpPr>
        <p:spPr>
          <a:xfrm>
            <a:off x="8763000" y="6604000"/>
            <a:ext cx="7366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CONTENTS</a:t>
            </a:r>
          </a:p>
        </p:txBody>
      </p:sp>
      <p:sp>
        <p:nvSpPr>
          <p:cNvPr id="23" name="CodexNavPrevious">
            <a:hlinkClick r:id="rId4" action="ppaction://hlinksldjump"/>
            <a:extLst>
              <a:ext uri="{FF2B5EF4-FFF2-40B4-BE49-F238E27FC236}">
                <a16:creationId xmlns:a16="http://schemas.microsoft.com/office/drawing/2014/main" id="{3EA1C360-D3FF-53B8-4B1F-8DBA0FB84496}"/>
              </a:ext>
            </a:extLst>
          </p:cNvPr>
          <p:cNvSpPr txBox="1"/>
          <p:nvPr/>
        </p:nvSpPr>
        <p:spPr>
          <a:xfrm>
            <a:off x="9588500" y="6604000"/>
            <a:ext cx="7112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PREVIOUS</a:t>
            </a:r>
          </a:p>
        </p:txBody>
      </p:sp>
      <p:sp>
        <p:nvSpPr>
          <p:cNvPr id="24" name="CodexNavNext">
            <a:hlinkClick r:id="rId5" action="ppaction://hlinksldjump"/>
            <a:extLst>
              <a:ext uri="{FF2B5EF4-FFF2-40B4-BE49-F238E27FC236}">
                <a16:creationId xmlns:a16="http://schemas.microsoft.com/office/drawing/2014/main" id="{DC985FBF-1267-6F4C-16D8-6E52751B2976}"/>
              </a:ext>
            </a:extLst>
          </p:cNvPr>
          <p:cNvSpPr txBox="1"/>
          <p:nvPr/>
        </p:nvSpPr>
        <p:spPr>
          <a:xfrm>
            <a:off x="10375900" y="6604000"/>
            <a:ext cx="4826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NEXT</a:t>
            </a:r>
          </a:p>
        </p:txBody>
      </p:sp>
      <p:sp>
        <p:nvSpPr>
          <p:cNvPr id="25" name="CodexPageNumber">
            <a:extLst>
              <a:ext uri="{FF2B5EF4-FFF2-40B4-BE49-F238E27FC236}">
                <a16:creationId xmlns:a16="http://schemas.microsoft.com/office/drawing/2014/main" id="{8BDF7FA2-60FA-9CE9-DBCF-4676EC20AAF7}"/>
              </a:ext>
            </a:extLst>
          </p:cNvPr>
          <p:cNvSpPr txBox="1"/>
          <p:nvPr/>
        </p:nvSpPr>
        <p:spPr>
          <a:xfrm>
            <a:off x="10972800" y="6604000"/>
            <a:ext cx="6604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IN" sz="820">
                <a:solidFill>
                  <a:srgbClr val="8295AE"/>
                </a:solidFill>
                <a:latin typeface="Cascadia Code" panose="020B0609020000020004" pitchFamily="49" charset="0"/>
              </a:rPr>
              <a:t>08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90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7FAFC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Causal attention, pre-norm residuals and tied weights</a:t>
            </a:r>
            <a:endParaRPr lang="en-US" sz="2700" dirty="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06070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2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optional custom model implements the mechanisms directly in PyTorch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3822192" cy="4443984"/>
          </a:xfrm>
          <a:prstGeom prst="roundRect">
            <a:avLst>
              <a:gd name="adj" fmla="val 957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32688" y="1938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135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 EQUATION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914400" y="2432304"/>
            <a:ext cx="32552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7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softmax(QKᵀ / √dₕ) V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3154680" cy="1572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2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√dₕ factor limits logit growth</a:t>
            </a:r>
            <a:endParaRPr lang="en-US" sz="1420" dirty="0"/>
          </a:p>
          <a:p>
            <a:r>
              <a:rPr lang="en-US" sz="142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triangular mask blocks future tokens</a:t>
            </a:r>
            <a:endParaRPr lang="en-US" sz="1420" dirty="0"/>
          </a:p>
          <a:p>
            <a:r>
              <a:rPr lang="en-US" sz="142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applies to attention and residual outputs</a:t>
            </a:r>
            <a:endParaRPr lang="en-US" sz="1420" dirty="0"/>
          </a:p>
        </p:txBody>
      </p:sp>
      <p:sp>
        <p:nvSpPr>
          <p:cNvPr id="9" name="Text 7"/>
          <p:cNvSpPr/>
          <p:nvPr/>
        </p:nvSpPr>
        <p:spPr>
          <a:xfrm>
            <a:off x="932688" y="523036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Pre-norm block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32688" y="5532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+ Attention(LN(x)); then x + MLP(LN(x))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718304" y="1664208"/>
            <a:ext cx="3182112" cy="1993392"/>
          </a:xfrm>
          <a:prstGeom prst="roundRect">
            <a:avLst>
              <a:gd name="adj" fmla="val 1835"/>
            </a:avLst>
          </a:prstGeom>
          <a:solidFill>
            <a:srgbClr val="0B1C34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864608" y="1828800"/>
            <a:ext cx="0" cy="1664208"/>
          </a:xfrm>
          <a:prstGeom prst="line">
            <a:avLst/>
          </a:prstGeom>
          <a:noFill/>
          <a:ln w="31750">
            <a:solidFill>
              <a:srgbClr val="27D8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0" y="1999488"/>
            <a:ext cx="2706624" cy="149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01</a:t>
            </a:r>
            <a:r>
              <a:rPr lang="en-US" sz="950">
                <a:solidFill>
                  <a:srgbClr val="6F8EA9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5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att = q @ k.transpose(-</a:t>
            </a:r>
            <a:r>
              <a:rPr lang="en-US" sz="95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95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, -</a:t>
            </a:r>
            <a:r>
              <a:rPr lang="en-US" sz="95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95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marL="0" indent="0">
              <a:buNone/>
            </a:pPr>
            <a:r>
              <a:rPr lang="en-US" sz="95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02</a:t>
            </a:r>
            <a:r>
              <a:rPr lang="en-US" sz="95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att *= </a:t>
            </a:r>
            <a:r>
              <a:rPr lang="en-US" sz="95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1.0</a:t>
            </a:r>
            <a:r>
              <a:rPr lang="en-US" sz="95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/ math.sqrt(head_dim)</a:t>
            </a:r>
          </a:p>
          <a:p>
            <a:pPr marL="0" indent="0">
              <a:buNone/>
            </a:pPr>
            <a:r>
              <a:rPr lang="en-US" sz="95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03</a:t>
            </a:r>
            <a:r>
              <a:rPr lang="en-US" sz="95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att = att.masked_fill(mask == </a:t>
            </a:r>
            <a:r>
              <a:rPr lang="en-US" sz="95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95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, -inf)</a:t>
            </a:r>
          </a:p>
          <a:p>
            <a:pPr marL="0" indent="0">
              <a:buNone/>
            </a:pPr>
            <a:r>
              <a:rPr lang="en-US" sz="95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04</a:t>
            </a:r>
            <a:r>
              <a:rPr lang="en-US" sz="95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att = softmax(att, dim=-</a:t>
            </a:r>
            <a:r>
              <a:rPr lang="en-US" sz="95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95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marL="0" indent="0">
              <a:buNone/>
            </a:pPr>
            <a:r>
              <a:rPr lang="en-US" sz="95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05</a:t>
            </a:r>
            <a:r>
              <a:rPr lang="en-US" sz="95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y = att @ v</a:t>
            </a:r>
            <a:endParaRPr lang="en-US" sz="950" dirty="0">
              <a:solidFill>
                <a:srgbClr val="F7FAFC"/>
              </a:solidFill>
              <a:latin typeface="Cascadia Code" panose="020B0609020000020004" pitchFamily="49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47304" y="1664208"/>
            <a:ext cx="3401568" cy="1993392"/>
          </a:xfrm>
          <a:prstGeom prst="roundRect">
            <a:avLst>
              <a:gd name="adj" fmla="val 1835"/>
            </a:avLst>
          </a:prstGeom>
          <a:solidFill>
            <a:srgbClr val="0B1C34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8293608" y="1828800"/>
            <a:ext cx="0" cy="1664208"/>
          </a:xfrm>
          <a:prstGeom prst="line">
            <a:avLst/>
          </a:prstGeom>
          <a:noFill/>
          <a:ln w="3175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458200" y="1999488"/>
            <a:ext cx="2926080" cy="149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5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01</a:t>
            </a:r>
            <a:r>
              <a:rPr lang="en-US" sz="950">
                <a:solidFill>
                  <a:srgbClr val="6F8EA9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95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x = x + self.attn(self.ln1(x))</a:t>
            </a:r>
          </a:p>
          <a:p>
            <a:pPr marL="0" indent="0">
              <a:buNone/>
            </a:pPr>
            <a:r>
              <a:rPr lang="en-US" sz="95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02</a:t>
            </a:r>
            <a:r>
              <a:rPr lang="en-US" sz="95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x = x + self.mlp(self.ln2(x))</a:t>
            </a:r>
          </a:p>
          <a:p>
            <a:pPr marL="0" indent="0">
              <a:buNone/>
            </a:pPr>
            <a:r>
              <a:rPr lang="en-US" sz="95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03</a:t>
            </a:r>
            <a:r>
              <a:rPr lang="en-US" sz="95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</a:t>
            </a:r>
          </a:p>
          <a:p>
            <a:pPr marL="0" indent="0">
              <a:buNone/>
            </a:pPr>
            <a:r>
              <a:rPr lang="en-US" sz="95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04</a:t>
            </a:r>
            <a:r>
              <a:rPr lang="en-US" sz="95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self.tok_emb.weight = self.head.weight</a:t>
            </a:r>
            <a:endParaRPr lang="en-US" sz="950" dirty="0">
              <a:solidFill>
                <a:srgbClr val="F7FAFC"/>
              </a:solidFill>
              <a:latin typeface="Cascadia Code" panose="020B0609020000020004" pitchFamily="49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718304" y="3931920"/>
            <a:ext cx="6830568" cy="2157984"/>
          </a:xfrm>
          <a:prstGeom prst="roundRect">
            <a:avLst>
              <a:gd name="adj" fmla="val 1695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010912" y="422452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135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920" dirty="0"/>
          </a:p>
        </p:txBody>
      </p:sp>
      <p:sp>
        <p:nvSpPr>
          <p:cNvPr id="19" name="Text 17"/>
          <p:cNvSpPr/>
          <p:nvPr/>
        </p:nvSpPr>
        <p:spPr>
          <a:xfrm>
            <a:off x="5010912" y="4626864"/>
            <a:ext cx="619963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7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 each step, the model divides the latest logits by temperature, removes tokens outside top-k, converts logits to probabilities, and samples one token.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10912" y="5431536"/>
            <a:ext cx="6181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changes sharpness. Top-k constrains the candidate set without making generation deterministic.</a:t>
            </a:r>
            <a:endParaRPr lang="en-US" sz="1250" dirty="0"/>
          </a:p>
        </p:txBody>
      </p:sp>
      <p:cxnSp>
        <p:nvCxnSpPr>
          <p:cNvPr id="21" name="CodexHeaderAccent">
            <a:extLst>
              <a:ext uri="{FF2B5EF4-FFF2-40B4-BE49-F238E27FC236}">
                <a16:creationId xmlns:a16="http://schemas.microsoft.com/office/drawing/2014/main" id="{ED765CB4-BA7F-63C3-1F8D-080F81912F23}"/>
              </a:ext>
            </a:extLst>
          </p:cNvPr>
          <p:cNvCxnSpPr/>
          <p:nvPr/>
        </p:nvCxnSpPr>
        <p:spPr>
          <a:xfrm>
            <a:off x="558800" y="190500"/>
            <a:ext cx="457200" cy="0"/>
          </a:xfrm>
          <a:prstGeom prst="line">
            <a:avLst/>
          </a:prstGeom>
          <a:ln w="38100">
            <a:solidFill>
              <a:srgbClr val="33DD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7E5482A-CDB7-AC05-252C-337A46E32B10}"/>
              </a:ext>
            </a:extLst>
          </p:cNvPr>
          <p:cNvCxnSpPr/>
          <p:nvPr/>
        </p:nvCxnSpPr>
        <p:spPr>
          <a:xfrm>
            <a:off x="558800" y="6515100"/>
            <a:ext cx="11074400" cy="0"/>
          </a:xfrm>
          <a:prstGeom prst="line">
            <a:avLst/>
          </a:prstGeom>
          <a:ln w="7620" cap="flat" cmpd="sng" algn="ctr">
            <a:solidFill>
              <a:srgbClr val="38537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CodexSectionLabel">
            <a:extLst>
              <a:ext uri="{FF2B5EF4-FFF2-40B4-BE49-F238E27FC236}">
                <a16:creationId xmlns:a16="http://schemas.microsoft.com/office/drawing/2014/main" id="{A05AD6C6-C4B4-6DEF-2091-175729548AEF}"/>
              </a:ext>
            </a:extLst>
          </p:cNvPr>
          <p:cNvSpPr txBox="1"/>
          <p:nvPr/>
        </p:nvSpPr>
        <p:spPr>
          <a:xfrm>
            <a:off x="558800" y="6604000"/>
            <a:ext cx="2413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800" b="1">
                <a:solidFill>
                  <a:srgbClr val="33DDCF"/>
                </a:solidFill>
                <a:latin typeface="Calibri" panose="020F0502020204030204" pitchFamily="34" charset="0"/>
              </a:rPr>
              <a:t>DATA AND MODEL</a:t>
            </a:r>
          </a:p>
        </p:txBody>
      </p:sp>
      <p:sp>
        <p:nvSpPr>
          <p:cNvPr id="24" name="CodexNavContents">
            <a:hlinkClick r:id="rId3" action="ppaction://hlinksldjump"/>
            <a:extLst>
              <a:ext uri="{FF2B5EF4-FFF2-40B4-BE49-F238E27FC236}">
                <a16:creationId xmlns:a16="http://schemas.microsoft.com/office/drawing/2014/main" id="{7F7A2E9B-4D73-D795-CC63-8F3843807742}"/>
              </a:ext>
            </a:extLst>
          </p:cNvPr>
          <p:cNvSpPr txBox="1"/>
          <p:nvPr/>
        </p:nvSpPr>
        <p:spPr>
          <a:xfrm>
            <a:off x="8763000" y="6604000"/>
            <a:ext cx="7366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CONTENTS</a:t>
            </a:r>
          </a:p>
        </p:txBody>
      </p:sp>
      <p:sp>
        <p:nvSpPr>
          <p:cNvPr id="25" name="CodexNavPrevious">
            <a:hlinkClick r:id="rId4" action="ppaction://hlinksldjump"/>
            <a:extLst>
              <a:ext uri="{FF2B5EF4-FFF2-40B4-BE49-F238E27FC236}">
                <a16:creationId xmlns:a16="http://schemas.microsoft.com/office/drawing/2014/main" id="{CAE892BE-FFDE-34A3-5DFB-6880E5B058A4}"/>
              </a:ext>
            </a:extLst>
          </p:cNvPr>
          <p:cNvSpPr txBox="1"/>
          <p:nvPr/>
        </p:nvSpPr>
        <p:spPr>
          <a:xfrm>
            <a:off x="9588500" y="6604000"/>
            <a:ext cx="7112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PREVIOUS</a:t>
            </a:r>
          </a:p>
        </p:txBody>
      </p:sp>
      <p:sp>
        <p:nvSpPr>
          <p:cNvPr id="26" name="CodexNavNext">
            <a:hlinkClick r:id="rId5" action="ppaction://hlinksldjump"/>
            <a:extLst>
              <a:ext uri="{FF2B5EF4-FFF2-40B4-BE49-F238E27FC236}">
                <a16:creationId xmlns:a16="http://schemas.microsoft.com/office/drawing/2014/main" id="{5DC21691-8FF9-FA23-E31D-ACAC9E9F5B24}"/>
              </a:ext>
            </a:extLst>
          </p:cNvPr>
          <p:cNvSpPr txBox="1"/>
          <p:nvPr/>
        </p:nvSpPr>
        <p:spPr>
          <a:xfrm>
            <a:off x="10375900" y="6604000"/>
            <a:ext cx="4826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NEXT</a:t>
            </a:r>
          </a:p>
        </p:txBody>
      </p:sp>
      <p:sp>
        <p:nvSpPr>
          <p:cNvPr id="27" name="CodexPageNumber">
            <a:extLst>
              <a:ext uri="{FF2B5EF4-FFF2-40B4-BE49-F238E27FC236}">
                <a16:creationId xmlns:a16="http://schemas.microsoft.com/office/drawing/2014/main" id="{FC134A90-001E-0115-1B53-3E12E0FAD1C8}"/>
              </a:ext>
            </a:extLst>
          </p:cNvPr>
          <p:cNvSpPr txBox="1"/>
          <p:nvPr/>
        </p:nvSpPr>
        <p:spPr>
          <a:xfrm>
            <a:off x="10972800" y="6604000"/>
            <a:ext cx="6604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IN" sz="820">
                <a:solidFill>
                  <a:srgbClr val="8295AE"/>
                </a:solidFill>
                <a:latin typeface="Cascadia Code" panose="020B0609020000020004" pitchFamily="49" charset="0"/>
              </a:rPr>
              <a:t>09 / 21</a:t>
            </a:r>
          </a:p>
        </p:txBody>
      </p:sp>
      <p:sp>
        <p:nvSpPr>
          <p:cNvPr id="28" name="CodexCodeTag3">
            <a:extLst>
              <a:ext uri="{FF2B5EF4-FFF2-40B4-BE49-F238E27FC236}">
                <a16:creationId xmlns:a16="http://schemas.microsoft.com/office/drawing/2014/main" id="{384E472A-8118-F68C-658F-AAA2BC629393}"/>
              </a:ext>
            </a:extLst>
          </p:cNvPr>
          <p:cNvSpPr txBox="1"/>
          <p:nvPr/>
        </p:nvSpPr>
        <p:spPr>
          <a:xfrm>
            <a:off x="5054600" y="1859788"/>
            <a:ext cx="914400" cy="1046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680" b="1">
                <a:solidFill>
                  <a:srgbClr val="33DDCF"/>
                </a:solidFill>
                <a:latin typeface="Calibri" panose="020F0502020204030204" pitchFamily="34" charset="0"/>
              </a:rPr>
              <a:t>CODE SNIPPET</a:t>
            </a:r>
          </a:p>
        </p:txBody>
      </p:sp>
      <p:sp>
        <p:nvSpPr>
          <p:cNvPr id="29" name="CodexCodeSource3">
            <a:hlinkClick r:id="rId6"/>
            <a:extLst>
              <a:ext uri="{FF2B5EF4-FFF2-40B4-BE49-F238E27FC236}">
                <a16:creationId xmlns:a16="http://schemas.microsoft.com/office/drawing/2014/main" id="{C3B4406B-8687-C03F-1821-A73F4FB013C6}"/>
              </a:ext>
            </a:extLst>
          </p:cNvPr>
          <p:cNvSpPr txBox="1"/>
          <p:nvPr/>
        </p:nvSpPr>
        <p:spPr>
          <a:xfrm>
            <a:off x="6821424" y="1859788"/>
            <a:ext cx="863600" cy="1046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IN" sz="680" b="1">
                <a:solidFill>
                  <a:srgbClr val="33DDCF"/>
                </a:solidFill>
                <a:latin typeface="Calibri" panose="020F0502020204030204" pitchFamily="34" charset="0"/>
              </a:rPr>
              <a:t>OPEN SOURCE</a:t>
            </a:r>
          </a:p>
        </p:txBody>
      </p:sp>
      <p:sp>
        <p:nvSpPr>
          <p:cNvPr id="30" name="CodexCodeTag4">
            <a:extLst>
              <a:ext uri="{FF2B5EF4-FFF2-40B4-BE49-F238E27FC236}">
                <a16:creationId xmlns:a16="http://schemas.microsoft.com/office/drawing/2014/main" id="{55F74433-17CD-39A1-7E4D-BACA30135FDD}"/>
              </a:ext>
            </a:extLst>
          </p:cNvPr>
          <p:cNvSpPr txBox="1"/>
          <p:nvPr/>
        </p:nvSpPr>
        <p:spPr>
          <a:xfrm>
            <a:off x="8483600" y="1859788"/>
            <a:ext cx="914400" cy="1046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680" b="1">
                <a:solidFill>
                  <a:srgbClr val="33DDCF"/>
                </a:solidFill>
                <a:latin typeface="Calibri" panose="020F0502020204030204" pitchFamily="34" charset="0"/>
              </a:rPr>
              <a:t>CODE SNIPPET</a:t>
            </a:r>
          </a:p>
        </p:txBody>
      </p:sp>
      <p:sp>
        <p:nvSpPr>
          <p:cNvPr id="31" name="CodexCodeSource4">
            <a:hlinkClick r:id="rId6"/>
            <a:extLst>
              <a:ext uri="{FF2B5EF4-FFF2-40B4-BE49-F238E27FC236}">
                <a16:creationId xmlns:a16="http://schemas.microsoft.com/office/drawing/2014/main" id="{20F41027-363F-19B8-04B7-570983835DF5}"/>
              </a:ext>
            </a:extLst>
          </p:cNvPr>
          <p:cNvSpPr txBox="1"/>
          <p:nvPr/>
        </p:nvSpPr>
        <p:spPr>
          <a:xfrm>
            <a:off x="10469880" y="1859788"/>
            <a:ext cx="863600" cy="1046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IN" sz="680" b="1">
                <a:solidFill>
                  <a:srgbClr val="33DDCF"/>
                </a:solidFill>
                <a:latin typeface="Calibri" panose="020F0502020204030204" pitchFamily="34" charset="0"/>
              </a:rPr>
              <a:t>OPEN SOURCE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90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7FAFC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Reward Judge and independent Eval Judge</a:t>
            </a:r>
            <a:endParaRPr lang="en-US" sz="2700" dirty="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06070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2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training reward from final scoring reduces the risk that PPO only learns one judge’s blind spots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266944" cy="4443984"/>
          </a:xfrm>
          <a:prstGeom prst="roundRect">
            <a:avLst>
              <a:gd name="adj" fmla="val 823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32688" y="193852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135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JUDGE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914400" y="2359152"/>
            <a:ext cx="4553712" cy="21396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encoder plus a three-class linear head</a:t>
            </a:r>
            <a:endParaRPr lang="en-US" sz="1500" dirty="0"/>
          </a:p>
          <a:p>
            <a:r>
              <a:rPr lang="en-US" sz="15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combines prompt and target response</a:t>
            </a:r>
            <a:endParaRPr lang="en-US" sz="1500" dirty="0"/>
          </a:p>
          <a:p>
            <a:r>
              <a:rPr lang="en-US" sz="15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 trains refusal, partial and full-violation logits</a:t>
            </a:r>
            <a:endParaRPr lang="en-US" sz="1500" dirty="0"/>
          </a:p>
          <a:p>
            <a:r>
              <a:rPr lang="en-US" sz="15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probabilities feed reward shaping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4773168"/>
            <a:ext cx="4645152" cy="987552"/>
          </a:xfrm>
          <a:prstGeom prst="roundRect">
            <a:avLst>
              <a:gd name="adj" fmla="val 3704"/>
            </a:avLst>
          </a:prstGeom>
          <a:solidFill>
            <a:srgbClr val="0B1C34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60704" y="4937760"/>
            <a:ext cx="0" cy="658368"/>
          </a:xfrm>
          <a:prstGeom prst="line">
            <a:avLst/>
          </a:prstGeom>
          <a:noFill/>
          <a:ln w="31750">
            <a:solidFill>
              <a:srgbClr val="27D8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225296" y="4956048"/>
            <a:ext cx="4169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104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01</a:t>
            </a:r>
            <a:r>
              <a:rPr lang="en-US" sz="1040">
                <a:solidFill>
                  <a:srgbClr val="6F8EA9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04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logits = model(input_ids, attention_mask)</a:t>
            </a:r>
          </a:p>
          <a:p>
            <a:pPr marL="0" indent="0">
              <a:buNone/>
            </a:pPr>
            <a:r>
              <a:rPr lang="en-US" sz="104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02</a:t>
            </a:r>
            <a:r>
              <a:rPr lang="en-US" sz="104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loss = CrossEntropyLoss()(logits, label)</a:t>
            </a:r>
          </a:p>
          <a:p>
            <a:pPr marL="0" indent="0">
              <a:buNone/>
            </a:pPr>
            <a:r>
              <a:rPr lang="en-US" sz="104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03</a:t>
            </a:r>
            <a:r>
              <a:rPr lang="en-US" sz="104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</a:t>
            </a:r>
          </a:p>
          <a:p>
            <a:pPr marL="0" indent="0">
              <a:buNone/>
            </a:pPr>
            <a:r>
              <a:rPr lang="en-US" sz="104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04</a:t>
            </a:r>
            <a:r>
              <a:rPr lang="en-US" sz="104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P(</a:t>
            </a:r>
            <a:r>
              <a:rPr lang="en-US" sz="1040">
                <a:solidFill>
                  <a:srgbClr val="79E0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class</a:t>
            </a:r>
            <a:r>
              <a:rPr lang="en-US" sz="104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| prompt, response)</a:t>
            </a:r>
            <a:endParaRPr lang="en-US" sz="1040" dirty="0">
              <a:solidFill>
                <a:srgbClr val="F7FAFC"/>
              </a:solidFill>
              <a:latin typeface="Cascadia Code" panose="020B0609020000020004" pitchFamily="49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199632" y="1645920"/>
            <a:ext cx="5349240" cy="4443984"/>
          </a:xfrm>
          <a:prstGeom prst="roundRect">
            <a:avLst>
              <a:gd name="adj" fmla="val 823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492240" y="19385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135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JUDGE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6473952" y="2359152"/>
            <a:ext cx="4590288" cy="21396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the full transcript window</a:t>
            </a:r>
            <a:endParaRPr lang="en-US" sz="1500" dirty="0"/>
          </a:p>
          <a:p>
            <a:r>
              <a:rPr lang="en-US" sz="15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averages classifier and LLM-judge probabilities</a:t>
            </a:r>
            <a:endParaRPr lang="en-US" sz="1500" dirty="0"/>
          </a:p>
          <a:p>
            <a:r>
              <a:rPr lang="en-US" sz="15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maximum class disagreement ≥ 0.35</a:t>
            </a:r>
            <a:endParaRPr lang="en-US" sz="1500" dirty="0"/>
          </a:p>
          <a:p>
            <a:r>
              <a:rPr lang="en-US" sz="15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Falls back to one judge when no LLM judge is configured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73952" y="4773168"/>
            <a:ext cx="4681728" cy="987552"/>
          </a:xfrm>
          <a:prstGeom prst="roundRect">
            <a:avLst>
              <a:gd name="adj" fmla="val 3704"/>
            </a:avLst>
          </a:prstGeom>
          <a:solidFill>
            <a:srgbClr val="0B1C34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6620256" y="4937760"/>
            <a:ext cx="0" cy="658368"/>
          </a:xfrm>
          <a:prstGeom prst="line">
            <a:avLst/>
          </a:prstGeom>
          <a:noFill/>
          <a:ln w="31750">
            <a:solidFill>
              <a:srgbClr val="27D8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784848" y="495604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IN" sz="104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01</a:t>
            </a:r>
            <a:r>
              <a:rPr lang="en-IN" sz="1040">
                <a:solidFill>
                  <a:srgbClr val="6F8EA9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IN" sz="104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combined[label] = (classifier[label]</a:t>
            </a:r>
          </a:p>
          <a:p>
            <a:pPr marL="0" indent="0">
              <a:buNone/>
            </a:pPr>
            <a:r>
              <a:rPr lang="en-IN" sz="104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02</a:t>
            </a:r>
            <a:r>
              <a:rPr lang="en-IN" sz="104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                   + llm_judge[label]) / </a:t>
            </a:r>
            <a:r>
              <a:rPr lang="en-IN" sz="104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2</a:t>
            </a:r>
          </a:p>
          <a:p>
            <a:pPr marL="0" indent="0">
              <a:buNone/>
            </a:pPr>
            <a:r>
              <a:rPr lang="en-IN" sz="104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03</a:t>
            </a:r>
            <a:r>
              <a:rPr lang="en-IN" sz="104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needs_review = disagreement &gt;= </a:t>
            </a:r>
            <a:r>
              <a:rPr lang="en-IN" sz="104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0.35</a:t>
            </a:r>
            <a:endParaRPr lang="en-US" sz="1040" dirty="0">
              <a:solidFill>
                <a:srgbClr val="C8A6FF"/>
              </a:solidFill>
              <a:latin typeface="Cascadia Code" panose="020B0609020000020004" pitchFamily="49" charset="0"/>
            </a:endParaRPr>
          </a:p>
        </p:txBody>
      </p:sp>
      <p:cxnSp>
        <p:nvCxnSpPr>
          <p:cNvPr id="17" name="CodexHeaderAccent">
            <a:extLst>
              <a:ext uri="{FF2B5EF4-FFF2-40B4-BE49-F238E27FC236}">
                <a16:creationId xmlns:a16="http://schemas.microsoft.com/office/drawing/2014/main" id="{5BE04C57-C1F8-DA7A-BAC4-599494636E82}"/>
              </a:ext>
            </a:extLst>
          </p:cNvPr>
          <p:cNvCxnSpPr/>
          <p:nvPr/>
        </p:nvCxnSpPr>
        <p:spPr>
          <a:xfrm>
            <a:off x="558800" y="190500"/>
            <a:ext cx="457200" cy="0"/>
          </a:xfrm>
          <a:prstGeom prst="line">
            <a:avLst/>
          </a:prstGeom>
          <a:ln w="38100">
            <a:solidFill>
              <a:srgbClr val="33DD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0F40C88-2C4C-EC2B-DB18-AFD3F16C02D8}"/>
              </a:ext>
            </a:extLst>
          </p:cNvPr>
          <p:cNvCxnSpPr/>
          <p:nvPr/>
        </p:nvCxnSpPr>
        <p:spPr>
          <a:xfrm>
            <a:off x="558800" y="6515100"/>
            <a:ext cx="11074400" cy="0"/>
          </a:xfrm>
          <a:prstGeom prst="line">
            <a:avLst/>
          </a:prstGeom>
          <a:ln w="7620" cap="flat" cmpd="sng" algn="ctr">
            <a:solidFill>
              <a:srgbClr val="38537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dexSectionLabel">
            <a:extLst>
              <a:ext uri="{FF2B5EF4-FFF2-40B4-BE49-F238E27FC236}">
                <a16:creationId xmlns:a16="http://schemas.microsoft.com/office/drawing/2014/main" id="{F9E24458-722D-DA60-21ED-A7F5F70B02FD}"/>
              </a:ext>
            </a:extLst>
          </p:cNvPr>
          <p:cNvSpPr txBox="1"/>
          <p:nvPr/>
        </p:nvSpPr>
        <p:spPr>
          <a:xfrm>
            <a:off x="558800" y="6604000"/>
            <a:ext cx="2413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800" b="1">
                <a:solidFill>
                  <a:srgbClr val="33DDCF"/>
                </a:solidFill>
                <a:latin typeface="Calibri" panose="020F0502020204030204" pitchFamily="34" charset="0"/>
              </a:rPr>
              <a:t>LEARNING</a:t>
            </a:r>
          </a:p>
        </p:txBody>
      </p:sp>
      <p:sp>
        <p:nvSpPr>
          <p:cNvPr id="20" name="CodexNavContents">
            <a:hlinkClick r:id="rId3" action="ppaction://hlinksldjump"/>
            <a:extLst>
              <a:ext uri="{FF2B5EF4-FFF2-40B4-BE49-F238E27FC236}">
                <a16:creationId xmlns:a16="http://schemas.microsoft.com/office/drawing/2014/main" id="{A6BCD51E-D20D-049B-F0F2-62B119F0E017}"/>
              </a:ext>
            </a:extLst>
          </p:cNvPr>
          <p:cNvSpPr txBox="1"/>
          <p:nvPr/>
        </p:nvSpPr>
        <p:spPr>
          <a:xfrm>
            <a:off x="8763000" y="6604000"/>
            <a:ext cx="7366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CONTENTS</a:t>
            </a:r>
          </a:p>
        </p:txBody>
      </p:sp>
      <p:sp>
        <p:nvSpPr>
          <p:cNvPr id="21" name="CodexNavPrevious">
            <a:hlinkClick r:id="rId4" action="ppaction://hlinksldjump"/>
            <a:extLst>
              <a:ext uri="{FF2B5EF4-FFF2-40B4-BE49-F238E27FC236}">
                <a16:creationId xmlns:a16="http://schemas.microsoft.com/office/drawing/2014/main" id="{E86FE502-B300-92E2-6320-B7D42A819DDF}"/>
              </a:ext>
            </a:extLst>
          </p:cNvPr>
          <p:cNvSpPr txBox="1"/>
          <p:nvPr/>
        </p:nvSpPr>
        <p:spPr>
          <a:xfrm>
            <a:off x="9588500" y="6604000"/>
            <a:ext cx="7112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PREVIOUS</a:t>
            </a:r>
          </a:p>
        </p:txBody>
      </p:sp>
      <p:sp>
        <p:nvSpPr>
          <p:cNvPr id="22" name="CodexNavNext">
            <a:hlinkClick r:id="rId5" action="ppaction://hlinksldjump"/>
            <a:extLst>
              <a:ext uri="{FF2B5EF4-FFF2-40B4-BE49-F238E27FC236}">
                <a16:creationId xmlns:a16="http://schemas.microsoft.com/office/drawing/2014/main" id="{236A58AD-D93B-778D-136B-B2484E5CC552}"/>
              </a:ext>
            </a:extLst>
          </p:cNvPr>
          <p:cNvSpPr txBox="1"/>
          <p:nvPr/>
        </p:nvSpPr>
        <p:spPr>
          <a:xfrm>
            <a:off x="10375900" y="6604000"/>
            <a:ext cx="4826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NEXT</a:t>
            </a:r>
          </a:p>
        </p:txBody>
      </p:sp>
      <p:sp>
        <p:nvSpPr>
          <p:cNvPr id="23" name="CodexPageNumber">
            <a:extLst>
              <a:ext uri="{FF2B5EF4-FFF2-40B4-BE49-F238E27FC236}">
                <a16:creationId xmlns:a16="http://schemas.microsoft.com/office/drawing/2014/main" id="{1188C25C-26C2-72C1-7A05-3F4C15BA8216}"/>
              </a:ext>
            </a:extLst>
          </p:cNvPr>
          <p:cNvSpPr txBox="1"/>
          <p:nvPr/>
        </p:nvSpPr>
        <p:spPr>
          <a:xfrm>
            <a:off x="10972800" y="6604000"/>
            <a:ext cx="6604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IN" sz="820">
                <a:solidFill>
                  <a:srgbClr val="8295AE"/>
                </a:solidFill>
                <a:latin typeface="Cascadia Code" panose="020B0609020000020004" pitchFamily="49" charset="0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90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7FAFC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Generalized advantages and clipped policy updates</a:t>
            </a:r>
            <a:endParaRPr lang="en-US" sz="2700" dirty="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06070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2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 trainer applies token-level KL regularization against a frozen reference policy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3767328" cy="4443984"/>
          </a:xfrm>
          <a:prstGeom prst="roundRect">
            <a:avLst>
              <a:gd name="adj" fmla="val 971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32688" y="193852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135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EQUATIONS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896112" y="2414016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7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δₜ = rₜ + γV(sₜ₊₁) − V(sₜ)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96112" y="2980944"/>
            <a:ext cx="3255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7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Âₜ = δₜ + γλÂₜ₊₁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3584448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7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Lclip = −E[min(rₜÂₜ, clip(rₜ, 1−ε, 1+ε)Âₜ)]</a:t>
            </a:r>
            <a:endParaRPr lang="en-US" sz="17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24128" y="4498848"/>
          <a:ext cx="2962656" cy="1316736"/>
        </p:xfrm>
        <a:graphic>
          <a:graphicData uri="http://schemas.openxmlformats.org/drawingml/2006/table">
            <a:tbl>
              <a:tblPr/>
              <a:tblGrid>
                <a:gridCol w="16093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60" b="1" dirty="0">
                          <a:solidFill>
                            <a:srgbClr val="07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D8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60" b="1" dirty="0">
                          <a:solidFill>
                            <a:srgbClr val="07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06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D8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γ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ε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0.20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 coefficient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3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</a:t>
                      </a:r>
                      <a:endParaRPr lang="en-US" sz="103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Shape 8"/>
          <p:cNvSpPr/>
          <p:nvPr/>
        </p:nvSpPr>
        <p:spPr>
          <a:xfrm>
            <a:off x="4681728" y="1664208"/>
            <a:ext cx="6858000" cy="2359152"/>
          </a:xfrm>
          <a:prstGeom prst="roundRect">
            <a:avLst>
              <a:gd name="adj" fmla="val 1550"/>
            </a:avLst>
          </a:prstGeom>
          <a:solidFill>
            <a:srgbClr val="0B1C34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9"/>
          <p:cNvSpPr/>
          <p:nvPr/>
        </p:nvSpPr>
        <p:spPr>
          <a:xfrm>
            <a:off x="4828032" y="1828800"/>
            <a:ext cx="0" cy="2029968"/>
          </a:xfrm>
          <a:prstGeom prst="line">
            <a:avLst/>
          </a:prstGeom>
          <a:noFill/>
          <a:ln w="31750">
            <a:solidFill>
              <a:srgbClr val="27D8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4992624" y="1999488"/>
            <a:ext cx="6382512" cy="1859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1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01</a:t>
            </a:r>
            <a:r>
              <a:rPr lang="en-US" sz="1110">
                <a:solidFill>
                  <a:srgbClr val="6F8EA9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1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delta = reward[t] + gamma * nextvalue - value[t]</a:t>
            </a:r>
          </a:p>
          <a:p>
            <a:pPr marL="0" indent="0">
              <a:buNone/>
            </a:pPr>
            <a:r>
              <a:rPr lang="en-US" sz="111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02</a:t>
            </a:r>
            <a:r>
              <a:rPr lang="en-US" sz="111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lastgaelam = delta + gamma * lam * lastgaelam</a:t>
            </a:r>
          </a:p>
          <a:p>
            <a:pPr marL="0" indent="0">
              <a:buNone/>
            </a:pPr>
            <a:r>
              <a:rPr lang="en-US" sz="111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03</a:t>
            </a:r>
            <a:r>
              <a:rPr lang="en-US" sz="111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</a:t>
            </a:r>
          </a:p>
          <a:p>
            <a:pPr marL="0" indent="0">
              <a:buNone/>
            </a:pPr>
            <a:r>
              <a:rPr lang="en-US" sz="111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04</a:t>
            </a:r>
            <a:r>
              <a:rPr lang="en-US" sz="111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ratio = exp(new_logp - old_logp)</a:t>
            </a:r>
          </a:p>
          <a:p>
            <a:pPr marL="0" indent="0">
              <a:buNone/>
            </a:pPr>
            <a:r>
              <a:rPr lang="en-US" sz="111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05</a:t>
            </a:r>
            <a:r>
              <a:rPr lang="en-US" sz="111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surr2 = clamp(ratio, </a:t>
            </a:r>
            <a:r>
              <a:rPr lang="en-US" sz="111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1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-eps, </a:t>
            </a:r>
            <a:r>
              <a:rPr lang="en-US" sz="111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1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+eps) * advantage</a:t>
            </a:r>
            <a:endParaRPr lang="en-US" sz="1110" dirty="0">
              <a:solidFill>
                <a:srgbClr val="F7FAFC"/>
              </a:solidFill>
              <a:latin typeface="Cascadia Code" panose="020B0609020000020004" pitchFamily="49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681728" y="4261104"/>
            <a:ext cx="6858000" cy="1828800"/>
          </a:xfrm>
          <a:prstGeom prst="roundRect">
            <a:avLst>
              <a:gd name="adj" fmla="val 2000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4974336" y="4553712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135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CONTROLS</a:t>
            </a:r>
            <a:endParaRPr lang="en-US" sz="920" dirty="0"/>
          </a:p>
        </p:txBody>
      </p:sp>
      <p:sp>
        <p:nvSpPr>
          <p:cNvPr id="16" name="Text 13"/>
          <p:cNvSpPr/>
          <p:nvPr/>
        </p:nvSpPr>
        <p:spPr>
          <a:xfrm>
            <a:off x="4956048" y="4882896"/>
            <a:ext cx="6126480" cy="9326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34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all batch advantages to zero mean and unit variance</a:t>
            </a:r>
            <a:endParaRPr lang="en-US" sz="1340" dirty="0"/>
          </a:p>
          <a:p>
            <a:r>
              <a:rPr lang="en-US" sz="134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gradient clipping before each optimizer step</a:t>
            </a:r>
            <a:endParaRPr lang="en-US" sz="1340" dirty="0"/>
          </a:p>
          <a:p>
            <a:r>
              <a:rPr lang="en-US" sz="134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external reward to the final response token</a:t>
            </a:r>
            <a:endParaRPr lang="en-US" sz="1340" dirty="0"/>
          </a:p>
          <a:p>
            <a:r>
              <a:rPr lang="en-US" sz="134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per-token KL from every response-token reward</a:t>
            </a:r>
            <a:endParaRPr lang="en-US" sz="1340" dirty="0"/>
          </a:p>
        </p:txBody>
      </p:sp>
      <p:cxnSp>
        <p:nvCxnSpPr>
          <p:cNvPr id="17" name="CodexHeaderAccent">
            <a:extLst>
              <a:ext uri="{FF2B5EF4-FFF2-40B4-BE49-F238E27FC236}">
                <a16:creationId xmlns:a16="http://schemas.microsoft.com/office/drawing/2014/main" id="{6A0CDBDF-09F2-6571-8AA1-2A0C91D1D00D}"/>
              </a:ext>
            </a:extLst>
          </p:cNvPr>
          <p:cNvCxnSpPr/>
          <p:nvPr/>
        </p:nvCxnSpPr>
        <p:spPr>
          <a:xfrm>
            <a:off x="558800" y="190500"/>
            <a:ext cx="457200" cy="0"/>
          </a:xfrm>
          <a:prstGeom prst="line">
            <a:avLst/>
          </a:prstGeom>
          <a:ln w="38100">
            <a:solidFill>
              <a:srgbClr val="33DD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AF1D54C3-7904-748C-83F7-12155D1EFEF2}"/>
              </a:ext>
            </a:extLst>
          </p:cNvPr>
          <p:cNvCxnSpPr/>
          <p:nvPr/>
        </p:nvCxnSpPr>
        <p:spPr>
          <a:xfrm>
            <a:off x="558800" y="6515100"/>
            <a:ext cx="11074400" cy="0"/>
          </a:xfrm>
          <a:prstGeom prst="line">
            <a:avLst/>
          </a:prstGeom>
          <a:ln w="7620" cap="flat" cmpd="sng" algn="ctr">
            <a:solidFill>
              <a:srgbClr val="38537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odexSectionLabel">
            <a:extLst>
              <a:ext uri="{FF2B5EF4-FFF2-40B4-BE49-F238E27FC236}">
                <a16:creationId xmlns:a16="http://schemas.microsoft.com/office/drawing/2014/main" id="{98650747-D794-3616-D5A3-6F66BE9E2244}"/>
              </a:ext>
            </a:extLst>
          </p:cNvPr>
          <p:cNvSpPr txBox="1"/>
          <p:nvPr/>
        </p:nvSpPr>
        <p:spPr>
          <a:xfrm>
            <a:off x="558800" y="6604000"/>
            <a:ext cx="2413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800" b="1">
                <a:solidFill>
                  <a:srgbClr val="33DDCF"/>
                </a:solidFill>
                <a:latin typeface="Calibri" panose="020F0502020204030204" pitchFamily="34" charset="0"/>
              </a:rPr>
              <a:t>LEARNING</a:t>
            </a:r>
          </a:p>
        </p:txBody>
      </p:sp>
      <p:sp>
        <p:nvSpPr>
          <p:cNvPr id="20" name="CodexNavContents">
            <a:hlinkClick r:id="rId3" action="ppaction://hlinksldjump"/>
            <a:extLst>
              <a:ext uri="{FF2B5EF4-FFF2-40B4-BE49-F238E27FC236}">
                <a16:creationId xmlns:a16="http://schemas.microsoft.com/office/drawing/2014/main" id="{CD51C027-57F9-7773-CDA9-0196CF433F6D}"/>
              </a:ext>
            </a:extLst>
          </p:cNvPr>
          <p:cNvSpPr txBox="1"/>
          <p:nvPr/>
        </p:nvSpPr>
        <p:spPr>
          <a:xfrm>
            <a:off x="8763000" y="6604000"/>
            <a:ext cx="7366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CONTENTS</a:t>
            </a:r>
          </a:p>
        </p:txBody>
      </p:sp>
      <p:sp>
        <p:nvSpPr>
          <p:cNvPr id="21" name="CodexNavPrevious">
            <a:hlinkClick r:id="rId4" action="ppaction://hlinksldjump"/>
            <a:extLst>
              <a:ext uri="{FF2B5EF4-FFF2-40B4-BE49-F238E27FC236}">
                <a16:creationId xmlns:a16="http://schemas.microsoft.com/office/drawing/2014/main" id="{04DB4543-8D7B-49C4-A73E-24794B0F2E60}"/>
              </a:ext>
            </a:extLst>
          </p:cNvPr>
          <p:cNvSpPr txBox="1"/>
          <p:nvPr/>
        </p:nvSpPr>
        <p:spPr>
          <a:xfrm>
            <a:off x="9588500" y="6604000"/>
            <a:ext cx="7112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PREVIOUS</a:t>
            </a:r>
          </a:p>
        </p:txBody>
      </p:sp>
      <p:sp>
        <p:nvSpPr>
          <p:cNvPr id="22" name="CodexNavNext">
            <a:hlinkClick r:id="rId5" action="ppaction://hlinksldjump"/>
            <a:extLst>
              <a:ext uri="{FF2B5EF4-FFF2-40B4-BE49-F238E27FC236}">
                <a16:creationId xmlns:a16="http://schemas.microsoft.com/office/drawing/2014/main" id="{578FA11E-C628-1CB4-CD12-566B6D2454CE}"/>
              </a:ext>
            </a:extLst>
          </p:cNvPr>
          <p:cNvSpPr txBox="1"/>
          <p:nvPr/>
        </p:nvSpPr>
        <p:spPr>
          <a:xfrm>
            <a:off x="10375900" y="6604000"/>
            <a:ext cx="4826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NEXT</a:t>
            </a:r>
          </a:p>
        </p:txBody>
      </p:sp>
      <p:sp>
        <p:nvSpPr>
          <p:cNvPr id="23" name="CodexPageNumber">
            <a:extLst>
              <a:ext uri="{FF2B5EF4-FFF2-40B4-BE49-F238E27FC236}">
                <a16:creationId xmlns:a16="http://schemas.microsoft.com/office/drawing/2014/main" id="{059A19DB-9DB6-87A3-2D7F-3DFE9B037676}"/>
              </a:ext>
            </a:extLst>
          </p:cNvPr>
          <p:cNvSpPr txBox="1"/>
          <p:nvPr/>
        </p:nvSpPr>
        <p:spPr>
          <a:xfrm>
            <a:off x="10972800" y="6604000"/>
            <a:ext cx="6604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IN" sz="820">
                <a:solidFill>
                  <a:srgbClr val="8295AE"/>
                </a:solidFill>
                <a:latin typeface="Cascadia Code" panose="020B0609020000020004" pitchFamily="49" charset="0"/>
              </a:rPr>
              <a:t>11 / 21</a:t>
            </a:r>
          </a:p>
        </p:txBody>
      </p:sp>
      <p:sp>
        <p:nvSpPr>
          <p:cNvPr id="24" name="CodexCodeTag7">
            <a:extLst>
              <a:ext uri="{FF2B5EF4-FFF2-40B4-BE49-F238E27FC236}">
                <a16:creationId xmlns:a16="http://schemas.microsoft.com/office/drawing/2014/main" id="{72FE6F9F-C552-0E45-5524-15818CCF4EA2}"/>
              </a:ext>
            </a:extLst>
          </p:cNvPr>
          <p:cNvSpPr txBox="1"/>
          <p:nvPr/>
        </p:nvSpPr>
        <p:spPr>
          <a:xfrm>
            <a:off x="5018024" y="1859788"/>
            <a:ext cx="914400" cy="1046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680" b="1">
                <a:solidFill>
                  <a:srgbClr val="33DDCF"/>
                </a:solidFill>
                <a:latin typeface="Calibri" panose="020F0502020204030204" pitchFamily="34" charset="0"/>
              </a:rPr>
              <a:t>CODE SNIPPET</a:t>
            </a:r>
          </a:p>
        </p:txBody>
      </p:sp>
      <p:sp>
        <p:nvSpPr>
          <p:cNvPr id="25" name="CodexCodeSource7">
            <a:hlinkClick r:id="rId6"/>
            <a:extLst>
              <a:ext uri="{FF2B5EF4-FFF2-40B4-BE49-F238E27FC236}">
                <a16:creationId xmlns:a16="http://schemas.microsoft.com/office/drawing/2014/main" id="{53B9D039-DA0F-89C2-B55A-5AA341CB7A6E}"/>
              </a:ext>
            </a:extLst>
          </p:cNvPr>
          <p:cNvSpPr txBox="1"/>
          <p:nvPr/>
        </p:nvSpPr>
        <p:spPr>
          <a:xfrm>
            <a:off x="10460736" y="1859788"/>
            <a:ext cx="863600" cy="1046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IN" sz="680" b="1">
                <a:solidFill>
                  <a:srgbClr val="33DDCF"/>
                </a:solidFill>
                <a:latin typeface="Calibri" panose="020F0502020204030204" pitchFamily="34" charset="0"/>
              </a:rPr>
              <a:t>OPEN SOURCE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90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SHAPING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7FAFC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Success signal, KL cost, degeneracy checks and diversity</a:t>
            </a:r>
            <a:endParaRPr lang="en-US" sz="2700" dirty="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06070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2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reward combines judge probabilities with safeguards against collapse and meaningless output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4133088" cy="4443984"/>
          </a:xfrm>
          <a:prstGeom prst="roundRect">
            <a:avLst>
              <a:gd name="adj" fmla="val 885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32688" y="193852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135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REWARD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914400" y="2359152"/>
            <a:ext cx="3529584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7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1.0·P(violation) + 0.3·P(partial) − 0.1·P(refusal) − 0.4·max cosine similarity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32688" y="3785616"/>
            <a:ext cx="3493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Degenerate generations receive −1.0 before the diversity term.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14400" y="4517136"/>
            <a:ext cx="3493008" cy="10241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34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Shannon entropy below 1.5 after eight words</a:t>
            </a:r>
            <a:endParaRPr lang="en-US" sz="1340" dirty="0"/>
          </a:p>
          <a:p>
            <a:r>
              <a:rPr lang="en-US" sz="134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Unique-word ratio below 0.2</a:t>
            </a:r>
            <a:endParaRPr lang="en-US" sz="1340" dirty="0"/>
          </a:p>
          <a:p>
            <a:r>
              <a:rPr lang="en-US" sz="134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character repeated more than ten times</a:t>
            </a:r>
            <a:endParaRPr lang="en-US" sz="1340" dirty="0"/>
          </a:p>
        </p:txBody>
      </p:sp>
      <p:sp>
        <p:nvSpPr>
          <p:cNvPr id="10" name="Shape 8"/>
          <p:cNvSpPr/>
          <p:nvPr/>
        </p:nvSpPr>
        <p:spPr>
          <a:xfrm>
            <a:off x="5047488" y="1664208"/>
            <a:ext cx="6492240" cy="1207008"/>
          </a:xfrm>
          <a:prstGeom prst="roundRect">
            <a:avLst>
              <a:gd name="adj" fmla="val 3030"/>
            </a:avLst>
          </a:prstGeom>
          <a:solidFill>
            <a:srgbClr val="0B1C34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5193792" y="1828800"/>
            <a:ext cx="0" cy="877824"/>
          </a:xfrm>
          <a:prstGeom prst="line">
            <a:avLst/>
          </a:prstGeom>
          <a:noFill/>
          <a:ln w="31750">
            <a:solidFill>
              <a:srgbClr val="27D8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358384" y="1847088"/>
            <a:ext cx="6016752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01</a:t>
            </a:r>
            <a:r>
              <a:rPr lang="en-US" sz="1120">
                <a:solidFill>
                  <a:srgbClr val="6F8EA9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per_token_reward = -kl_coef * (log</a:t>
            </a:r>
            <a:r>
              <a:rPr lang="el-GR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π - </a:t>
            </a:r>
            <a:r>
              <a:rPr lang="en-US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log</a:t>
            </a:r>
            <a:r>
              <a:rPr lang="el-GR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π_</a:t>
            </a:r>
            <a:r>
              <a:rPr lang="en-US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ref)</a:t>
            </a:r>
          </a:p>
          <a:p>
            <a:pPr marL="0" indent="0">
              <a:buNone/>
            </a:pPr>
            <a:r>
              <a:rPr lang="en-US" sz="112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02</a:t>
            </a:r>
            <a:r>
              <a:rPr lang="en-US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per_token_reward[-</a:t>
            </a:r>
            <a:r>
              <a:rPr lang="en-US" sz="112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] += external_reward</a:t>
            </a:r>
            <a:endParaRPr lang="en-US" sz="1120" dirty="0">
              <a:solidFill>
                <a:srgbClr val="F7FAFC"/>
              </a:solidFill>
              <a:latin typeface="Cascadia Code" panose="020B0609020000020004" pitchFamily="49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047488" y="3145536"/>
            <a:ext cx="6492240" cy="1481328"/>
          </a:xfrm>
          <a:prstGeom prst="roundRect">
            <a:avLst>
              <a:gd name="adj" fmla="val 2469"/>
            </a:avLst>
          </a:prstGeom>
          <a:solidFill>
            <a:srgbClr val="0B1C34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193792" y="3310128"/>
            <a:ext cx="0" cy="1152144"/>
          </a:xfrm>
          <a:prstGeom prst="line">
            <a:avLst/>
          </a:prstGeom>
          <a:noFill/>
          <a:ln w="31750">
            <a:solidFill>
              <a:srgbClr val="FFBD2E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358384" y="3480816"/>
            <a:ext cx="6016752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01</a:t>
            </a:r>
            <a:r>
              <a:rPr lang="en-US" sz="1120">
                <a:solidFill>
                  <a:srgbClr val="6F8EA9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vec = model.encode(text, normalize_embeddings=</a:t>
            </a:r>
            <a:r>
              <a:rPr lang="en-US" sz="1120">
                <a:solidFill>
                  <a:srgbClr val="79E0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marL="0" indent="0">
              <a:buNone/>
            </a:pPr>
            <a:r>
              <a:rPr lang="en-US" sz="112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02</a:t>
            </a:r>
            <a:r>
              <a:rPr lang="en-US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sims = [dot(vec, recent) </a:t>
            </a:r>
            <a:r>
              <a:rPr lang="en-US" sz="1120">
                <a:solidFill>
                  <a:srgbClr val="79E0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for</a:t>
            </a:r>
            <a:r>
              <a:rPr lang="en-US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recent </a:t>
            </a:r>
            <a:r>
              <a:rPr lang="en-US" sz="1120">
                <a:solidFill>
                  <a:srgbClr val="79E0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US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buffer]</a:t>
            </a:r>
          </a:p>
          <a:p>
            <a:pPr marL="0" indent="0">
              <a:buNone/>
            </a:pPr>
            <a:r>
              <a:rPr lang="en-US" sz="112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03</a:t>
            </a:r>
            <a:r>
              <a:rPr lang="en-US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penalty = max(</a:t>
            </a:r>
            <a:r>
              <a:rPr lang="en-US" sz="112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0.0</a:t>
            </a:r>
            <a:r>
              <a:rPr lang="en-US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, max(sims))</a:t>
            </a:r>
            <a:endParaRPr lang="en-US" sz="1120" dirty="0">
              <a:solidFill>
                <a:srgbClr val="F7FAFC"/>
              </a:solidFill>
              <a:latin typeface="Cascadia Code" panose="020B0609020000020004" pitchFamily="49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5047488" y="4882896"/>
            <a:ext cx="6492240" cy="1207008"/>
          </a:xfrm>
          <a:prstGeom prst="roundRect">
            <a:avLst>
              <a:gd name="adj" fmla="val 3030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358384" y="5212080"/>
            <a:ext cx="5870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30" b="1" dirty="0">
                <a:solidFill>
                  <a:srgbClr val="F7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maximum similarity penalizes the nearest recent success. A mean could hide one near-duplicate among many unrelated samples.</a:t>
            </a:r>
            <a:endParaRPr lang="en-US" sz="1430" dirty="0"/>
          </a:p>
        </p:txBody>
      </p:sp>
      <p:cxnSp>
        <p:nvCxnSpPr>
          <p:cNvPr id="18" name="CodexHeaderAccent">
            <a:extLst>
              <a:ext uri="{FF2B5EF4-FFF2-40B4-BE49-F238E27FC236}">
                <a16:creationId xmlns:a16="http://schemas.microsoft.com/office/drawing/2014/main" id="{E0536971-EC5C-3892-6648-F64F944FD99F}"/>
              </a:ext>
            </a:extLst>
          </p:cNvPr>
          <p:cNvCxnSpPr/>
          <p:nvPr/>
        </p:nvCxnSpPr>
        <p:spPr>
          <a:xfrm>
            <a:off x="558800" y="190500"/>
            <a:ext cx="457200" cy="0"/>
          </a:xfrm>
          <a:prstGeom prst="line">
            <a:avLst/>
          </a:prstGeom>
          <a:ln w="38100">
            <a:solidFill>
              <a:srgbClr val="33DD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3FB79A6C-81BD-8D97-5F00-81DD8A9EFA81}"/>
              </a:ext>
            </a:extLst>
          </p:cNvPr>
          <p:cNvCxnSpPr/>
          <p:nvPr/>
        </p:nvCxnSpPr>
        <p:spPr>
          <a:xfrm>
            <a:off x="558800" y="6515100"/>
            <a:ext cx="11074400" cy="0"/>
          </a:xfrm>
          <a:prstGeom prst="line">
            <a:avLst/>
          </a:prstGeom>
          <a:ln w="7620" cap="flat" cmpd="sng" algn="ctr">
            <a:solidFill>
              <a:srgbClr val="38537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dexSectionLabel">
            <a:extLst>
              <a:ext uri="{FF2B5EF4-FFF2-40B4-BE49-F238E27FC236}">
                <a16:creationId xmlns:a16="http://schemas.microsoft.com/office/drawing/2014/main" id="{5BB237E2-157B-EAA2-542C-2DE3E7CDC8E6}"/>
              </a:ext>
            </a:extLst>
          </p:cNvPr>
          <p:cNvSpPr txBox="1"/>
          <p:nvPr/>
        </p:nvSpPr>
        <p:spPr>
          <a:xfrm>
            <a:off x="558800" y="6604000"/>
            <a:ext cx="2413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800" b="1">
                <a:solidFill>
                  <a:srgbClr val="33DDCF"/>
                </a:solidFill>
                <a:latin typeface="Calibri" panose="020F0502020204030204" pitchFamily="34" charset="0"/>
              </a:rPr>
              <a:t>LEARNING</a:t>
            </a:r>
          </a:p>
        </p:txBody>
      </p:sp>
      <p:sp>
        <p:nvSpPr>
          <p:cNvPr id="21" name="CodexNavContents">
            <a:hlinkClick r:id="rId3" action="ppaction://hlinksldjump"/>
            <a:extLst>
              <a:ext uri="{FF2B5EF4-FFF2-40B4-BE49-F238E27FC236}">
                <a16:creationId xmlns:a16="http://schemas.microsoft.com/office/drawing/2014/main" id="{48D90D3A-7DEA-F340-6443-1A43EC685AD3}"/>
              </a:ext>
            </a:extLst>
          </p:cNvPr>
          <p:cNvSpPr txBox="1"/>
          <p:nvPr/>
        </p:nvSpPr>
        <p:spPr>
          <a:xfrm>
            <a:off x="8763000" y="6604000"/>
            <a:ext cx="7366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CONTENTS</a:t>
            </a:r>
          </a:p>
        </p:txBody>
      </p:sp>
      <p:sp>
        <p:nvSpPr>
          <p:cNvPr id="22" name="CodexNavPrevious">
            <a:hlinkClick r:id="rId4" action="ppaction://hlinksldjump"/>
            <a:extLst>
              <a:ext uri="{FF2B5EF4-FFF2-40B4-BE49-F238E27FC236}">
                <a16:creationId xmlns:a16="http://schemas.microsoft.com/office/drawing/2014/main" id="{E0D09637-C8C0-F3EE-C495-0D51B1024306}"/>
              </a:ext>
            </a:extLst>
          </p:cNvPr>
          <p:cNvSpPr txBox="1"/>
          <p:nvPr/>
        </p:nvSpPr>
        <p:spPr>
          <a:xfrm>
            <a:off x="9588500" y="6604000"/>
            <a:ext cx="7112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PREVIOUS</a:t>
            </a:r>
          </a:p>
        </p:txBody>
      </p:sp>
      <p:sp>
        <p:nvSpPr>
          <p:cNvPr id="23" name="CodexNavNext">
            <a:hlinkClick r:id="rId5" action="ppaction://hlinksldjump"/>
            <a:extLst>
              <a:ext uri="{FF2B5EF4-FFF2-40B4-BE49-F238E27FC236}">
                <a16:creationId xmlns:a16="http://schemas.microsoft.com/office/drawing/2014/main" id="{DECE9130-51D0-F824-00BC-20DDF78FDF90}"/>
              </a:ext>
            </a:extLst>
          </p:cNvPr>
          <p:cNvSpPr txBox="1"/>
          <p:nvPr/>
        </p:nvSpPr>
        <p:spPr>
          <a:xfrm>
            <a:off x="10375900" y="6604000"/>
            <a:ext cx="4826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NEXT</a:t>
            </a:r>
          </a:p>
        </p:txBody>
      </p:sp>
      <p:sp>
        <p:nvSpPr>
          <p:cNvPr id="24" name="CodexPageNumber">
            <a:extLst>
              <a:ext uri="{FF2B5EF4-FFF2-40B4-BE49-F238E27FC236}">
                <a16:creationId xmlns:a16="http://schemas.microsoft.com/office/drawing/2014/main" id="{F091879F-EDFF-D078-2622-7630163F60CF}"/>
              </a:ext>
            </a:extLst>
          </p:cNvPr>
          <p:cNvSpPr txBox="1"/>
          <p:nvPr/>
        </p:nvSpPr>
        <p:spPr>
          <a:xfrm>
            <a:off x="10972800" y="6604000"/>
            <a:ext cx="6604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IN" sz="820">
                <a:solidFill>
                  <a:srgbClr val="8295AE"/>
                </a:solidFill>
                <a:latin typeface="Cascadia Code" panose="020B0609020000020004" pitchFamily="49" charset="0"/>
              </a:rPr>
              <a:t>12 / 21</a:t>
            </a:r>
          </a:p>
        </p:txBody>
      </p:sp>
      <p:sp>
        <p:nvSpPr>
          <p:cNvPr id="25" name="CodexCodeTag9">
            <a:extLst>
              <a:ext uri="{FF2B5EF4-FFF2-40B4-BE49-F238E27FC236}">
                <a16:creationId xmlns:a16="http://schemas.microsoft.com/office/drawing/2014/main" id="{CF320BF1-3EF1-72BA-0565-3953D0D150BE}"/>
              </a:ext>
            </a:extLst>
          </p:cNvPr>
          <p:cNvSpPr txBox="1"/>
          <p:nvPr/>
        </p:nvSpPr>
        <p:spPr>
          <a:xfrm>
            <a:off x="5383784" y="3341116"/>
            <a:ext cx="914400" cy="1046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680" b="1">
                <a:solidFill>
                  <a:srgbClr val="33DDCF"/>
                </a:solidFill>
                <a:latin typeface="Calibri" panose="020F0502020204030204" pitchFamily="34" charset="0"/>
              </a:rPr>
              <a:t>CODE SNIPPET</a:t>
            </a:r>
          </a:p>
        </p:txBody>
      </p:sp>
      <p:sp>
        <p:nvSpPr>
          <p:cNvPr id="26" name="CodexCodeSource9">
            <a:hlinkClick r:id="rId6"/>
            <a:extLst>
              <a:ext uri="{FF2B5EF4-FFF2-40B4-BE49-F238E27FC236}">
                <a16:creationId xmlns:a16="http://schemas.microsoft.com/office/drawing/2014/main" id="{5CB0C316-D643-9CCD-0F37-D6234FAD660E}"/>
              </a:ext>
            </a:extLst>
          </p:cNvPr>
          <p:cNvSpPr txBox="1"/>
          <p:nvPr/>
        </p:nvSpPr>
        <p:spPr>
          <a:xfrm>
            <a:off x="10460737" y="3341116"/>
            <a:ext cx="863600" cy="1046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IN" sz="680" b="1">
                <a:solidFill>
                  <a:srgbClr val="33DDCF"/>
                </a:solidFill>
                <a:latin typeface="Calibri" panose="020F0502020204030204" pitchFamily="34" charset="0"/>
              </a:rPr>
              <a:t>OPEN SOURCE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90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7FAFC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Multi-turn best-of-N branch search</a:t>
            </a:r>
            <a:endParaRPr lang="en-US" sz="2700" dirty="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06070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2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scores conversation context and chooses the strongest candidate technique at each turn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664208"/>
            <a:ext cx="2999232" cy="4370832"/>
          </a:xfrm>
          <a:prstGeom prst="roundRect">
            <a:avLst>
              <a:gd name="adj" fmla="val 1220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32688" y="1956816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135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LOOP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932688" y="2395728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17320" y="2359152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current prompt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932688" y="3017520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417320" y="2980944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 target response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32688" y="3639312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17320" y="3602736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full recent context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932688" y="4261104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17320" y="4224528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at P(violation) ≥ 0.5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32688" y="4882896"/>
            <a:ext cx="4023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17320" y="4846320"/>
            <a:ext cx="1847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 test candidate techniques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3913632" y="1664208"/>
            <a:ext cx="3657600" cy="2139696"/>
          </a:xfrm>
          <a:prstGeom prst="roundRect">
            <a:avLst>
              <a:gd name="adj" fmla="val 1709"/>
            </a:avLst>
          </a:prstGeom>
          <a:solidFill>
            <a:srgbClr val="0B1C34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059936" y="1828800"/>
            <a:ext cx="0" cy="1810512"/>
          </a:xfrm>
          <a:prstGeom prst="line">
            <a:avLst/>
          </a:prstGeom>
          <a:noFill/>
          <a:ln w="31750">
            <a:solidFill>
              <a:srgbClr val="27D8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224528" y="1999488"/>
            <a:ext cx="3182112" cy="1639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IN" sz="95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01</a:t>
            </a:r>
            <a:r>
              <a:rPr lang="en-IN" sz="950">
                <a:solidFill>
                  <a:srgbClr val="6F8EA9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IN" sz="95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rank = P(full_violation)</a:t>
            </a:r>
          </a:p>
          <a:p>
            <a:pPr marL="0" indent="0">
              <a:buNone/>
            </a:pPr>
            <a:r>
              <a:rPr lang="en-IN" sz="95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02</a:t>
            </a:r>
            <a:r>
              <a:rPr lang="en-IN" sz="95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     + </a:t>
            </a:r>
            <a:r>
              <a:rPr lang="en-IN" sz="95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0.3</a:t>
            </a:r>
            <a:r>
              <a:rPr lang="en-IN" sz="95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* P(partial_compliance)</a:t>
            </a:r>
          </a:p>
          <a:p>
            <a:pPr marL="0" indent="0">
              <a:buNone/>
            </a:pPr>
            <a:r>
              <a:rPr lang="en-IN" sz="95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03</a:t>
            </a:r>
            <a:r>
              <a:rPr lang="en-IN" sz="95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</a:t>
            </a:r>
          </a:p>
          <a:p>
            <a:pPr marL="0" indent="0">
              <a:buNone/>
            </a:pPr>
            <a:r>
              <a:rPr lang="en-IN" sz="95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04</a:t>
            </a:r>
            <a:r>
              <a:rPr lang="en-IN" sz="95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IN" sz="950">
                <a:solidFill>
                  <a:srgbClr val="79E0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IN" sz="95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rank &gt; best_rank:</a:t>
            </a:r>
          </a:p>
          <a:p>
            <a:pPr marL="0" indent="0">
              <a:buNone/>
            </a:pPr>
            <a:r>
              <a:rPr lang="en-IN" sz="95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05</a:t>
            </a:r>
            <a:r>
              <a:rPr lang="en-IN" sz="95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    keep(branch)</a:t>
            </a:r>
            <a:endParaRPr lang="en-US" sz="950" dirty="0">
              <a:solidFill>
                <a:srgbClr val="F7FAFC"/>
              </a:solidFill>
              <a:latin typeface="Cascadia Code" panose="020B0609020000020004" pitchFamily="49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3913632" y="4059936"/>
            <a:ext cx="3657600" cy="1975104"/>
          </a:xfrm>
          <a:prstGeom prst="roundRect">
            <a:avLst>
              <a:gd name="adj" fmla="val 1852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206240" y="4352544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135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920" dirty="0"/>
          </a:p>
        </p:txBody>
      </p:sp>
      <p:sp>
        <p:nvSpPr>
          <p:cNvPr id="22" name="Text 20"/>
          <p:cNvSpPr/>
          <p:nvPr/>
        </p:nvSpPr>
        <p:spPr>
          <a:xfrm>
            <a:off x="4206240" y="4736592"/>
            <a:ext cx="30723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30" b="1" dirty="0">
                <a:solidFill>
                  <a:srgbClr val="F7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classifier keeps recent turns that fit a 480-token budget after reserving space for the current prompt and response.</a:t>
            </a:r>
            <a:endParaRPr lang="en-US" sz="1530" dirty="0"/>
          </a:p>
        </p:txBody>
      </p:sp>
      <p:sp>
        <p:nvSpPr>
          <p:cNvPr id="23" name="Shape 21"/>
          <p:cNvSpPr/>
          <p:nvPr/>
        </p:nvSpPr>
        <p:spPr>
          <a:xfrm>
            <a:off x="7845552" y="1664208"/>
            <a:ext cx="3703320" cy="4370832"/>
          </a:xfrm>
          <a:prstGeom prst="roundRect">
            <a:avLst>
              <a:gd name="adj" fmla="val 988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138160" y="19568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135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 MENU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8119872" y="2377440"/>
            <a:ext cx="2889504" cy="1920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5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framing</a:t>
            </a:r>
            <a:endParaRPr lang="en-US" sz="1550" dirty="0"/>
          </a:p>
          <a:p>
            <a:r>
              <a:rPr lang="en-US" sz="155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Hypothetical framing</a:t>
            </a:r>
            <a:endParaRPr lang="en-US" sz="1550" dirty="0"/>
          </a:p>
          <a:p>
            <a:r>
              <a:rPr lang="en-US" sz="155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Obfuscation</a:t>
            </a:r>
            <a:endParaRPr lang="en-US" sz="1550" dirty="0"/>
          </a:p>
          <a:p>
            <a:r>
              <a:rPr lang="en-US" sz="155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</a:t>
            </a:r>
            <a:endParaRPr lang="en-US" sz="1550" dirty="0"/>
          </a:p>
          <a:p>
            <a:r>
              <a:rPr lang="en-US" sz="155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Retreat and reframe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8138160" y="464515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138160" y="4992624"/>
            <a:ext cx="281635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430" b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turns: 6</a:t>
            </a:r>
            <a:endParaRPr lang="en-US" sz="1430" dirty="0"/>
          </a:p>
          <a:p>
            <a:pPr marL="0" indent="0" algn="l">
              <a:buNone/>
            </a:pPr>
            <a:r>
              <a:rPr lang="en-US" sz="1430" b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candidates: 3</a:t>
            </a:r>
            <a:endParaRPr lang="en-US" sz="1430" dirty="0"/>
          </a:p>
        </p:txBody>
      </p:sp>
      <p:cxnSp>
        <p:nvCxnSpPr>
          <p:cNvPr id="28" name="CodexHeaderAccent">
            <a:extLst>
              <a:ext uri="{FF2B5EF4-FFF2-40B4-BE49-F238E27FC236}">
                <a16:creationId xmlns:a16="http://schemas.microsoft.com/office/drawing/2014/main" id="{BED6F2B8-B08D-4FCF-AC3A-1BBA0B28A6D1}"/>
              </a:ext>
            </a:extLst>
          </p:cNvPr>
          <p:cNvCxnSpPr/>
          <p:nvPr/>
        </p:nvCxnSpPr>
        <p:spPr>
          <a:xfrm>
            <a:off x="558800" y="190500"/>
            <a:ext cx="457200" cy="0"/>
          </a:xfrm>
          <a:prstGeom prst="line">
            <a:avLst/>
          </a:prstGeom>
          <a:ln w="38100">
            <a:solidFill>
              <a:srgbClr val="33DD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7707C42-95F2-312A-0F06-5F0F0B614904}"/>
              </a:ext>
            </a:extLst>
          </p:cNvPr>
          <p:cNvCxnSpPr/>
          <p:nvPr/>
        </p:nvCxnSpPr>
        <p:spPr>
          <a:xfrm>
            <a:off x="558800" y="6515100"/>
            <a:ext cx="11074400" cy="0"/>
          </a:xfrm>
          <a:prstGeom prst="line">
            <a:avLst/>
          </a:prstGeom>
          <a:ln w="7620" cap="flat" cmpd="sng" algn="ctr">
            <a:solidFill>
              <a:srgbClr val="38537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CodexSectionLabel">
            <a:extLst>
              <a:ext uri="{FF2B5EF4-FFF2-40B4-BE49-F238E27FC236}">
                <a16:creationId xmlns:a16="http://schemas.microsoft.com/office/drawing/2014/main" id="{17681B92-3D9C-8B6A-0395-C12375A2B5BE}"/>
              </a:ext>
            </a:extLst>
          </p:cNvPr>
          <p:cNvSpPr txBox="1"/>
          <p:nvPr/>
        </p:nvSpPr>
        <p:spPr>
          <a:xfrm>
            <a:off x="558800" y="6604000"/>
            <a:ext cx="2413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800" b="1">
                <a:solidFill>
                  <a:srgbClr val="33DDCF"/>
                </a:solidFill>
                <a:latin typeface="Calibri" panose="020F0502020204030204" pitchFamily="34" charset="0"/>
              </a:rPr>
              <a:t>AGENT AND SAFETY</a:t>
            </a:r>
          </a:p>
        </p:txBody>
      </p:sp>
      <p:sp>
        <p:nvSpPr>
          <p:cNvPr id="31" name="CodexNavContents">
            <a:hlinkClick r:id="rId3" action="ppaction://hlinksldjump"/>
            <a:extLst>
              <a:ext uri="{FF2B5EF4-FFF2-40B4-BE49-F238E27FC236}">
                <a16:creationId xmlns:a16="http://schemas.microsoft.com/office/drawing/2014/main" id="{A97F9DE6-ACB2-CF77-2323-9C721AF24F0A}"/>
              </a:ext>
            </a:extLst>
          </p:cNvPr>
          <p:cNvSpPr txBox="1"/>
          <p:nvPr/>
        </p:nvSpPr>
        <p:spPr>
          <a:xfrm>
            <a:off x="8763000" y="6604000"/>
            <a:ext cx="7366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CONTENTS</a:t>
            </a:r>
          </a:p>
        </p:txBody>
      </p:sp>
      <p:sp>
        <p:nvSpPr>
          <p:cNvPr id="32" name="CodexNavPrevious">
            <a:hlinkClick r:id="rId4" action="ppaction://hlinksldjump"/>
            <a:extLst>
              <a:ext uri="{FF2B5EF4-FFF2-40B4-BE49-F238E27FC236}">
                <a16:creationId xmlns:a16="http://schemas.microsoft.com/office/drawing/2014/main" id="{AE2EC369-1BE9-9C20-EA41-2541A742C6BD}"/>
              </a:ext>
            </a:extLst>
          </p:cNvPr>
          <p:cNvSpPr txBox="1"/>
          <p:nvPr/>
        </p:nvSpPr>
        <p:spPr>
          <a:xfrm>
            <a:off x="9588500" y="6604000"/>
            <a:ext cx="7112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PREVIOUS</a:t>
            </a:r>
          </a:p>
        </p:txBody>
      </p:sp>
      <p:sp>
        <p:nvSpPr>
          <p:cNvPr id="33" name="CodexNavNext">
            <a:hlinkClick r:id="rId5" action="ppaction://hlinksldjump"/>
            <a:extLst>
              <a:ext uri="{FF2B5EF4-FFF2-40B4-BE49-F238E27FC236}">
                <a16:creationId xmlns:a16="http://schemas.microsoft.com/office/drawing/2014/main" id="{27C9C427-66D2-3B00-6C6A-3D927E54A090}"/>
              </a:ext>
            </a:extLst>
          </p:cNvPr>
          <p:cNvSpPr txBox="1"/>
          <p:nvPr/>
        </p:nvSpPr>
        <p:spPr>
          <a:xfrm>
            <a:off x="10375900" y="6604000"/>
            <a:ext cx="4826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NEXT</a:t>
            </a:r>
          </a:p>
        </p:txBody>
      </p:sp>
      <p:sp>
        <p:nvSpPr>
          <p:cNvPr id="34" name="CodexPageNumber">
            <a:extLst>
              <a:ext uri="{FF2B5EF4-FFF2-40B4-BE49-F238E27FC236}">
                <a16:creationId xmlns:a16="http://schemas.microsoft.com/office/drawing/2014/main" id="{1448071E-DF1A-5813-6C95-AF3C913B8350}"/>
              </a:ext>
            </a:extLst>
          </p:cNvPr>
          <p:cNvSpPr txBox="1"/>
          <p:nvPr/>
        </p:nvSpPr>
        <p:spPr>
          <a:xfrm>
            <a:off x="10972800" y="6604000"/>
            <a:ext cx="6604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IN" sz="820">
                <a:solidFill>
                  <a:srgbClr val="8295AE"/>
                </a:solidFill>
                <a:latin typeface="Cascadia Code" panose="020B0609020000020004" pitchFamily="49" charset="0"/>
              </a:rPr>
              <a:t>13 / 21</a:t>
            </a:r>
          </a:p>
        </p:txBody>
      </p:sp>
      <p:sp>
        <p:nvSpPr>
          <p:cNvPr id="35" name="CodexCodeTag10">
            <a:extLst>
              <a:ext uri="{FF2B5EF4-FFF2-40B4-BE49-F238E27FC236}">
                <a16:creationId xmlns:a16="http://schemas.microsoft.com/office/drawing/2014/main" id="{30513C80-4DD5-A482-0F55-676E2080156E}"/>
              </a:ext>
            </a:extLst>
          </p:cNvPr>
          <p:cNvSpPr txBox="1"/>
          <p:nvPr/>
        </p:nvSpPr>
        <p:spPr>
          <a:xfrm>
            <a:off x="4249928" y="1859788"/>
            <a:ext cx="914400" cy="1046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680" b="1">
                <a:solidFill>
                  <a:srgbClr val="33DDCF"/>
                </a:solidFill>
                <a:latin typeface="Calibri" panose="020F0502020204030204" pitchFamily="34" charset="0"/>
              </a:rPr>
              <a:t>CODE SNIPPET</a:t>
            </a:r>
          </a:p>
        </p:txBody>
      </p:sp>
      <p:sp>
        <p:nvSpPr>
          <p:cNvPr id="36" name="CodexCodeSource10">
            <a:hlinkClick r:id="rId6"/>
            <a:extLst>
              <a:ext uri="{FF2B5EF4-FFF2-40B4-BE49-F238E27FC236}">
                <a16:creationId xmlns:a16="http://schemas.microsoft.com/office/drawing/2014/main" id="{B0FA1342-E346-491D-5089-AC3D0E97A4DE}"/>
              </a:ext>
            </a:extLst>
          </p:cNvPr>
          <p:cNvSpPr txBox="1"/>
          <p:nvPr/>
        </p:nvSpPr>
        <p:spPr>
          <a:xfrm>
            <a:off x="6492240" y="1859788"/>
            <a:ext cx="863600" cy="1046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IN" sz="680" b="1">
                <a:solidFill>
                  <a:srgbClr val="33DDCF"/>
                </a:solidFill>
                <a:latin typeface="Calibri" panose="020F0502020204030204" pitchFamily="34" charset="0"/>
              </a:rPr>
              <a:t>OPEN SOURCE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90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CONTROLS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7FAFC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Authorization gate, circuit breaker, redaction and ledger</a:t>
            </a:r>
            <a:endParaRPr lang="en-US" sz="2700" dirty="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06070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2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implementation checks target scope inside the adapters rather than relying on caller discipline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3840480" cy="2048256"/>
          </a:xfrm>
          <a:prstGeom prst="roundRect">
            <a:avLst>
              <a:gd name="adj" fmla="val 1786"/>
            </a:avLst>
          </a:prstGeom>
          <a:solidFill>
            <a:srgbClr val="0B1C34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04672" y="1828800"/>
            <a:ext cx="0" cy="1719072"/>
          </a:xfrm>
          <a:prstGeom prst="line">
            <a:avLst/>
          </a:prstGeom>
          <a:noFill/>
          <a:ln w="31750">
            <a:solidFill>
              <a:srgbClr val="27D8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69264" y="1999488"/>
            <a:ext cx="3364992" cy="1548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IN" sz="95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01</a:t>
            </a:r>
            <a:r>
              <a:rPr lang="en-IN" sz="950">
                <a:solidFill>
                  <a:srgbClr val="6F8EA9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IN" sz="95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allowed = cfg.get(</a:t>
            </a:r>
            <a:r>
              <a:rPr lang="en-IN" sz="950">
                <a:solidFill>
                  <a:srgbClr val="FFCA80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"allowed_hosts"</a:t>
            </a:r>
            <a:r>
              <a:rPr lang="en-IN" sz="95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, [])</a:t>
            </a:r>
          </a:p>
          <a:p>
            <a:pPr marL="0" indent="0">
              <a:buNone/>
            </a:pPr>
            <a:r>
              <a:rPr lang="en-IN" sz="95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02</a:t>
            </a:r>
            <a:r>
              <a:rPr lang="en-IN" sz="95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host = urlparse(base_url).netloc</a:t>
            </a:r>
          </a:p>
          <a:p>
            <a:pPr marL="0" indent="0">
              <a:buNone/>
            </a:pPr>
            <a:r>
              <a:rPr lang="en-IN" sz="95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03</a:t>
            </a:r>
            <a:r>
              <a:rPr lang="en-IN" sz="95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IN" sz="950">
                <a:solidFill>
                  <a:srgbClr val="79E0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if</a:t>
            </a:r>
            <a:r>
              <a:rPr lang="en-IN" sz="95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host </a:t>
            </a:r>
            <a:r>
              <a:rPr lang="en-IN" sz="950">
                <a:solidFill>
                  <a:srgbClr val="79E0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not</a:t>
            </a:r>
            <a:r>
              <a:rPr lang="en-IN" sz="95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</a:t>
            </a:r>
            <a:r>
              <a:rPr lang="en-IN" sz="950">
                <a:solidFill>
                  <a:srgbClr val="79E0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in</a:t>
            </a:r>
            <a:r>
              <a:rPr lang="en-IN" sz="95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allowed:</a:t>
            </a:r>
          </a:p>
          <a:p>
            <a:pPr marL="0" indent="0">
              <a:buNone/>
            </a:pPr>
            <a:r>
              <a:rPr lang="en-IN" sz="95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04</a:t>
            </a:r>
            <a:r>
              <a:rPr lang="en-IN" sz="95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    </a:t>
            </a:r>
            <a:r>
              <a:rPr lang="en-IN" sz="950">
                <a:solidFill>
                  <a:srgbClr val="79E0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raise</a:t>
            </a:r>
            <a:r>
              <a:rPr lang="en-IN" sz="95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PermissionError(...)</a:t>
            </a:r>
            <a:endParaRPr lang="en-US" sz="950" dirty="0">
              <a:solidFill>
                <a:srgbClr val="F7FAFC"/>
              </a:solidFill>
              <a:latin typeface="Cascadia Code" panose="020B0609020000020004" pitchFamily="49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58368" y="3968496"/>
            <a:ext cx="3840480" cy="2084832"/>
          </a:xfrm>
          <a:prstGeom prst="roundRect">
            <a:avLst>
              <a:gd name="adj" fmla="val 1754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50976" y="426110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135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</a:t>
            </a:r>
            <a:endParaRPr lang="en-US" sz="920" dirty="0"/>
          </a:p>
        </p:txBody>
      </p:sp>
      <p:sp>
        <p:nvSpPr>
          <p:cNvPr id="10" name="Text 8"/>
          <p:cNvSpPr/>
          <p:nvPr/>
        </p:nvSpPr>
        <p:spPr>
          <a:xfrm>
            <a:off x="950976" y="4663440"/>
            <a:ext cx="32369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520" b="1" dirty="0">
                <a:solidFill>
                  <a:srgbClr val="F7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shipped configuration allows only localhost:8000. A hosted target needs an explicit hostname and written authorization.</a:t>
            </a:r>
            <a:endParaRPr lang="en-US" sz="1520" dirty="0"/>
          </a:p>
        </p:txBody>
      </p:sp>
      <p:sp>
        <p:nvSpPr>
          <p:cNvPr id="11" name="Shape 9"/>
          <p:cNvSpPr/>
          <p:nvPr/>
        </p:nvSpPr>
        <p:spPr>
          <a:xfrm>
            <a:off x="4773168" y="1664208"/>
            <a:ext cx="3108960" cy="4389120"/>
          </a:xfrm>
          <a:prstGeom prst="roundRect">
            <a:avLst>
              <a:gd name="adj" fmla="val 1176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65776" y="1956816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135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5065776" y="2414016"/>
            <a:ext cx="252374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consecutive target failures open the circuit and stop retries.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065776" y="349300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135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REDACTION</a:t>
            </a:r>
            <a:endParaRPr lang="en-US" sz="920" dirty="0"/>
          </a:p>
        </p:txBody>
      </p:sp>
      <p:sp>
        <p:nvSpPr>
          <p:cNvPr id="15" name="Text 13"/>
          <p:cNvSpPr/>
          <p:nvPr/>
        </p:nvSpPr>
        <p:spPr>
          <a:xfrm>
            <a:off x="5065776" y="3858768"/>
            <a:ext cx="252374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Pattern-based cleanup runs before transcript rows reach downstream analysis.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5065776" y="4901184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135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LEDGER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5065776" y="524865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records target mode and host.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8156448" y="1664208"/>
            <a:ext cx="3383280" cy="4389120"/>
          </a:xfrm>
          <a:prstGeom prst="roundRect">
            <a:avLst>
              <a:gd name="adj" fmla="val 1081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8449056" y="195681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135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BEHAVIOR</a:t>
            </a:r>
            <a:endParaRPr lang="en-US" sz="920" dirty="0"/>
          </a:p>
        </p:txBody>
      </p:sp>
      <p:sp>
        <p:nvSpPr>
          <p:cNvPr id="20" name="Text 18"/>
          <p:cNvSpPr/>
          <p:nvPr/>
        </p:nvSpPr>
        <p:spPr>
          <a:xfrm>
            <a:off x="8412480" y="2377440"/>
            <a:ext cx="2633472" cy="2560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2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Campaigns can resume without repeating completed seeds</a:t>
            </a:r>
            <a:endParaRPr lang="en-US" sz="1420" dirty="0"/>
          </a:p>
          <a:p>
            <a:r>
              <a:rPr lang="en-US" sz="142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 use timeout, retry and backoff</a:t>
            </a:r>
            <a:endParaRPr lang="en-US" sz="1420" dirty="0"/>
          </a:p>
          <a:p>
            <a:r>
              <a:rPr lang="en-US" sz="142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Revoked API targets are excluded from mutation analysis</a:t>
            </a:r>
            <a:endParaRPr lang="en-US" sz="1420" dirty="0"/>
          </a:p>
          <a:p>
            <a:r>
              <a:rPr lang="en-US" sz="142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remains generic and requires human review</a:t>
            </a:r>
            <a:endParaRPr lang="en-US" sz="1420" dirty="0"/>
          </a:p>
        </p:txBody>
      </p:sp>
      <p:sp>
        <p:nvSpPr>
          <p:cNvPr id="21" name="Text 19"/>
          <p:cNvSpPr/>
          <p:nvPr/>
        </p:nvSpPr>
        <p:spPr>
          <a:xfrm>
            <a:off x="8449056" y="5212080"/>
            <a:ext cx="259689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is enforced in code, but authorization remains an organizational responsibility.</a:t>
            </a:r>
            <a:endParaRPr lang="en-US" sz="1150" dirty="0"/>
          </a:p>
        </p:txBody>
      </p:sp>
      <p:cxnSp>
        <p:nvCxnSpPr>
          <p:cNvPr id="22" name="CodexHeaderAccent">
            <a:extLst>
              <a:ext uri="{FF2B5EF4-FFF2-40B4-BE49-F238E27FC236}">
                <a16:creationId xmlns:a16="http://schemas.microsoft.com/office/drawing/2014/main" id="{4E3C5153-1721-D2C0-724C-67B1BDB79CF2}"/>
              </a:ext>
            </a:extLst>
          </p:cNvPr>
          <p:cNvCxnSpPr/>
          <p:nvPr/>
        </p:nvCxnSpPr>
        <p:spPr>
          <a:xfrm>
            <a:off x="558800" y="190500"/>
            <a:ext cx="457200" cy="0"/>
          </a:xfrm>
          <a:prstGeom prst="line">
            <a:avLst/>
          </a:prstGeom>
          <a:ln w="38100">
            <a:solidFill>
              <a:srgbClr val="33DD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F68113E-61A0-9C23-F24A-2F4C46183978}"/>
              </a:ext>
            </a:extLst>
          </p:cNvPr>
          <p:cNvCxnSpPr/>
          <p:nvPr/>
        </p:nvCxnSpPr>
        <p:spPr>
          <a:xfrm>
            <a:off x="558800" y="6515100"/>
            <a:ext cx="11074400" cy="0"/>
          </a:xfrm>
          <a:prstGeom prst="line">
            <a:avLst/>
          </a:prstGeom>
          <a:ln w="7620" cap="flat" cmpd="sng" algn="ctr">
            <a:solidFill>
              <a:srgbClr val="38537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odexSectionLabel">
            <a:extLst>
              <a:ext uri="{FF2B5EF4-FFF2-40B4-BE49-F238E27FC236}">
                <a16:creationId xmlns:a16="http://schemas.microsoft.com/office/drawing/2014/main" id="{7DB7165A-DF05-1049-1E17-D42EAAFDEDA2}"/>
              </a:ext>
            </a:extLst>
          </p:cNvPr>
          <p:cNvSpPr txBox="1"/>
          <p:nvPr/>
        </p:nvSpPr>
        <p:spPr>
          <a:xfrm>
            <a:off x="558800" y="6604000"/>
            <a:ext cx="2413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800" b="1">
                <a:solidFill>
                  <a:srgbClr val="33DDCF"/>
                </a:solidFill>
                <a:latin typeface="Calibri" panose="020F0502020204030204" pitchFamily="34" charset="0"/>
              </a:rPr>
              <a:t>AGENT AND SAFETY</a:t>
            </a:r>
          </a:p>
        </p:txBody>
      </p:sp>
      <p:sp>
        <p:nvSpPr>
          <p:cNvPr id="25" name="CodexNavContents">
            <a:hlinkClick r:id="rId3" action="ppaction://hlinksldjump"/>
            <a:extLst>
              <a:ext uri="{FF2B5EF4-FFF2-40B4-BE49-F238E27FC236}">
                <a16:creationId xmlns:a16="http://schemas.microsoft.com/office/drawing/2014/main" id="{0B40C920-6938-2DD9-F8B8-A4AC4CF7B923}"/>
              </a:ext>
            </a:extLst>
          </p:cNvPr>
          <p:cNvSpPr txBox="1"/>
          <p:nvPr/>
        </p:nvSpPr>
        <p:spPr>
          <a:xfrm>
            <a:off x="8763000" y="6604000"/>
            <a:ext cx="7366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CONTENTS</a:t>
            </a:r>
          </a:p>
        </p:txBody>
      </p:sp>
      <p:sp>
        <p:nvSpPr>
          <p:cNvPr id="26" name="CodexNavPrevious">
            <a:hlinkClick r:id="rId4" action="ppaction://hlinksldjump"/>
            <a:extLst>
              <a:ext uri="{FF2B5EF4-FFF2-40B4-BE49-F238E27FC236}">
                <a16:creationId xmlns:a16="http://schemas.microsoft.com/office/drawing/2014/main" id="{27D40E59-17D4-E25D-5CF8-FED532F2E7EF}"/>
              </a:ext>
            </a:extLst>
          </p:cNvPr>
          <p:cNvSpPr txBox="1"/>
          <p:nvPr/>
        </p:nvSpPr>
        <p:spPr>
          <a:xfrm>
            <a:off x="9588500" y="6604000"/>
            <a:ext cx="7112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PREVIOUS</a:t>
            </a:r>
          </a:p>
        </p:txBody>
      </p:sp>
      <p:sp>
        <p:nvSpPr>
          <p:cNvPr id="27" name="CodexNavNext">
            <a:hlinkClick r:id="rId5" action="ppaction://hlinksldjump"/>
            <a:extLst>
              <a:ext uri="{FF2B5EF4-FFF2-40B4-BE49-F238E27FC236}">
                <a16:creationId xmlns:a16="http://schemas.microsoft.com/office/drawing/2014/main" id="{C2DF6CED-0D6D-4B52-BC8E-348FA4C8F8B8}"/>
              </a:ext>
            </a:extLst>
          </p:cNvPr>
          <p:cNvSpPr txBox="1"/>
          <p:nvPr/>
        </p:nvSpPr>
        <p:spPr>
          <a:xfrm>
            <a:off x="10375900" y="6604000"/>
            <a:ext cx="4826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NEXT</a:t>
            </a:r>
          </a:p>
        </p:txBody>
      </p:sp>
      <p:sp>
        <p:nvSpPr>
          <p:cNvPr id="28" name="CodexPageNumber">
            <a:extLst>
              <a:ext uri="{FF2B5EF4-FFF2-40B4-BE49-F238E27FC236}">
                <a16:creationId xmlns:a16="http://schemas.microsoft.com/office/drawing/2014/main" id="{8201FE3C-44CC-586A-902B-EEC98D4587D2}"/>
              </a:ext>
            </a:extLst>
          </p:cNvPr>
          <p:cNvSpPr txBox="1"/>
          <p:nvPr/>
        </p:nvSpPr>
        <p:spPr>
          <a:xfrm>
            <a:off x="10972800" y="6604000"/>
            <a:ext cx="6604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IN" sz="820">
                <a:solidFill>
                  <a:srgbClr val="8295AE"/>
                </a:solidFill>
                <a:latin typeface="Cascadia Code" panose="020B0609020000020004" pitchFamily="49" charset="0"/>
              </a:rPr>
              <a:t>14 / 21</a:t>
            </a:r>
          </a:p>
        </p:txBody>
      </p:sp>
      <p:sp>
        <p:nvSpPr>
          <p:cNvPr id="29" name="CodexCodeTag11">
            <a:extLst>
              <a:ext uri="{FF2B5EF4-FFF2-40B4-BE49-F238E27FC236}">
                <a16:creationId xmlns:a16="http://schemas.microsoft.com/office/drawing/2014/main" id="{99BF716C-3D84-FF3B-3BF1-EA82E751DC15}"/>
              </a:ext>
            </a:extLst>
          </p:cNvPr>
          <p:cNvSpPr txBox="1"/>
          <p:nvPr/>
        </p:nvSpPr>
        <p:spPr>
          <a:xfrm>
            <a:off x="994664" y="1859788"/>
            <a:ext cx="914400" cy="1046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680" b="1">
                <a:solidFill>
                  <a:srgbClr val="33DDCF"/>
                </a:solidFill>
                <a:latin typeface="Calibri" panose="020F0502020204030204" pitchFamily="34" charset="0"/>
              </a:rPr>
              <a:t>CODE SNIPPET</a:t>
            </a:r>
          </a:p>
        </p:txBody>
      </p:sp>
      <p:sp>
        <p:nvSpPr>
          <p:cNvPr id="30" name="CodexCodeSource11">
            <a:hlinkClick r:id="rId6"/>
            <a:extLst>
              <a:ext uri="{FF2B5EF4-FFF2-40B4-BE49-F238E27FC236}">
                <a16:creationId xmlns:a16="http://schemas.microsoft.com/office/drawing/2014/main" id="{96BA7AC4-9219-18FC-CC49-6BE200C96B3E}"/>
              </a:ext>
            </a:extLst>
          </p:cNvPr>
          <p:cNvSpPr txBox="1"/>
          <p:nvPr/>
        </p:nvSpPr>
        <p:spPr>
          <a:xfrm>
            <a:off x="3419856" y="1859788"/>
            <a:ext cx="863600" cy="1046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IN" sz="680" b="1">
                <a:solidFill>
                  <a:srgbClr val="33DDCF"/>
                </a:solidFill>
                <a:latin typeface="Calibri" panose="020F0502020204030204" pitchFamily="34" charset="0"/>
              </a:rPr>
              <a:t>OPEN SOURCE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90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7FAFC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Campaign outputs and report metrics</a:t>
            </a:r>
            <a:endParaRPr lang="en-US" sz="2700" dirty="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06070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2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report summarizes the independent evaluation labels after transcript redaction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4791456" cy="4425696"/>
          </a:xfrm>
          <a:prstGeom prst="roundRect">
            <a:avLst>
              <a:gd name="adj" fmla="val 826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32688" y="19385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135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REPORT.JSON FIELDS</a:t>
            </a:r>
            <a:endParaRPr lang="en-US" sz="92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2304288"/>
          <a:ext cx="4187952" cy="3182112"/>
        </p:xfrm>
        <a:graphic>
          <a:graphicData uri="http://schemas.openxmlformats.org/drawingml/2006/table">
            <a:tbl>
              <a:tblPr/>
              <a:tblGrid>
                <a:gridCol w="19019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10" b="1" dirty="0">
                          <a:solidFill>
                            <a:srgbClr val="07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Field</a:t>
                      </a:r>
                      <a:endParaRPr lang="en-US" sz="101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D8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10" b="1" dirty="0">
                          <a:solidFill>
                            <a:srgbClr val="07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01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D8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total_attempts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Conversation outcomes after deduplication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full_violation_rate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labeled full violation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partial_compliance_rate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labeled partial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refusal_rate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 labeled refusal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flagged_for_human_review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Classifier and LLM-judge disagreement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single_judge_fallback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8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Whether the ensemble lacked an LLM judge</a:t>
                      </a:r>
                      <a:endParaRPr lang="en-US" sz="9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705856" y="1664208"/>
            <a:ext cx="5833872" cy="1499616"/>
          </a:xfrm>
          <a:prstGeom prst="roundRect">
            <a:avLst>
              <a:gd name="adj" fmla="val 2439"/>
            </a:avLst>
          </a:prstGeom>
          <a:solidFill>
            <a:srgbClr val="0B1C34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6"/>
          <p:cNvSpPr/>
          <p:nvPr/>
        </p:nvSpPr>
        <p:spPr>
          <a:xfrm>
            <a:off x="5852160" y="1828800"/>
            <a:ext cx="0" cy="1170432"/>
          </a:xfrm>
          <a:prstGeom prst="line">
            <a:avLst/>
          </a:prstGeom>
          <a:noFill/>
          <a:ln w="31750">
            <a:solidFill>
              <a:srgbClr val="27D8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016752" y="1999488"/>
            <a:ext cx="5358384" cy="999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IN" sz="112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01</a:t>
            </a:r>
            <a:r>
              <a:rPr lang="en-IN" sz="1120">
                <a:solidFill>
                  <a:srgbClr val="6F8EA9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IN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success_rate = count(</a:t>
            </a:r>
            <a:r>
              <a:rPr lang="en-IN" sz="1120">
                <a:solidFill>
                  <a:srgbClr val="FFCA80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"full_violation"</a:t>
            </a:r>
            <a:r>
              <a:rPr lang="en-IN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) / total</a:t>
            </a:r>
          </a:p>
          <a:p>
            <a:pPr marL="0" indent="0">
              <a:buNone/>
            </a:pPr>
            <a:r>
              <a:rPr lang="en-IN" sz="112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02</a:t>
            </a:r>
            <a:r>
              <a:rPr lang="en-IN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partial_rate = count(</a:t>
            </a:r>
            <a:r>
              <a:rPr lang="en-IN" sz="1120">
                <a:solidFill>
                  <a:srgbClr val="FFCA80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"partial_compliance"</a:t>
            </a:r>
            <a:r>
              <a:rPr lang="en-IN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) / total</a:t>
            </a:r>
          </a:p>
          <a:p>
            <a:pPr marL="0" indent="0">
              <a:buNone/>
            </a:pPr>
            <a:r>
              <a:rPr lang="en-IN" sz="112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03</a:t>
            </a:r>
            <a:r>
              <a:rPr lang="en-IN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review_flagged = sum(needs_human_review)</a:t>
            </a:r>
            <a:endParaRPr lang="en-US" sz="1120" dirty="0">
              <a:solidFill>
                <a:srgbClr val="F7FAFC"/>
              </a:solidFill>
              <a:latin typeface="Cascadia Code" panose="020B0609020000020004" pitchFamily="49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5705856" y="3456432"/>
            <a:ext cx="5833872" cy="2596896"/>
          </a:xfrm>
          <a:prstGeom prst="roundRect">
            <a:avLst>
              <a:gd name="adj" fmla="val 1408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998464" y="3749040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135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BOUNDARY</a:t>
            </a:r>
            <a:endParaRPr lang="en-US" sz="920" dirty="0"/>
          </a:p>
        </p:txBody>
      </p:sp>
      <p:sp>
        <p:nvSpPr>
          <p:cNvPr id="13" name="Text 10"/>
          <p:cNvSpPr/>
          <p:nvPr/>
        </p:nvSpPr>
        <p:spPr>
          <a:xfrm>
            <a:off x="5998464" y="4169664"/>
            <a:ext cx="517550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Reward, mean KL, judge validation accuracy and campaign ASR each measure a different part of the pipeline.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5998464" y="5010912"/>
            <a:ext cx="515721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8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them alone demonstrates transfer to an unseen target. That claim needs the separate held-out-target experiment.</a:t>
            </a:r>
            <a:endParaRPr lang="en-US" sz="1380" dirty="0"/>
          </a:p>
        </p:txBody>
      </p:sp>
      <p:cxnSp>
        <p:nvCxnSpPr>
          <p:cNvPr id="7" name="CodexHeaderAccent">
            <a:extLst>
              <a:ext uri="{FF2B5EF4-FFF2-40B4-BE49-F238E27FC236}">
                <a16:creationId xmlns:a16="http://schemas.microsoft.com/office/drawing/2014/main" id="{03E8706F-8D85-6D5A-3C60-826F22B1B30D}"/>
              </a:ext>
            </a:extLst>
          </p:cNvPr>
          <p:cNvCxnSpPr/>
          <p:nvPr/>
        </p:nvCxnSpPr>
        <p:spPr>
          <a:xfrm>
            <a:off x="558800" y="190500"/>
            <a:ext cx="457200" cy="0"/>
          </a:xfrm>
          <a:prstGeom prst="line">
            <a:avLst/>
          </a:prstGeom>
          <a:ln w="38100">
            <a:solidFill>
              <a:srgbClr val="33DD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F6CF72FA-6512-3036-9696-B519FC1A5F62}"/>
              </a:ext>
            </a:extLst>
          </p:cNvPr>
          <p:cNvCxnSpPr/>
          <p:nvPr/>
        </p:nvCxnSpPr>
        <p:spPr>
          <a:xfrm>
            <a:off x="558800" y="6515100"/>
            <a:ext cx="11074400" cy="0"/>
          </a:xfrm>
          <a:prstGeom prst="line">
            <a:avLst/>
          </a:prstGeom>
          <a:ln w="7620" cap="flat" cmpd="sng" algn="ctr">
            <a:solidFill>
              <a:srgbClr val="38537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dexSectionLabel">
            <a:extLst>
              <a:ext uri="{FF2B5EF4-FFF2-40B4-BE49-F238E27FC236}">
                <a16:creationId xmlns:a16="http://schemas.microsoft.com/office/drawing/2014/main" id="{F494997B-3F25-5BE2-A7EA-14CE72F33BAA}"/>
              </a:ext>
            </a:extLst>
          </p:cNvPr>
          <p:cNvSpPr txBox="1"/>
          <p:nvPr/>
        </p:nvSpPr>
        <p:spPr>
          <a:xfrm>
            <a:off x="558800" y="6604000"/>
            <a:ext cx="2413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800" b="1">
                <a:solidFill>
                  <a:srgbClr val="33DDCF"/>
                </a:solidFill>
                <a:latin typeface="Calibri" panose="020F0502020204030204" pitchFamily="34" charset="0"/>
              </a:rPr>
              <a:t>EVALUATION</a:t>
            </a:r>
          </a:p>
        </p:txBody>
      </p:sp>
      <p:sp>
        <p:nvSpPr>
          <p:cNvPr id="18" name="CodexNavContents">
            <a:hlinkClick r:id="rId3" action="ppaction://hlinksldjump"/>
            <a:extLst>
              <a:ext uri="{FF2B5EF4-FFF2-40B4-BE49-F238E27FC236}">
                <a16:creationId xmlns:a16="http://schemas.microsoft.com/office/drawing/2014/main" id="{ECE927DB-EB68-64E6-9A96-0A8BA4030D2B}"/>
              </a:ext>
            </a:extLst>
          </p:cNvPr>
          <p:cNvSpPr txBox="1"/>
          <p:nvPr/>
        </p:nvSpPr>
        <p:spPr>
          <a:xfrm>
            <a:off x="8763000" y="6604000"/>
            <a:ext cx="7366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CONTENTS</a:t>
            </a:r>
          </a:p>
        </p:txBody>
      </p:sp>
      <p:sp>
        <p:nvSpPr>
          <p:cNvPr id="19" name="CodexNavPrevious">
            <a:hlinkClick r:id="rId4" action="ppaction://hlinksldjump"/>
            <a:extLst>
              <a:ext uri="{FF2B5EF4-FFF2-40B4-BE49-F238E27FC236}">
                <a16:creationId xmlns:a16="http://schemas.microsoft.com/office/drawing/2014/main" id="{4EC80035-B464-46DF-63DF-62D7D833C5B1}"/>
              </a:ext>
            </a:extLst>
          </p:cNvPr>
          <p:cNvSpPr txBox="1"/>
          <p:nvPr/>
        </p:nvSpPr>
        <p:spPr>
          <a:xfrm>
            <a:off x="9588500" y="6604000"/>
            <a:ext cx="7112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PREVIOUS</a:t>
            </a:r>
          </a:p>
        </p:txBody>
      </p:sp>
      <p:sp>
        <p:nvSpPr>
          <p:cNvPr id="20" name="CodexNavNext">
            <a:hlinkClick r:id="rId5" action="ppaction://hlinksldjump"/>
            <a:extLst>
              <a:ext uri="{FF2B5EF4-FFF2-40B4-BE49-F238E27FC236}">
                <a16:creationId xmlns:a16="http://schemas.microsoft.com/office/drawing/2014/main" id="{37921A52-107E-072F-0080-CF1353495B34}"/>
              </a:ext>
            </a:extLst>
          </p:cNvPr>
          <p:cNvSpPr txBox="1"/>
          <p:nvPr/>
        </p:nvSpPr>
        <p:spPr>
          <a:xfrm>
            <a:off x="10375900" y="6604000"/>
            <a:ext cx="4826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NEXT</a:t>
            </a:r>
          </a:p>
        </p:txBody>
      </p:sp>
      <p:sp>
        <p:nvSpPr>
          <p:cNvPr id="21" name="CodexPageNumber">
            <a:extLst>
              <a:ext uri="{FF2B5EF4-FFF2-40B4-BE49-F238E27FC236}">
                <a16:creationId xmlns:a16="http://schemas.microsoft.com/office/drawing/2014/main" id="{ED8E0ADD-0043-8D5B-1B7F-534C7A86F1B8}"/>
              </a:ext>
            </a:extLst>
          </p:cNvPr>
          <p:cNvSpPr txBox="1"/>
          <p:nvPr/>
        </p:nvSpPr>
        <p:spPr>
          <a:xfrm>
            <a:off x="10972800" y="6604000"/>
            <a:ext cx="6604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IN" sz="820">
                <a:solidFill>
                  <a:srgbClr val="8295AE"/>
                </a:solidFill>
                <a:latin typeface="Cascadia Code" panose="020B0609020000020004" pitchFamily="49" charset="0"/>
              </a:rPr>
              <a:t>15 / 21</a:t>
            </a:r>
          </a:p>
        </p:txBody>
      </p:sp>
      <p:sp>
        <p:nvSpPr>
          <p:cNvPr id="22" name="CodexCodeTag12">
            <a:extLst>
              <a:ext uri="{FF2B5EF4-FFF2-40B4-BE49-F238E27FC236}">
                <a16:creationId xmlns:a16="http://schemas.microsoft.com/office/drawing/2014/main" id="{D8E8B4BC-4375-069D-0A6B-82342B98CA7D}"/>
              </a:ext>
            </a:extLst>
          </p:cNvPr>
          <p:cNvSpPr txBox="1"/>
          <p:nvPr/>
        </p:nvSpPr>
        <p:spPr>
          <a:xfrm>
            <a:off x="6042152" y="1859788"/>
            <a:ext cx="914400" cy="1046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680" b="1">
                <a:solidFill>
                  <a:srgbClr val="33DDCF"/>
                </a:solidFill>
                <a:latin typeface="Calibri" panose="020F0502020204030204" pitchFamily="34" charset="0"/>
              </a:rPr>
              <a:t>CODE SNIPPET</a:t>
            </a:r>
          </a:p>
        </p:txBody>
      </p:sp>
      <p:sp>
        <p:nvSpPr>
          <p:cNvPr id="23" name="CodexCodeSource12">
            <a:hlinkClick r:id="rId6"/>
            <a:extLst>
              <a:ext uri="{FF2B5EF4-FFF2-40B4-BE49-F238E27FC236}">
                <a16:creationId xmlns:a16="http://schemas.microsoft.com/office/drawing/2014/main" id="{9487E19D-F2B8-2271-6A39-1F34B9656CB9}"/>
              </a:ext>
            </a:extLst>
          </p:cNvPr>
          <p:cNvSpPr txBox="1"/>
          <p:nvPr/>
        </p:nvSpPr>
        <p:spPr>
          <a:xfrm>
            <a:off x="10460737" y="1859788"/>
            <a:ext cx="863600" cy="1046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IN" sz="680" b="1">
                <a:solidFill>
                  <a:srgbClr val="33DDCF"/>
                </a:solidFill>
                <a:latin typeface="Calibri" panose="020F0502020204030204" pitchFamily="34" charset="0"/>
              </a:rPr>
              <a:t>OPEN SOURCE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90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AND CLUSTERING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7FAFC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Embedding-based DBSCAN finds recurring strategy families</a:t>
            </a:r>
            <a:endParaRPr lang="en-US" sz="2700" dirty="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06070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2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number of strategy families is unknown, so density clustering avoids selecting k in advance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58368" y="1664208"/>
            <a:ext cx="5815584" cy="2761488"/>
          </a:xfrm>
          <a:prstGeom prst="roundRect">
            <a:avLst>
              <a:gd name="adj" fmla="val 1325"/>
            </a:avLst>
          </a:prstGeom>
          <a:solidFill>
            <a:srgbClr val="0B1C34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804672" y="1828800"/>
            <a:ext cx="0" cy="2432304"/>
          </a:xfrm>
          <a:prstGeom prst="line">
            <a:avLst/>
          </a:prstGeom>
          <a:noFill/>
          <a:ln w="31750">
            <a:solidFill>
              <a:srgbClr val="27D8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969264" y="1999488"/>
            <a:ext cx="5340096" cy="2261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01</a:t>
            </a:r>
            <a:r>
              <a:rPr lang="en-US" sz="1120">
                <a:solidFill>
                  <a:srgbClr val="6F8EA9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X = model.encode(texts, normalize_embeddings=</a:t>
            </a:r>
            <a:r>
              <a:rPr lang="en-US" sz="1120">
                <a:solidFill>
                  <a:srgbClr val="79E0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True</a:t>
            </a:r>
            <a:r>
              <a:rPr lang="en-US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marL="0" indent="0">
              <a:buNone/>
            </a:pPr>
            <a:r>
              <a:rPr lang="en-US" sz="112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02</a:t>
            </a:r>
            <a:r>
              <a:rPr lang="en-US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dist = </a:t>
            </a:r>
            <a:r>
              <a:rPr lang="en-US" sz="112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- X @ X.T</a:t>
            </a:r>
          </a:p>
          <a:p>
            <a:pPr marL="0" indent="0">
              <a:buNone/>
            </a:pPr>
            <a:r>
              <a:rPr lang="en-US" sz="112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03</a:t>
            </a:r>
            <a:r>
              <a:rPr lang="en-US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fill_diagonal(dist, </a:t>
            </a:r>
            <a:r>
              <a:rPr lang="en-US" sz="112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</a:t>
            </a:r>
            <a:r>
              <a:rPr lang="en-US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)</a:t>
            </a:r>
          </a:p>
          <a:p>
            <a:pPr marL="0" indent="0">
              <a:buNone/>
            </a:pPr>
            <a:r>
              <a:rPr lang="en-US" sz="112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04</a:t>
            </a:r>
            <a:r>
              <a:rPr lang="en-US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labels = DBSCAN(</a:t>
            </a:r>
          </a:p>
          <a:p>
            <a:pPr marL="0" indent="0">
              <a:buNone/>
            </a:pPr>
            <a:r>
              <a:rPr lang="en-US" sz="112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05</a:t>
            </a:r>
            <a:r>
              <a:rPr lang="en-US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    eps=</a:t>
            </a:r>
            <a:r>
              <a:rPr lang="en-US" sz="112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0.25</a:t>
            </a:r>
            <a:r>
              <a:rPr lang="en-US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, min_samples=</a:t>
            </a:r>
            <a:r>
              <a:rPr lang="en-US" sz="112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, metric=</a:t>
            </a:r>
            <a:r>
              <a:rPr lang="en-US" sz="1120">
                <a:solidFill>
                  <a:srgbClr val="FFCA80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"precomputed"</a:t>
            </a:r>
          </a:p>
          <a:p>
            <a:pPr marL="0" indent="0">
              <a:buNone/>
            </a:pPr>
            <a:r>
              <a:rPr lang="en-US" sz="112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06</a:t>
            </a:r>
            <a:r>
              <a:rPr lang="en-US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).fit_predict(dist)</a:t>
            </a:r>
            <a:endParaRPr lang="en-US" sz="1120" dirty="0">
              <a:solidFill>
                <a:srgbClr val="F7FAFC"/>
              </a:solidFill>
              <a:latin typeface="Cascadia Code" panose="020B0609020000020004" pitchFamily="49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58368" y="4700016"/>
            <a:ext cx="5815584" cy="1353312"/>
          </a:xfrm>
          <a:prstGeom prst="roundRect">
            <a:avLst>
              <a:gd name="adj" fmla="val 2703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69264" y="5047488"/>
            <a:ext cx="5193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Cosine distance works directly because the MiniLM embeddings are L2-normalized. DBSCAN assigns sparse points to noise label −1.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748272" y="1664208"/>
            <a:ext cx="4791456" cy="4389120"/>
          </a:xfrm>
          <a:prstGeom prst="roundRect">
            <a:avLst>
              <a:gd name="adj" fmla="val 833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7040880" y="1956816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135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REPORT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7022592" y="2377440"/>
            <a:ext cx="3895344" cy="2487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identifier and size</a:t>
            </a:r>
            <a:endParaRPr lang="en-US" sz="1500" dirty="0"/>
          </a:p>
          <a:p>
            <a:r>
              <a:rPr lang="en-US" sz="15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Techniques represented in the cluster</a:t>
            </a:r>
            <a:endParaRPr lang="en-US" sz="1500" dirty="0"/>
          </a:p>
          <a:p>
            <a:r>
              <a:rPr lang="en-US" sz="15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models reached by cluster members</a:t>
            </a:r>
            <a:endParaRPr lang="en-US" sz="1500" dirty="0"/>
          </a:p>
          <a:p>
            <a:r>
              <a:rPr lang="en-US" sz="15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indicator for cross-target occurrence</a:t>
            </a:r>
            <a:endParaRPr lang="en-US" sz="1500" dirty="0"/>
          </a:p>
          <a:p>
            <a:r>
              <a:rPr lang="en-US" sz="15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shortened example for reviewer inspection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40880" y="5120640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distinction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040880" y="5431536"/>
            <a:ext cx="3840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2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Cross-target occurrence is descriptive. The transfer evaluator measures ASR degradation on held-out targets.</a:t>
            </a:r>
            <a:endParaRPr lang="en-US" sz="1220" dirty="0"/>
          </a:p>
        </p:txBody>
      </p:sp>
      <p:cxnSp>
        <p:nvCxnSpPr>
          <p:cNvPr id="15" name="CodexHeaderAccent">
            <a:extLst>
              <a:ext uri="{FF2B5EF4-FFF2-40B4-BE49-F238E27FC236}">
                <a16:creationId xmlns:a16="http://schemas.microsoft.com/office/drawing/2014/main" id="{3C0993B8-3364-BCD8-4428-17B70A602F7F}"/>
              </a:ext>
            </a:extLst>
          </p:cNvPr>
          <p:cNvCxnSpPr/>
          <p:nvPr/>
        </p:nvCxnSpPr>
        <p:spPr>
          <a:xfrm>
            <a:off x="558800" y="190500"/>
            <a:ext cx="457200" cy="0"/>
          </a:xfrm>
          <a:prstGeom prst="line">
            <a:avLst/>
          </a:prstGeom>
          <a:ln w="38100">
            <a:solidFill>
              <a:srgbClr val="33DD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9EE05D6-D625-721E-8401-76DB218CE33A}"/>
              </a:ext>
            </a:extLst>
          </p:cNvPr>
          <p:cNvCxnSpPr/>
          <p:nvPr/>
        </p:nvCxnSpPr>
        <p:spPr>
          <a:xfrm>
            <a:off x="558800" y="6515100"/>
            <a:ext cx="11074400" cy="0"/>
          </a:xfrm>
          <a:prstGeom prst="line">
            <a:avLst/>
          </a:prstGeom>
          <a:ln w="7620" cap="flat" cmpd="sng" algn="ctr">
            <a:solidFill>
              <a:srgbClr val="38537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dexSectionLabel">
            <a:extLst>
              <a:ext uri="{FF2B5EF4-FFF2-40B4-BE49-F238E27FC236}">
                <a16:creationId xmlns:a16="http://schemas.microsoft.com/office/drawing/2014/main" id="{EE181A4A-5B1D-B6F7-0A77-CEA73694DE2B}"/>
              </a:ext>
            </a:extLst>
          </p:cNvPr>
          <p:cNvSpPr txBox="1"/>
          <p:nvPr/>
        </p:nvSpPr>
        <p:spPr>
          <a:xfrm>
            <a:off x="558800" y="6604000"/>
            <a:ext cx="2413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800" b="1">
                <a:solidFill>
                  <a:srgbClr val="33DDCF"/>
                </a:solidFill>
                <a:latin typeface="Calibri" panose="020F0502020204030204" pitchFamily="34" charset="0"/>
              </a:rPr>
              <a:t>EVALUATION</a:t>
            </a:r>
          </a:p>
        </p:txBody>
      </p:sp>
      <p:sp>
        <p:nvSpPr>
          <p:cNvPr id="18" name="CodexNavContents">
            <a:hlinkClick r:id="rId3" action="ppaction://hlinksldjump"/>
            <a:extLst>
              <a:ext uri="{FF2B5EF4-FFF2-40B4-BE49-F238E27FC236}">
                <a16:creationId xmlns:a16="http://schemas.microsoft.com/office/drawing/2014/main" id="{5C1FE6B9-CF8A-5166-244E-4C9D5B694CE2}"/>
              </a:ext>
            </a:extLst>
          </p:cNvPr>
          <p:cNvSpPr txBox="1"/>
          <p:nvPr/>
        </p:nvSpPr>
        <p:spPr>
          <a:xfrm>
            <a:off x="8763000" y="6604000"/>
            <a:ext cx="7366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CONTENTS</a:t>
            </a:r>
          </a:p>
        </p:txBody>
      </p:sp>
      <p:sp>
        <p:nvSpPr>
          <p:cNvPr id="19" name="CodexNavPrevious">
            <a:hlinkClick r:id="rId4" action="ppaction://hlinksldjump"/>
            <a:extLst>
              <a:ext uri="{FF2B5EF4-FFF2-40B4-BE49-F238E27FC236}">
                <a16:creationId xmlns:a16="http://schemas.microsoft.com/office/drawing/2014/main" id="{E416E31F-12F0-9C00-7136-BD16ECE414C2}"/>
              </a:ext>
            </a:extLst>
          </p:cNvPr>
          <p:cNvSpPr txBox="1"/>
          <p:nvPr/>
        </p:nvSpPr>
        <p:spPr>
          <a:xfrm>
            <a:off x="9588500" y="6604000"/>
            <a:ext cx="7112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PREVIOUS</a:t>
            </a:r>
          </a:p>
        </p:txBody>
      </p:sp>
      <p:sp>
        <p:nvSpPr>
          <p:cNvPr id="20" name="CodexNavNext">
            <a:hlinkClick r:id="rId5" action="ppaction://hlinksldjump"/>
            <a:extLst>
              <a:ext uri="{FF2B5EF4-FFF2-40B4-BE49-F238E27FC236}">
                <a16:creationId xmlns:a16="http://schemas.microsoft.com/office/drawing/2014/main" id="{516B3EC5-78E8-0FC2-250E-8AA19AD6CF0F}"/>
              </a:ext>
            </a:extLst>
          </p:cNvPr>
          <p:cNvSpPr txBox="1"/>
          <p:nvPr/>
        </p:nvSpPr>
        <p:spPr>
          <a:xfrm>
            <a:off x="10375900" y="6604000"/>
            <a:ext cx="4826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NEXT</a:t>
            </a:r>
          </a:p>
        </p:txBody>
      </p:sp>
      <p:sp>
        <p:nvSpPr>
          <p:cNvPr id="21" name="CodexPageNumber">
            <a:extLst>
              <a:ext uri="{FF2B5EF4-FFF2-40B4-BE49-F238E27FC236}">
                <a16:creationId xmlns:a16="http://schemas.microsoft.com/office/drawing/2014/main" id="{30BA5229-C7E8-53D3-69A6-92361B265543}"/>
              </a:ext>
            </a:extLst>
          </p:cNvPr>
          <p:cNvSpPr txBox="1"/>
          <p:nvPr/>
        </p:nvSpPr>
        <p:spPr>
          <a:xfrm>
            <a:off x="10972800" y="6604000"/>
            <a:ext cx="6604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IN" sz="820">
                <a:solidFill>
                  <a:srgbClr val="8295AE"/>
                </a:solidFill>
                <a:latin typeface="Cascadia Code" panose="020B0609020000020004" pitchFamily="49" charset="0"/>
              </a:rPr>
              <a:t>16 / 21</a:t>
            </a:r>
          </a:p>
        </p:txBody>
      </p:sp>
      <p:sp>
        <p:nvSpPr>
          <p:cNvPr id="22" name="CodexCodeTag13">
            <a:extLst>
              <a:ext uri="{FF2B5EF4-FFF2-40B4-BE49-F238E27FC236}">
                <a16:creationId xmlns:a16="http://schemas.microsoft.com/office/drawing/2014/main" id="{6B2D5CFF-03D8-B318-BC6C-0B95D7E7E099}"/>
              </a:ext>
            </a:extLst>
          </p:cNvPr>
          <p:cNvSpPr txBox="1"/>
          <p:nvPr/>
        </p:nvSpPr>
        <p:spPr>
          <a:xfrm>
            <a:off x="994664" y="1859788"/>
            <a:ext cx="914400" cy="1046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680" b="1">
                <a:solidFill>
                  <a:srgbClr val="33DDCF"/>
                </a:solidFill>
                <a:latin typeface="Calibri" panose="020F0502020204030204" pitchFamily="34" charset="0"/>
              </a:rPr>
              <a:t>CODE SNIPPET</a:t>
            </a:r>
          </a:p>
        </p:txBody>
      </p:sp>
      <p:sp>
        <p:nvSpPr>
          <p:cNvPr id="23" name="CodexCodeSource13">
            <a:hlinkClick r:id="rId6"/>
            <a:extLst>
              <a:ext uri="{FF2B5EF4-FFF2-40B4-BE49-F238E27FC236}">
                <a16:creationId xmlns:a16="http://schemas.microsoft.com/office/drawing/2014/main" id="{9F8AA8C0-70CB-9077-1F31-E3AABC57B94A}"/>
              </a:ext>
            </a:extLst>
          </p:cNvPr>
          <p:cNvSpPr txBox="1"/>
          <p:nvPr/>
        </p:nvSpPr>
        <p:spPr>
          <a:xfrm>
            <a:off x="5394960" y="1859788"/>
            <a:ext cx="863600" cy="1046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IN" sz="680" b="1">
                <a:solidFill>
                  <a:srgbClr val="33DDCF"/>
                </a:solidFill>
                <a:latin typeface="Calibri" panose="020F0502020204030204" pitchFamily="34" charset="0"/>
              </a:rPr>
              <a:t>OPEN SOURCE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90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7FAFC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Real-data baselines on held-out goal groups</a:t>
            </a:r>
            <a:endParaRPr lang="en-US" sz="2700" dirty="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06070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2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baselines validate the prepared dataset path; they are not the full PPO campaign result</a:t>
            </a:r>
            <a:endParaRPr lang="en-US" sz="125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658368" y="1645920"/>
          <a:ext cx="5102352" cy="29443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58368" y="4846320"/>
            <a:ext cx="5102352" cy="1207008"/>
          </a:xfrm>
          <a:prstGeom prst="roundRect">
            <a:avLst>
              <a:gd name="adj" fmla="val 3030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950976" y="5175504"/>
            <a:ext cx="45171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7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SVM performs best: accuracy 0.778 and macro F1 0.712 on 45 held-out rows.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6016752" y="1645920"/>
            <a:ext cx="5522976" cy="2231136"/>
          </a:xfrm>
          <a:prstGeom prst="roundRect">
            <a:avLst>
              <a:gd name="adj" fmla="val 1639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309360" y="19385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135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VOTE-FRACTION REGRESSION</a:t>
            </a:r>
            <a:endParaRPr lang="en-US" sz="92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91072" y="2304288"/>
          <a:ext cx="4919472" cy="1133856"/>
        </p:xfrm>
        <a:graphic>
          <a:graphicData uri="http://schemas.openxmlformats.org/drawingml/2006/table">
            <a:tbl>
              <a:tblPr/>
              <a:tblGrid>
                <a:gridCol w="21579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70" b="1" dirty="0">
                          <a:solidFill>
                            <a:srgbClr val="07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D8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70" b="1" dirty="0">
                          <a:solidFill>
                            <a:srgbClr val="07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D8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70" b="1" dirty="0">
                          <a:solidFill>
                            <a:srgbClr val="07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D8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70" b="1" dirty="0">
                          <a:solidFill>
                            <a:srgbClr val="07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07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D8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regression</a:t>
                      </a:r>
                      <a:endParaRPr lang="en-US" sz="10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0.234</a:t>
                      </a:r>
                      <a:endParaRPr lang="en-US" sz="10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0.311</a:t>
                      </a:r>
                      <a:endParaRPr lang="en-US" sz="10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0.514</a:t>
                      </a:r>
                      <a:endParaRPr lang="en-US" sz="10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</a:t>
                      </a:r>
                      <a:endParaRPr lang="en-US" sz="10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0.305</a:t>
                      </a:r>
                      <a:endParaRPr lang="en-US" sz="10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0.342</a:t>
                      </a:r>
                      <a:endParaRPr lang="en-US" sz="10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4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0.411</a:t>
                      </a:r>
                      <a:endParaRPr lang="en-US" sz="10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16752" y="4151376"/>
            <a:ext cx="5522976" cy="2209800"/>
          </a:xfrm>
          <a:prstGeom prst="roundRect">
            <a:avLst>
              <a:gd name="adj" fmla="val 1429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8"/>
          <p:cNvSpPr/>
          <p:nvPr/>
        </p:nvSpPr>
        <p:spPr>
          <a:xfrm>
            <a:off x="6309360" y="4443984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135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CANDIDATE JUDGES VS HUMAN MAJORITY</a:t>
            </a:r>
            <a:endParaRPr lang="en-US" sz="920" dirty="0"/>
          </a:p>
        </p:txBody>
      </p:sp>
      <p:graphicFrame>
        <p:nvGraphicFramePr>
          <p:cNvPr id="3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2967888"/>
              </p:ext>
            </p:extLst>
          </p:nvPr>
        </p:nvGraphicFramePr>
        <p:xfrm>
          <a:off x="6291072" y="4791456"/>
          <a:ext cx="4919472" cy="987552"/>
        </p:xfrm>
        <a:graphic>
          <a:graphicData uri="http://schemas.openxmlformats.org/drawingml/2006/table">
            <a:tbl>
              <a:tblPr/>
              <a:tblGrid>
                <a:gridCol w="3154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47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21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7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Judge labels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D8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7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D8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HarmBench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0.783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0.903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LlamaGuard2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0.877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Llama-3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0.907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0" name="CodexHeaderAccent">
            <a:extLst>
              <a:ext uri="{FF2B5EF4-FFF2-40B4-BE49-F238E27FC236}">
                <a16:creationId xmlns:a16="http://schemas.microsoft.com/office/drawing/2014/main" id="{7B0CAE8F-663C-0A57-A0D5-5BAC00E88C1A}"/>
              </a:ext>
            </a:extLst>
          </p:cNvPr>
          <p:cNvCxnSpPr/>
          <p:nvPr/>
        </p:nvCxnSpPr>
        <p:spPr>
          <a:xfrm>
            <a:off x="558800" y="190500"/>
            <a:ext cx="457200" cy="0"/>
          </a:xfrm>
          <a:prstGeom prst="line">
            <a:avLst/>
          </a:prstGeom>
          <a:ln w="38100">
            <a:solidFill>
              <a:srgbClr val="33DD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0A5D25C-DCC3-A808-AEAB-77019783E716}"/>
              </a:ext>
            </a:extLst>
          </p:cNvPr>
          <p:cNvCxnSpPr/>
          <p:nvPr/>
        </p:nvCxnSpPr>
        <p:spPr>
          <a:xfrm>
            <a:off x="558800" y="6515100"/>
            <a:ext cx="11074400" cy="0"/>
          </a:xfrm>
          <a:prstGeom prst="line">
            <a:avLst/>
          </a:prstGeom>
          <a:ln w="7620" cap="flat" cmpd="sng" algn="ctr">
            <a:solidFill>
              <a:srgbClr val="38537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dexSectionLabel">
            <a:extLst>
              <a:ext uri="{FF2B5EF4-FFF2-40B4-BE49-F238E27FC236}">
                <a16:creationId xmlns:a16="http://schemas.microsoft.com/office/drawing/2014/main" id="{A933A993-4DB7-33E1-45B9-60B99219D80F}"/>
              </a:ext>
            </a:extLst>
          </p:cNvPr>
          <p:cNvSpPr txBox="1"/>
          <p:nvPr/>
        </p:nvSpPr>
        <p:spPr>
          <a:xfrm>
            <a:off x="558800" y="6604000"/>
            <a:ext cx="2413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800" b="1">
                <a:solidFill>
                  <a:srgbClr val="33DDCF"/>
                </a:solidFill>
                <a:latin typeface="Calibri" panose="020F0502020204030204" pitchFamily="34" charset="0"/>
              </a:rPr>
              <a:t>EVALUATION</a:t>
            </a:r>
          </a:p>
        </p:txBody>
      </p:sp>
      <p:sp>
        <p:nvSpPr>
          <p:cNvPr id="15" name="CodexNavContents">
            <a:hlinkClick r:id="rId4" action="ppaction://hlinksldjump"/>
            <a:extLst>
              <a:ext uri="{FF2B5EF4-FFF2-40B4-BE49-F238E27FC236}">
                <a16:creationId xmlns:a16="http://schemas.microsoft.com/office/drawing/2014/main" id="{B2069315-3F3C-9E68-62B5-3009E5705F8E}"/>
              </a:ext>
            </a:extLst>
          </p:cNvPr>
          <p:cNvSpPr txBox="1"/>
          <p:nvPr/>
        </p:nvSpPr>
        <p:spPr>
          <a:xfrm>
            <a:off x="8763000" y="6604000"/>
            <a:ext cx="7366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CONTENTS</a:t>
            </a:r>
          </a:p>
        </p:txBody>
      </p:sp>
      <p:sp>
        <p:nvSpPr>
          <p:cNvPr id="16" name="CodexNavPrevious">
            <a:hlinkClick r:id="rId5" action="ppaction://hlinksldjump"/>
            <a:extLst>
              <a:ext uri="{FF2B5EF4-FFF2-40B4-BE49-F238E27FC236}">
                <a16:creationId xmlns:a16="http://schemas.microsoft.com/office/drawing/2014/main" id="{F335F066-4418-6EE4-784F-32F74A373920}"/>
              </a:ext>
            </a:extLst>
          </p:cNvPr>
          <p:cNvSpPr txBox="1"/>
          <p:nvPr/>
        </p:nvSpPr>
        <p:spPr>
          <a:xfrm>
            <a:off x="9588500" y="6604000"/>
            <a:ext cx="7112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PREVIOUS</a:t>
            </a:r>
          </a:p>
        </p:txBody>
      </p:sp>
      <p:sp>
        <p:nvSpPr>
          <p:cNvPr id="18" name="CodexNavNext">
            <a:hlinkClick r:id="rId6" action="ppaction://hlinksldjump"/>
            <a:extLst>
              <a:ext uri="{FF2B5EF4-FFF2-40B4-BE49-F238E27FC236}">
                <a16:creationId xmlns:a16="http://schemas.microsoft.com/office/drawing/2014/main" id="{C67B9ABF-D4C2-6334-C7AD-BDB0D696A9B6}"/>
              </a:ext>
            </a:extLst>
          </p:cNvPr>
          <p:cNvSpPr txBox="1"/>
          <p:nvPr/>
        </p:nvSpPr>
        <p:spPr>
          <a:xfrm>
            <a:off x="10375900" y="6604000"/>
            <a:ext cx="4826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NEXT</a:t>
            </a:r>
          </a:p>
        </p:txBody>
      </p:sp>
      <p:sp>
        <p:nvSpPr>
          <p:cNvPr id="19" name="CodexPageNumber">
            <a:extLst>
              <a:ext uri="{FF2B5EF4-FFF2-40B4-BE49-F238E27FC236}">
                <a16:creationId xmlns:a16="http://schemas.microsoft.com/office/drawing/2014/main" id="{9B5BBF9F-0EDE-AE78-5206-7A76AE5E3066}"/>
              </a:ext>
            </a:extLst>
          </p:cNvPr>
          <p:cNvSpPr txBox="1"/>
          <p:nvPr/>
        </p:nvSpPr>
        <p:spPr>
          <a:xfrm>
            <a:off x="10972800" y="6604000"/>
            <a:ext cx="6604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IN" sz="820">
                <a:solidFill>
                  <a:srgbClr val="8295AE"/>
                </a:solidFill>
                <a:latin typeface="Cascadia Code" panose="020B0609020000020004" pitchFamily="49" charset="0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90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7FAFC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Held-out-target transfer evaluation</a:t>
            </a:r>
            <a:endParaRPr lang="en-US" sz="2700" dirty="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06070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2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attacker checkpoint must run against a training target and at least one unseen authorized target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3657600" cy="4443984"/>
          </a:xfrm>
          <a:prstGeom prst="roundRect">
            <a:avLst>
              <a:gd name="adj" fmla="val 1000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32688" y="193852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135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914400" y="2395728"/>
            <a:ext cx="30723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7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ASR = successful conversations / all conversations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328416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Degradation = ASRtrain − ASRheld-out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307238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7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ratio = ASRheld-out / ASRtrain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32688" y="5065776"/>
            <a:ext cx="3035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Conversation-level deduplication prevents longer transcripts from receiving extra weight.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572000" y="1664208"/>
            <a:ext cx="6967728" cy="2157984"/>
          </a:xfrm>
          <a:prstGeom prst="roundRect">
            <a:avLst>
              <a:gd name="adj" fmla="val 1695"/>
            </a:avLst>
          </a:prstGeom>
          <a:solidFill>
            <a:srgbClr val="0B1C34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4718304" y="1828800"/>
            <a:ext cx="0" cy="1828800"/>
          </a:xfrm>
          <a:prstGeom prst="line">
            <a:avLst/>
          </a:prstGeom>
          <a:noFill/>
          <a:ln w="31750">
            <a:solidFill>
              <a:srgbClr val="27D8C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4882896" y="1999488"/>
            <a:ext cx="6492240" cy="16581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12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01</a:t>
            </a:r>
            <a:r>
              <a:rPr lang="en-US" sz="1120">
                <a:solidFill>
                  <a:srgbClr val="6F8EA9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</a:t>
            </a:r>
            <a:r>
              <a:rPr lang="en-US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train_asr = metrics[train_target][</a:t>
            </a:r>
            <a:r>
              <a:rPr lang="en-US" sz="1120">
                <a:solidFill>
                  <a:srgbClr val="FFCA80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"attack_success_rate"</a:t>
            </a:r>
            <a:r>
              <a:rPr lang="en-US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]</a:t>
            </a:r>
          </a:p>
          <a:p>
            <a:pPr marL="0" indent="0">
              <a:buNone/>
            </a:pPr>
            <a:r>
              <a:rPr lang="en-US" sz="112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02</a:t>
            </a:r>
            <a:r>
              <a:rPr lang="en-US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held_asr = metrics[held_target][</a:t>
            </a:r>
            <a:r>
              <a:rPr lang="en-US" sz="1120">
                <a:solidFill>
                  <a:srgbClr val="FFCA80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"attack_success_rate"</a:t>
            </a:r>
            <a:r>
              <a:rPr lang="en-US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]</a:t>
            </a:r>
          </a:p>
          <a:p>
            <a:pPr marL="0" indent="0">
              <a:buNone/>
            </a:pPr>
            <a:r>
              <a:rPr lang="en-US" sz="112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03</a:t>
            </a:r>
            <a:r>
              <a:rPr lang="en-US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</a:t>
            </a:r>
          </a:p>
          <a:p>
            <a:pPr marL="0" indent="0">
              <a:buNone/>
            </a:pPr>
            <a:r>
              <a:rPr lang="en-US" sz="112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04</a:t>
            </a:r>
            <a:r>
              <a:rPr lang="en-US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degradation = train_asr - held_asr</a:t>
            </a:r>
          </a:p>
          <a:p>
            <a:pPr marL="0" indent="0">
              <a:buNone/>
            </a:pPr>
            <a:r>
              <a:rPr lang="en-US" sz="1120">
                <a:solidFill>
                  <a:srgbClr val="C8A6FF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05</a:t>
            </a:r>
            <a:r>
              <a:rPr lang="en-US" sz="1120">
                <a:solidFill>
                  <a:srgbClr val="F7FAFC"/>
                </a:solidFill>
                <a:latin typeface="Cascadia Code" panose="020B0609020000020004" pitchFamily="49" charset="0"/>
                <a:ea typeface="Consolas" pitchFamily="34" charset="-122"/>
                <a:cs typeface="Consolas" pitchFamily="34" charset="-120"/>
              </a:rPr>
              <a:t>  ratio = held_asr / train_asr</a:t>
            </a:r>
            <a:endParaRPr lang="en-US" sz="1120" dirty="0">
              <a:solidFill>
                <a:srgbClr val="F7FAFC"/>
              </a:solidFill>
              <a:latin typeface="Cascadia Code" panose="020B0609020000020004" pitchFamily="49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0" y="4096512"/>
            <a:ext cx="6967728" cy="1956816"/>
          </a:xfrm>
          <a:prstGeom prst="roundRect">
            <a:avLst>
              <a:gd name="adj" fmla="val 1869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64608" y="43891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135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EXPERIMENT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4846320" y="4736592"/>
            <a:ext cx="6144768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37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one attacker checkpoint after training on target A</a:t>
            </a:r>
            <a:endParaRPr lang="en-US" sz="1370" dirty="0"/>
          </a:p>
          <a:p>
            <a:r>
              <a:rPr lang="en-US" sz="137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same seed set against unseen target B</a:t>
            </a:r>
            <a:endParaRPr lang="en-US" sz="1370" dirty="0"/>
          </a:p>
          <a:p>
            <a:r>
              <a:rPr lang="en-US" sz="137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independent Eval Judge for both targets</a:t>
            </a:r>
            <a:endParaRPr lang="en-US" sz="1370" dirty="0"/>
          </a:p>
          <a:p>
            <a:r>
              <a:rPr lang="en-US" sz="137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ASR with degradation and transfer ratio</a:t>
            </a:r>
            <a:endParaRPr lang="en-US" sz="1370" dirty="0"/>
          </a:p>
        </p:txBody>
      </p:sp>
      <p:sp>
        <p:nvSpPr>
          <p:cNvPr id="17" name="Text 15"/>
          <p:cNvSpPr/>
          <p:nvPr/>
        </p:nvSpPr>
        <p:spPr>
          <a:xfrm>
            <a:off x="566928" y="636422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30" i="1" dirty="0">
                <a:solidFill>
                  <a:srgbClr val="82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transfer number is claimed yet because no second authorized target campaign was supplied.</a:t>
            </a:r>
            <a:endParaRPr lang="en-US" sz="830" dirty="0"/>
          </a:p>
        </p:txBody>
      </p:sp>
      <p:cxnSp>
        <p:nvCxnSpPr>
          <p:cNvPr id="18" name="CodexHeaderAccent">
            <a:extLst>
              <a:ext uri="{FF2B5EF4-FFF2-40B4-BE49-F238E27FC236}">
                <a16:creationId xmlns:a16="http://schemas.microsoft.com/office/drawing/2014/main" id="{608091AE-961E-4FCB-746B-867881A9926B}"/>
              </a:ext>
            </a:extLst>
          </p:cNvPr>
          <p:cNvCxnSpPr/>
          <p:nvPr/>
        </p:nvCxnSpPr>
        <p:spPr>
          <a:xfrm>
            <a:off x="558800" y="190500"/>
            <a:ext cx="457200" cy="0"/>
          </a:xfrm>
          <a:prstGeom prst="line">
            <a:avLst/>
          </a:prstGeom>
          <a:ln w="38100">
            <a:solidFill>
              <a:srgbClr val="33DD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D6E58D9-CA16-C9D5-8278-F653EE1DBD3F}"/>
              </a:ext>
            </a:extLst>
          </p:cNvPr>
          <p:cNvCxnSpPr/>
          <p:nvPr/>
        </p:nvCxnSpPr>
        <p:spPr>
          <a:xfrm>
            <a:off x="558800" y="6515100"/>
            <a:ext cx="11074400" cy="0"/>
          </a:xfrm>
          <a:prstGeom prst="line">
            <a:avLst/>
          </a:prstGeom>
          <a:ln w="7620" cap="flat" cmpd="sng" algn="ctr">
            <a:solidFill>
              <a:srgbClr val="38537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CodexSectionLabel">
            <a:extLst>
              <a:ext uri="{FF2B5EF4-FFF2-40B4-BE49-F238E27FC236}">
                <a16:creationId xmlns:a16="http://schemas.microsoft.com/office/drawing/2014/main" id="{DC2F6A5F-9993-547E-0378-4FB66FA64670}"/>
              </a:ext>
            </a:extLst>
          </p:cNvPr>
          <p:cNvSpPr txBox="1"/>
          <p:nvPr/>
        </p:nvSpPr>
        <p:spPr>
          <a:xfrm>
            <a:off x="558800" y="6604000"/>
            <a:ext cx="2413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800" b="1">
                <a:solidFill>
                  <a:srgbClr val="33DDCF"/>
                </a:solidFill>
                <a:latin typeface="Calibri" panose="020F0502020204030204" pitchFamily="34" charset="0"/>
              </a:rPr>
              <a:t>EVALUATION</a:t>
            </a:r>
          </a:p>
        </p:txBody>
      </p:sp>
      <p:sp>
        <p:nvSpPr>
          <p:cNvPr id="21" name="CodexNavContents">
            <a:hlinkClick r:id="rId3" action="ppaction://hlinksldjump"/>
            <a:extLst>
              <a:ext uri="{FF2B5EF4-FFF2-40B4-BE49-F238E27FC236}">
                <a16:creationId xmlns:a16="http://schemas.microsoft.com/office/drawing/2014/main" id="{7E2B7F6A-D7C5-3116-A6BF-89B97B8F4DF1}"/>
              </a:ext>
            </a:extLst>
          </p:cNvPr>
          <p:cNvSpPr txBox="1"/>
          <p:nvPr/>
        </p:nvSpPr>
        <p:spPr>
          <a:xfrm>
            <a:off x="8763000" y="6604000"/>
            <a:ext cx="7366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CONTENTS</a:t>
            </a:r>
          </a:p>
        </p:txBody>
      </p:sp>
      <p:sp>
        <p:nvSpPr>
          <p:cNvPr id="22" name="CodexNavPrevious">
            <a:hlinkClick r:id="rId4" action="ppaction://hlinksldjump"/>
            <a:extLst>
              <a:ext uri="{FF2B5EF4-FFF2-40B4-BE49-F238E27FC236}">
                <a16:creationId xmlns:a16="http://schemas.microsoft.com/office/drawing/2014/main" id="{D77F6895-39B5-A1CC-56AB-E374576F3989}"/>
              </a:ext>
            </a:extLst>
          </p:cNvPr>
          <p:cNvSpPr txBox="1"/>
          <p:nvPr/>
        </p:nvSpPr>
        <p:spPr>
          <a:xfrm>
            <a:off x="9588500" y="6604000"/>
            <a:ext cx="7112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PREVIOUS</a:t>
            </a:r>
          </a:p>
        </p:txBody>
      </p:sp>
      <p:sp>
        <p:nvSpPr>
          <p:cNvPr id="23" name="CodexNavNext">
            <a:hlinkClick r:id="rId5" action="ppaction://hlinksldjump"/>
            <a:extLst>
              <a:ext uri="{FF2B5EF4-FFF2-40B4-BE49-F238E27FC236}">
                <a16:creationId xmlns:a16="http://schemas.microsoft.com/office/drawing/2014/main" id="{379053F6-5BDD-EA5D-7C63-10ACBA5F6223}"/>
              </a:ext>
            </a:extLst>
          </p:cNvPr>
          <p:cNvSpPr txBox="1"/>
          <p:nvPr/>
        </p:nvSpPr>
        <p:spPr>
          <a:xfrm>
            <a:off x="10375900" y="6604000"/>
            <a:ext cx="4826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NEXT</a:t>
            </a:r>
          </a:p>
        </p:txBody>
      </p:sp>
      <p:sp>
        <p:nvSpPr>
          <p:cNvPr id="24" name="CodexPageNumber">
            <a:extLst>
              <a:ext uri="{FF2B5EF4-FFF2-40B4-BE49-F238E27FC236}">
                <a16:creationId xmlns:a16="http://schemas.microsoft.com/office/drawing/2014/main" id="{03DFD16A-1F73-721C-A479-424A3DDE6F13}"/>
              </a:ext>
            </a:extLst>
          </p:cNvPr>
          <p:cNvSpPr txBox="1"/>
          <p:nvPr/>
        </p:nvSpPr>
        <p:spPr>
          <a:xfrm>
            <a:off x="10972800" y="6604000"/>
            <a:ext cx="6604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IN" sz="820">
                <a:solidFill>
                  <a:srgbClr val="8295AE"/>
                </a:solidFill>
                <a:latin typeface="Cascadia Code" panose="020B0609020000020004" pitchFamily="49" charset="0"/>
              </a:rPr>
              <a:t>18 / 21</a:t>
            </a:r>
          </a:p>
        </p:txBody>
      </p:sp>
      <p:sp>
        <p:nvSpPr>
          <p:cNvPr id="25" name="CodexCodeTag14">
            <a:extLst>
              <a:ext uri="{FF2B5EF4-FFF2-40B4-BE49-F238E27FC236}">
                <a16:creationId xmlns:a16="http://schemas.microsoft.com/office/drawing/2014/main" id="{C46DADC0-9916-3DC9-BAFD-E54960BC672B}"/>
              </a:ext>
            </a:extLst>
          </p:cNvPr>
          <p:cNvSpPr txBox="1"/>
          <p:nvPr/>
        </p:nvSpPr>
        <p:spPr>
          <a:xfrm>
            <a:off x="4908296" y="1859788"/>
            <a:ext cx="914400" cy="1046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680" b="1">
                <a:solidFill>
                  <a:srgbClr val="33DDCF"/>
                </a:solidFill>
                <a:latin typeface="Calibri" panose="020F0502020204030204" pitchFamily="34" charset="0"/>
              </a:rPr>
              <a:t>CODE SNIPPET</a:t>
            </a:r>
          </a:p>
        </p:txBody>
      </p:sp>
      <p:sp>
        <p:nvSpPr>
          <p:cNvPr id="26" name="CodexCodeSource14">
            <a:hlinkClick r:id="rId6"/>
            <a:extLst>
              <a:ext uri="{FF2B5EF4-FFF2-40B4-BE49-F238E27FC236}">
                <a16:creationId xmlns:a16="http://schemas.microsoft.com/office/drawing/2014/main" id="{0726A911-467E-BF19-8156-D8EC7E7F29BB}"/>
              </a:ext>
            </a:extLst>
          </p:cNvPr>
          <p:cNvSpPr txBox="1"/>
          <p:nvPr/>
        </p:nvSpPr>
        <p:spPr>
          <a:xfrm>
            <a:off x="10460737" y="1859788"/>
            <a:ext cx="863600" cy="104644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IN" sz="680" b="1">
                <a:solidFill>
                  <a:srgbClr val="33DDCF"/>
                </a:solidFill>
                <a:latin typeface="Calibri" panose="020F0502020204030204" pitchFamily="34" charset="0"/>
              </a:rPr>
              <a:t>OPEN SOURCE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90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7FAFC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Build order, commands and module ownership</a:t>
            </a:r>
            <a:endParaRPr lang="en-US" sz="2700" dirty="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06070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2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students explain the full pipeline; the emphasis only organizes preparation and viva practice</a:t>
            </a:r>
            <a:endParaRPr lang="en-US" sz="125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27632"/>
          <a:ext cx="6967728" cy="448056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3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7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D8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7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 or path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D8C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0714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D8C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scripts/prepare_jailbreakbench.py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Verify JBB files and create grouped judge splits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src/model/pretrain.py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Warm-start the base model or run optional scratch training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src/judge/train_judge.py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the three-class Reward Judge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src/attacker/rl_finetune.py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the value-head attacker with PPO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src/eval/run_campaign.py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an authorized redacted campaign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src/mutation/cluster_transcripts.py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 recurring strategy families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3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src/eval/transfer_eval.py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20" dirty="0">
                          <a:solidFill>
                            <a:srgbClr val="C8D4E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target A with held-out targets</a:t>
                      </a:r>
                      <a:endParaRPr lang="en-US" sz="102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2B42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C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882128" y="1627632"/>
            <a:ext cx="3657600" cy="4480560"/>
          </a:xfrm>
          <a:prstGeom prst="roundRect">
            <a:avLst>
              <a:gd name="adj" fmla="val 1000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8174736" y="1920240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135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ANANYA KAR EMPHASIS</a:t>
            </a:r>
            <a:endParaRPr lang="en-US" sz="920" dirty="0"/>
          </a:p>
        </p:txBody>
      </p:sp>
      <p:sp>
        <p:nvSpPr>
          <p:cNvPr id="8" name="Text 5"/>
          <p:cNvSpPr/>
          <p:nvPr/>
        </p:nvSpPr>
        <p:spPr>
          <a:xfrm>
            <a:off x="8174736" y="2340864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7FA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Data, base model and judges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156448" y="3255264"/>
            <a:ext cx="2798064" cy="1737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45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Pinned dataset preparation</a:t>
            </a:r>
            <a:endParaRPr lang="en-US" sz="1450" dirty="0"/>
          </a:p>
          <a:p>
            <a:r>
              <a:rPr lang="en-US" sz="145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Warm-start and scratch paths</a:t>
            </a:r>
            <a:endParaRPr lang="en-US" sz="1450" dirty="0"/>
          </a:p>
          <a:p>
            <a:r>
              <a:rPr lang="en-US" sz="145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and Eval Judge separation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174736" y="5248656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responsibility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174736" y="5541264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1240" b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deck covers every stage and uses the same codebase.</a:t>
            </a:r>
            <a:endParaRPr lang="en-US" sz="1240" dirty="0"/>
          </a:p>
        </p:txBody>
      </p:sp>
      <p:cxnSp>
        <p:nvCxnSpPr>
          <p:cNvPr id="5" name="CodexHeaderAccent">
            <a:extLst>
              <a:ext uri="{FF2B5EF4-FFF2-40B4-BE49-F238E27FC236}">
                <a16:creationId xmlns:a16="http://schemas.microsoft.com/office/drawing/2014/main" id="{8858CE75-9FBF-8820-DB9D-D801526968EA}"/>
              </a:ext>
            </a:extLst>
          </p:cNvPr>
          <p:cNvCxnSpPr/>
          <p:nvPr/>
        </p:nvCxnSpPr>
        <p:spPr>
          <a:xfrm>
            <a:off x="558800" y="190500"/>
            <a:ext cx="457200" cy="0"/>
          </a:xfrm>
          <a:prstGeom prst="line">
            <a:avLst/>
          </a:prstGeom>
          <a:ln w="38100">
            <a:solidFill>
              <a:srgbClr val="33DD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72C04A-3814-F222-615D-6E68C245A348}"/>
              </a:ext>
            </a:extLst>
          </p:cNvPr>
          <p:cNvCxnSpPr/>
          <p:nvPr/>
        </p:nvCxnSpPr>
        <p:spPr>
          <a:xfrm>
            <a:off x="558800" y="6515100"/>
            <a:ext cx="11074400" cy="0"/>
          </a:xfrm>
          <a:prstGeom prst="line">
            <a:avLst/>
          </a:prstGeom>
          <a:ln w="7620" cap="flat" cmpd="sng" algn="ctr">
            <a:solidFill>
              <a:srgbClr val="38537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odexSectionLabel">
            <a:extLst>
              <a:ext uri="{FF2B5EF4-FFF2-40B4-BE49-F238E27FC236}">
                <a16:creationId xmlns:a16="http://schemas.microsoft.com/office/drawing/2014/main" id="{988FCDC2-F9D5-16A0-7D3A-92A9DD5EB5E6}"/>
              </a:ext>
            </a:extLst>
          </p:cNvPr>
          <p:cNvSpPr txBox="1"/>
          <p:nvPr/>
        </p:nvSpPr>
        <p:spPr>
          <a:xfrm>
            <a:off x="558800" y="6604000"/>
            <a:ext cx="2413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800" b="1">
                <a:solidFill>
                  <a:srgbClr val="33DDCF"/>
                </a:solidFill>
                <a:latin typeface="Calibri" panose="020F0502020204030204" pitchFamily="34" charset="0"/>
              </a:rPr>
              <a:t>DELIVERY</a:t>
            </a:r>
          </a:p>
        </p:txBody>
      </p:sp>
      <p:sp>
        <p:nvSpPr>
          <p:cNvPr id="14" name="CodexNavContents">
            <a:hlinkClick r:id="rId3" action="ppaction://hlinksldjump"/>
            <a:extLst>
              <a:ext uri="{FF2B5EF4-FFF2-40B4-BE49-F238E27FC236}">
                <a16:creationId xmlns:a16="http://schemas.microsoft.com/office/drawing/2014/main" id="{341CFDEC-F0BF-6923-A96A-4BAE0DB83C16}"/>
              </a:ext>
            </a:extLst>
          </p:cNvPr>
          <p:cNvSpPr txBox="1"/>
          <p:nvPr/>
        </p:nvSpPr>
        <p:spPr>
          <a:xfrm>
            <a:off x="8763000" y="6604000"/>
            <a:ext cx="7366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CONTENTS</a:t>
            </a:r>
          </a:p>
        </p:txBody>
      </p:sp>
      <p:sp>
        <p:nvSpPr>
          <p:cNvPr id="15" name="CodexNavPrevious">
            <a:hlinkClick r:id="rId4" action="ppaction://hlinksldjump"/>
            <a:extLst>
              <a:ext uri="{FF2B5EF4-FFF2-40B4-BE49-F238E27FC236}">
                <a16:creationId xmlns:a16="http://schemas.microsoft.com/office/drawing/2014/main" id="{DCEC8B7F-DA31-061B-6402-33E997025504}"/>
              </a:ext>
            </a:extLst>
          </p:cNvPr>
          <p:cNvSpPr txBox="1"/>
          <p:nvPr/>
        </p:nvSpPr>
        <p:spPr>
          <a:xfrm>
            <a:off x="9588500" y="6604000"/>
            <a:ext cx="7112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PREVIOUS</a:t>
            </a:r>
          </a:p>
        </p:txBody>
      </p:sp>
      <p:sp>
        <p:nvSpPr>
          <p:cNvPr id="16" name="CodexNavNext">
            <a:hlinkClick r:id="rId5" action="ppaction://hlinksldjump"/>
            <a:extLst>
              <a:ext uri="{FF2B5EF4-FFF2-40B4-BE49-F238E27FC236}">
                <a16:creationId xmlns:a16="http://schemas.microsoft.com/office/drawing/2014/main" id="{60115753-254E-C8BF-FEF4-16E2778B1315}"/>
              </a:ext>
            </a:extLst>
          </p:cNvPr>
          <p:cNvSpPr txBox="1"/>
          <p:nvPr/>
        </p:nvSpPr>
        <p:spPr>
          <a:xfrm>
            <a:off x="10375900" y="6604000"/>
            <a:ext cx="4826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NEXT</a:t>
            </a:r>
          </a:p>
        </p:txBody>
      </p:sp>
      <p:sp>
        <p:nvSpPr>
          <p:cNvPr id="17" name="CodexPageNumber">
            <a:extLst>
              <a:ext uri="{FF2B5EF4-FFF2-40B4-BE49-F238E27FC236}">
                <a16:creationId xmlns:a16="http://schemas.microsoft.com/office/drawing/2014/main" id="{7E46134F-F202-9B6A-E144-295EF072EE81}"/>
              </a:ext>
            </a:extLst>
          </p:cNvPr>
          <p:cNvSpPr txBox="1"/>
          <p:nvPr/>
        </p:nvSpPr>
        <p:spPr>
          <a:xfrm>
            <a:off x="10972800" y="6604000"/>
            <a:ext cx="6604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IN" sz="820">
                <a:solidFill>
                  <a:srgbClr val="8295AE"/>
                </a:solidFill>
                <a:latin typeface="Cascadia Code" panose="020B0609020000020004" pitchFamily="49" charset="0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90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7FAFC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Validity threats and responsible-use boundary</a:t>
            </a:r>
            <a:endParaRPr lang="en-US" sz="2700" dirty="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06070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2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implementation is suitable for coursework and authorized research, but several claims still require larger experiments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321808" cy="4425696"/>
          </a:xfrm>
          <a:prstGeom prst="roundRect">
            <a:avLst>
              <a:gd name="adj" fmla="val 826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32688" y="1938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135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LIMITATIONS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914400" y="2359152"/>
            <a:ext cx="4608576" cy="2633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target per campaign</a:t>
            </a:r>
            <a:endParaRPr lang="en-US" sz="1500" dirty="0"/>
          </a:p>
          <a:p>
            <a:r>
              <a:rPr lang="en-US" sz="15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classifier window is limited to 512 tokens</a:t>
            </a:r>
            <a:endParaRPr lang="en-US" sz="1500" dirty="0"/>
          </a:p>
          <a:p>
            <a:r>
              <a:rPr lang="en-US" sz="15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partial class is a human-disagreement proxy</a:t>
            </a:r>
            <a:endParaRPr lang="en-US" sz="1500" dirty="0"/>
          </a:p>
          <a:p>
            <a:r>
              <a:rPr lang="en-US" sz="15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Pattern-based PII redaction cannot guarantee full removal</a:t>
            </a:r>
            <a:endParaRPr lang="en-US" sz="1500" dirty="0"/>
          </a:p>
          <a:p>
            <a:r>
              <a:rPr lang="en-US" sz="15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PPO training still requires model checkpoints and suitable compute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32688" y="532180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validation note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32688" y="5577840"/>
            <a:ext cx="4590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82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Real-data analysis and 16 non-Torch tests passed. Full Torch tests could not load c10.dll in this Windows environment.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6236208" y="1645920"/>
            <a:ext cx="5321808" cy="4425696"/>
          </a:xfrm>
          <a:prstGeom prst="roundRect">
            <a:avLst>
              <a:gd name="adj" fmla="val 826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528816" y="1938528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135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USE</a:t>
            </a:r>
            <a:endParaRPr lang="en-US" sz="920" dirty="0"/>
          </a:p>
        </p:txBody>
      </p:sp>
      <p:sp>
        <p:nvSpPr>
          <p:cNvPr id="12" name="Text 10"/>
          <p:cNvSpPr/>
          <p:nvPr/>
        </p:nvSpPr>
        <p:spPr>
          <a:xfrm>
            <a:off x="6510528" y="2359152"/>
            <a:ext cx="4590288" cy="2633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r>
              <a:rPr lang="en-US" sz="15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only models you own or have written permission to test</a:t>
            </a:r>
            <a:endParaRPr lang="en-US" sz="1500" dirty="0"/>
          </a:p>
          <a:p>
            <a:r>
              <a:rPr lang="en-US" sz="15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allowlist restrictive and preserve authorization records</a:t>
            </a:r>
            <a:endParaRPr lang="en-US" sz="1500" dirty="0"/>
          </a:p>
          <a:p>
            <a:r>
              <a:rPr lang="en-US" sz="15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execute code found in adversarial datasets</a:t>
            </a:r>
            <a:endParaRPr lang="en-US" sz="1500" dirty="0"/>
          </a:p>
          <a:p>
            <a:r>
              <a:rPr lang="en-US" sz="15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judge disagreement before accepting findings</a:t>
            </a:r>
            <a:endParaRPr lang="en-US" sz="1500" dirty="0"/>
          </a:p>
          <a:p>
            <a:r>
              <a:rPr lang="en-US" sz="1500" dirty="0">
                <a:solidFill>
                  <a:srgbClr val="C8D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transfer only after an unseen-target campaign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28816" y="532180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boundary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528816" y="5577840"/>
            <a:ext cx="4590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82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repository produces a generic safety report. It does not automate exploitation or vendor disclosure.</a:t>
            </a:r>
            <a:endParaRPr lang="en-US" sz="1120" dirty="0"/>
          </a:p>
        </p:txBody>
      </p:sp>
      <p:cxnSp>
        <p:nvCxnSpPr>
          <p:cNvPr id="15" name="CodexHeaderAccent">
            <a:extLst>
              <a:ext uri="{FF2B5EF4-FFF2-40B4-BE49-F238E27FC236}">
                <a16:creationId xmlns:a16="http://schemas.microsoft.com/office/drawing/2014/main" id="{07D026C6-A400-1003-7E47-4CFC0FBA8BDE}"/>
              </a:ext>
            </a:extLst>
          </p:cNvPr>
          <p:cNvCxnSpPr/>
          <p:nvPr/>
        </p:nvCxnSpPr>
        <p:spPr>
          <a:xfrm>
            <a:off x="558800" y="190500"/>
            <a:ext cx="457200" cy="0"/>
          </a:xfrm>
          <a:prstGeom prst="line">
            <a:avLst/>
          </a:prstGeom>
          <a:ln w="38100">
            <a:solidFill>
              <a:srgbClr val="33DD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155801F-229D-3D55-E2AE-3D3BB30AEFE7}"/>
              </a:ext>
            </a:extLst>
          </p:cNvPr>
          <p:cNvCxnSpPr/>
          <p:nvPr/>
        </p:nvCxnSpPr>
        <p:spPr>
          <a:xfrm>
            <a:off x="558800" y="6515100"/>
            <a:ext cx="11074400" cy="0"/>
          </a:xfrm>
          <a:prstGeom prst="line">
            <a:avLst/>
          </a:prstGeom>
          <a:ln w="7620" cap="flat" cmpd="sng" algn="ctr">
            <a:solidFill>
              <a:srgbClr val="38537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CodexSectionLabel">
            <a:extLst>
              <a:ext uri="{FF2B5EF4-FFF2-40B4-BE49-F238E27FC236}">
                <a16:creationId xmlns:a16="http://schemas.microsoft.com/office/drawing/2014/main" id="{9DBEBEC7-D2E4-AB1A-1F63-DE224B361230}"/>
              </a:ext>
            </a:extLst>
          </p:cNvPr>
          <p:cNvSpPr txBox="1"/>
          <p:nvPr/>
        </p:nvSpPr>
        <p:spPr>
          <a:xfrm>
            <a:off x="558800" y="6604000"/>
            <a:ext cx="2413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800" b="1">
                <a:solidFill>
                  <a:srgbClr val="33DDCF"/>
                </a:solidFill>
                <a:latin typeface="Calibri" panose="020F0502020204030204" pitchFamily="34" charset="0"/>
              </a:rPr>
              <a:t>DELIVERY</a:t>
            </a:r>
          </a:p>
        </p:txBody>
      </p:sp>
      <p:sp>
        <p:nvSpPr>
          <p:cNvPr id="18" name="CodexNavContents">
            <a:hlinkClick r:id="rId3" action="ppaction://hlinksldjump"/>
            <a:extLst>
              <a:ext uri="{FF2B5EF4-FFF2-40B4-BE49-F238E27FC236}">
                <a16:creationId xmlns:a16="http://schemas.microsoft.com/office/drawing/2014/main" id="{E2711E29-1787-6FFA-603A-BA839A069DBC}"/>
              </a:ext>
            </a:extLst>
          </p:cNvPr>
          <p:cNvSpPr txBox="1"/>
          <p:nvPr/>
        </p:nvSpPr>
        <p:spPr>
          <a:xfrm>
            <a:off x="8763000" y="6604000"/>
            <a:ext cx="7366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CONTENTS</a:t>
            </a:r>
          </a:p>
        </p:txBody>
      </p:sp>
      <p:sp>
        <p:nvSpPr>
          <p:cNvPr id="19" name="CodexNavPrevious">
            <a:hlinkClick r:id="rId4" action="ppaction://hlinksldjump"/>
            <a:extLst>
              <a:ext uri="{FF2B5EF4-FFF2-40B4-BE49-F238E27FC236}">
                <a16:creationId xmlns:a16="http://schemas.microsoft.com/office/drawing/2014/main" id="{082FF652-3B96-CEB4-3099-62D226F4EEF0}"/>
              </a:ext>
            </a:extLst>
          </p:cNvPr>
          <p:cNvSpPr txBox="1"/>
          <p:nvPr/>
        </p:nvSpPr>
        <p:spPr>
          <a:xfrm>
            <a:off x="9588500" y="6604000"/>
            <a:ext cx="7112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PREVIOUS</a:t>
            </a:r>
          </a:p>
        </p:txBody>
      </p:sp>
      <p:sp>
        <p:nvSpPr>
          <p:cNvPr id="20" name="CodexNavNext">
            <a:hlinkClick r:id="rId5" action="ppaction://hlinksldjump"/>
            <a:extLst>
              <a:ext uri="{FF2B5EF4-FFF2-40B4-BE49-F238E27FC236}">
                <a16:creationId xmlns:a16="http://schemas.microsoft.com/office/drawing/2014/main" id="{19D2E90E-49DC-69CA-AB6F-96241080F64F}"/>
              </a:ext>
            </a:extLst>
          </p:cNvPr>
          <p:cNvSpPr txBox="1"/>
          <p:nvPr/>
        </p:nvSpPr>
        <p:spPr>
          <a:xfrm>
            <a:off x="10375900" y="6604000"/>
            <a:ext cx="4826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NEXT</a:t>
            </a:r>
          </a:p>
        </p:txBody>
      </p:sp>
      <p:sp>
        <p:nvSpPr>
          <p:cNvPr id="21" name="CodexPageNumber">
            <a:extLst>
              <a:ext uri="{FF2B5EF4-FFF2-40B4-BE49-F238E27FC236}">
                <a16:creationId xmlns:a16="http://schemas.microsoft.com/office/drawing/2014/main" id="{B81A7830-18C9-6C32-2198-F5369903852F}"/>
              </a:ext>
            </a:extLst>
          </p:cNvPr>
          <p:cNvSpPr txBox="1"/>
          <p:nvPr/>
        </p:nvSpPr>
        <p:spPr>
          <a:xfrm>
            <a:off x="10972800" y="6604000"/>
            <a:ext cx="6604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IN" sz="820">
                <a:solidFill>
                  <a:srgbClr val="8295AE"/>
                </a:solidFill>
                <a:latin typeface="Cascadia Code" panose="020B0609020000020004" pitchFamily="49" charset="0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14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5303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190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66928" y="53035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7FAFC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Code, data and method sources</a:t>
            </a:r>
            <a:endParaRPr lang="en-US" sz="2700" dirty="0">
              <a:latin typeface="Georgia" panose="02040502050405020303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66928" y="1060704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82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deck uses current repository behavior and measured local outputs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1645920"/>
            <a:ext cx="5358384" cy="4425696"/>
          </a:xfrm>
          <a:prstGeom prst="roundRect">
            <a:avLst>
              <a:gd name="adj" fmla="val 826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932688" y="1938528"/>
            <a:ext cx="1554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135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SOURCES</a:t>
            </a:r>
            <a:endParaRPr lang="en-US" sz="920" dirty="0"/>
          </a:p>
        </p:txBody>
      </p:sp>
      <p:sp>
        <p:nvSpPr>
          <p:cNvPr id="7" name="Text 5"/>
          <p:cNvSpPr/>
          <p:nvPr/>
        </p:nvSpPr>
        <p:spPr>
          <a:xfrm>
            <a:off x="932688" y="23591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Repository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932688" y="26334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https://github.com/Ananyacodes/jailbreaker-llm</a:t>
            </a:r>
            <a:endParaRPr lang="en-US" sz="940" dirty="0"/>
          </a:p>
        </p:txBody>
      </p:sp>
      <p:sp>
        <p:nvSpPr>
          <p:cNvPr id="9" name="Text 7"/>
          <p:cNvSpPr/>
          <p:nvPr/>
        </p:nvSpPr>
        <p:spPr>
          <a:xfrm>
            <a:off x="932688" y="310896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JailbreakBench dataset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32688" y="33832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https://huggingface.co/datasets/JailbreakBench/JBB-Behaviors</a:t>
            </a:r>
            <a:endParaRPr lang="en-US" sz="940" dirty="0"/>
          </a:p>
        </p:txBody>
      </p:sp>
      <p:sp>
        <p:nvSpPr>
          <p:cNvPr id="11" name="Text 9"/>
          <p:cNvSpPr/>
          <p:nvPr/>
        </p:nvSpPr>
        <p:spPr>
          <a:xfrm>
            <a:off x="932688" y="385876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JailbreakBench paper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32688" y="41330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https://arxiv.org/abs/2404.01318</a:t>
            </a:r>
            <a:endParaRPr lang="en-US" sz="940" dirty="0"/>
          </a:p>
        </p:txBody>
      </p:sp>
      <p:sp>
        <p:nvSpPr>
          <p:cNvPr id="13" name="Text 11"/>
          <p:cNvSpPr/>
          <p:nvPr/>
        </p:nvSpPr>
        <p:spPr>
          <a:xfrm>
            <a:off x="932688" y="460857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Attention Is All You Need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32688" y="48828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https://arxiv.org/abs/1706.03762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6236208" y="1645920"/>
            <a:ext cx="5303520" cy="4425696"/>
          </a:xfrm>
          <a:prstGeom prst="roundRect">
            <a:avLst>
              <a:gd name="adj" fmla="val 826"/>
            </a:avLst>
          </a:prstGeom>
          <a:solidFill>
            <a:srgbClr val="102341"/>
          </a:solidFill>
          <a:ln w="12700">
            <a:solidFill>
              <a:srgbClr val="2B42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528816" y="193852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kern="0" spc="135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AND GOVERNANCE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528816" y="2359152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PPO paper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528816" y="26334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https://arxiv.org/abs/1707.06347</a:t>
            </a:r>
            <a:endParaRPr lang="en-US" sz="940" dirty="0"/>
          </a:p>
        </p:txBody>
      </p:sp>
      <p:sp>
        <p:nvSpPr>
          <p:cNvPr id="19" name="Text 17"/>
          <p:cNvSpPr/>
          <p:nvPr/>
        </p:nvSpPr>
        <p:spPr>
          <a:xfrm>
            <a:off x="6528816" y="3108960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GAE paper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528816" y="33832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https://arxiv.org/abs/1506.02438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6528816" y="3858768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NIST AI RMF Generative AI Profile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528816" y="413308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https://www.nist.gov/publications/artificial-intelligence-risk-management-framework-generative-artificial-intelligence</a:t>
            </a:r>
            <a:endParaRPr lang="en-US" sz="940" dirty="0"/>
          </a:p>
        </p:txBody>
      </p:sp>
      <p:sp>
        <p:nvSpPr>
          <p:cNvPr id="23" name="Text 21"/>
          <p:cNvSpPr/>
          <p:nvPr/>
        </p:nvSpPr>
        <p:spPr>
          <a:xfrm>
            <a:off x="6528816" y="4608576"/>
            <a:ext cx="4297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50" b="1" dirty="0">
                <a:solidFill>
                  <a:srgbClr val="F7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Pinned code commit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528816" y="488289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27D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https://github.com/Ananyacodes/jailbreaker-llm/tree/1bacbafcef78f913a879c622c3492e52f0d1d112</a:t>
            </a:r>
            <a:endParaRPr lang="en-US" sz="940" dirty="0"/>
          </a:p>
        </p:txBody>
      </p:sp>
      <p:sp>
        <p:nvSpPr>
          <p:cNvPr id="25" name="Text 23"/>
          <p:cNvSpPr/>
          <p:nvPr/>
        </p:nvSpPr>
        <p:spPr>
          <a:xfrm>
            <a:off x="566928" y="636422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30" i="1" dirty="0">
                <a:solidFill>
                  <a:srgbClr val="8295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results are stored in outputs/analysis_real/metrics.json inside the updated project.</a:t>
            </a:r>
            <a:endParaRPr lang="en-US" sz="830" dirty="0"/>
          </a:p>
        </p:txBody>
      </p:sp>
      <p:cxnSp>
        <p:nvCxnSpPr>
          <p:cNvPr id="26" name="CodexHeaderAccent">
            <a:extLst>
              <a:ext uri="{FF2B5EF4-FFF2-40B4-BE49-F238E27FC236}">
                <a16:creationId xmlns:a16="http://schemas.microsoft.com/office/drawing/2014/main" id="{1DF89724-CAC7-95D7-E992-29E4DD40A9A2}"/>
              </a:ext>
            </a:extLst>
          </p:cNvPr>
          <p:cNvCxnSpPr/>
          <p:nvPr/>
        </p:nvCxnSpPr>
        <p:spPr>
          <a:xfrm>
            <a:off x="558800" y="190500"/>
            <a:ext cx="457200" cy="0"/>
          </a:xfrm>
          <a:prstGeom prst="line">
            <a:avLst/>
          </a:prstGeom>
          <a:ln w="38100">
            <a:solidFill>
              <a:srgbClr val="33DDC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4FE1DFE-45A9-1629-62C0-9035F5AF8F8E}"/>
              </a:ext>
            </a:extLst>
          </p:cNvPr>
          <p:cNvCxnSpPr/>
          <p:nvPr/>
        </p:nvCxnSpPr>
        <p:spPr>
          <a:xfrm>
            <a:off x="558800" y="6515100"/>
            <a:ext cx="11074400" cy="0"/>
          </a:xfrm>
          <a:prstGeom prst="line">
            <a:avLst/>
          </a:prstGeom>
          <a:ln w="7620" cap="flat" cmpd="sng" algn="ctr">
            <a:solidFill>
              <a:srgbClr val="385375">
                <a:alpha val="6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odexSectionLabel">
            <a:extLst>
              <a:ext uri="{FF2B5EF4-FFF2-40B4-BE49-F238E27FC236}">
                <a16:creationId xmlns:a16="http://schemas.microsoft.com/office/drawing/2014/main" id="{184387E2-DC33-FF7D-0677-1300EF654164}"/>
              </a:ext>
            </a:extLst>
          </p:cNvPr>
          <p:cNvSpPr txBox="1"/>
          <p:nvPr/>
        </p:nvSpPr>
        <p:spPr>
          <a:xfrm>
            <a:off x="558800" y="6604000"/>
            <a:ext cx="2413000" cy="123111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IN" sz="800" b="1">
                <a:solidFill>
                  <a:srgbClr val="33DDCF"/>
                </a:solidFill>
                <a:latin typeface="Calibri" panose="020F0502020204030204" pitchFamily="34" charset="0"/>
              </a:rPr>
              <a:t>DELIVERY</a:t>
            </a:r>
          </a:p>
        </p:txBody>
      </p:sp>
      <p:sp>
        <p:nvSpPr>
          <p:cNvPr id="29" name="CodexNavContents">
            <a:hlinkClick r:id="rId3" action="ppaction://hlinksldjump"/>
            <a:extLst>
              <a:ext uri="{FF2B5EF4-FFF2-40B4-BE49-F238E27FC236}">
                <a16:creationId xmlns:a16="http://schemas.microsoft.com/office/drawing/2014/main" id="{DAAE9C6A-AEB2-FB73-F4ED-331B46CEB449}"/>
              </a:ext>
            </a:extLst>
          </p:cNvPr>
          <p:cNvSpPr txBox="1"/>
          <p:nvPr/>
        </p:nvSpPr>
        <p:spPr>
          <a:xfrm>
            <a:off x="8763000" y="6604000"/>
            <a:ext cx="7366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CONTENTS</a:t>
            </a:r>
          </a:p>
        </p:txBody>
      </p:sp>
      <p:sp>
        <p:nvSpPr>
          <p:cNvPr id="30" name="CodexNavPrevious">
            <a:hlinkClick r:id="rId4" action="ppaction://hlinksldjump"/>
            <a:extLst>
              <a:ext uri="{FF2B5EF4-FFF2-40B4-BE49-F238E27FC236}">
                <a16:creationId xmlns:a16="http://schemas.microsoft.com/office/drawing/2014/main" id="{609DA663-6629-EF8F-A927-449CC533FA96}"/>
              </a:ext>
            </a:extLst>
          </p:cNvPr>
          <p:cNvSpPr txBox="1"/>
          <p:nvPr/>
        </p:nvSpPr>
        <p:spPr>
          <a:xfrm>
            <a:off x="9588500" y="6604000"/>
            <a:ext cx="7112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ctr"/>
            <a:r>
              <a:rPr lang="en-IN" sz="820" b="1">
                <a:solidFill>
                  <a:srgbClr val="C8D4E3"/>
                </a:solidFill>
                <a:latin typeface="Calibri" panose="020F0502020204030204" pitchFamily="34" charset="0"/>
              </a:rPr>
              <a:t>PREVIOUS</a:t>
            </a:r>
          </a:p>
        </p:txBody>
      </p:sp>
      <p:sp>
        <p:nvSpPr>
          <p:cNvPr id="31" name="CodexPageNumber">
            <a:extLst>
              <a:ext uri="{FF2B5EF4-FFF2-40B4-BE49-F238E27FC236}">
                <a16:creationId xmlns:a16="http://schemas.microsoft.com/office/drawing/2014/main" id="{952C0A19-2B1E-CAB3-8A0E-B0481538471E}"/>
              </a:ext>
            </a:extLst>
          </p:cNvPr>
          <p:cNvSpPr txBox="1"/>
          <p:nvPr/>
        </p:nvSpPr>
        <p:spPr>
          <a:xfrm>
            <a:off x="10972800" y="6604000"/>
            <a:ext cx="660400" cy="126188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pPr algn="r"/>
            <a:r>
              <a:rPr lang="en-IN" sz="820">
                <a:solidFill>
                  <a:srgbClr val="8295AE"/>
                </a:solidFill>
                <a:latin typeface="Cascadia Code" panose="020B0609020000020004" pitchFamily="49" charset="0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3846</Words>
  <Application>Microsoft Office PowerPoint</Application>
  <PresentationFormat>Widescreen</PresentationFormat>
  <Paragraphs>606</Paragraphs>
  <Slides>21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Cambria</vt:lpstr>
      <vt:lpstr>Cascadia Code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SRM Institute of Science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Jailbreaker-LLM Automated Red-Teaming Platform</dc:title>
  <dc:subject>Machine Learning PBL-I Detailed Project Review</dc:subject>
  <dc:creator>Ananya Kar</dc:creator>
  <cp:lastModifiedBy>Yashasvi Allen</cp:lastModifiedBy>
  <cp:revision>8</cp:revision>
  <dcterms:created xsi:type="dcterms:W3CDTF">2026-09-20T18:42:41Z</dcterms:created>
  <dcterms:modified xsi:type="dcterms:W3CDTF">2026-09-20T20:56:14Z</dcterms:modified>
</cp:coreProperties>
</file>