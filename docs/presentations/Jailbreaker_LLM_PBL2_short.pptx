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155"/>
                </a:solidFill>
                <a:latin typeface="Calibri"/>
              </a:defRPr>
            </a:pPr>
            <a:r>
              <a:rPr sz="1300" b="0" i="0" u="none" strike="noStrike">
                <a:solidFill>
                  <a:srgbClr val="334155"/>
                </a:solidFill>
                <a:latin typeface="Calibri"/>
              </a:rPr>
              <a:t>978 turns, 220 conversations</a:t>
            </a:r>
          </a:p>
        </c:rich>
      </c:tx>
      <c:layout/>
      <c:overlay val="0"/>
    </c:title>
    <c:autoTitleDeleted val="0"/>
    <c:plotArea>
      <c:layout/>
      <c:barChart>
        <c:barDir val="col"/>
        <c:grouping val="clustered"/>
        <c:varyColors val="0"/>
        <c:ser>
          <c:idx val="0"/>
          <c:order val="0"/>
          <c:tx>
            <c:strRef>
              <c:f>Sheet1!$B$1</c:f>
              <c:strCache>
                <c:ptCount val="1"/>
                <c:pt idx="0">
                  <c:v>turns</c:v>
                </c:pt>
              </c:strCache>
            </c:strRef>
          </c:tx>
          <c:spPr>
            <a:solidFill>
              <a:srgbClr val="2F6FED"/>
            </a:solidFill>
            <a:effectLst/>
          </c:spPr>
          <c:invertIfNegative val="0"/>
          <c:dLbls>
            <c:numFmt formatCode="#,##0" sourceLinked="0"/>
            <c:txPr>
              <a:bodyPr/>
              <a:lstStyle/>
              <a:p>
                <a:pPr>
                  <a:defRPr b="0" i="0" strike="noStrike" sz="1200" u="none">
                    <a:solidFill>
                      <a:srgbClr val="0F172A"/>
                    </a:solidFill>
                    <a:latin typeface="Calibri"/>
                  </a:defRPr>
                </a:pPr>
              </a:p>
            </c:txPr>
            <c:showLegendKey val="0"/>
            <c:showVal val="1"/>
            <c:showCatName val="0"/>
            <c:showSerName val="0"/>
            <c:showPercent val="0"/>
            <c:showBubbleSize val="0"/>
            <c:showLeaderLines val="0"/>
          </c:dLbls>
          <c:dPt>
            <c:idx val="0"/>
            <c:invertIfNegative val="0"/>
            <c:bubble3D val="0"/>
            <c:spPr>
              <a:solidFill>
                <a:srgbClr val="2F6FED"/>
              </a:solidFill>
              <a:effectLst/>
            </c:spPr>
          </c:dPt>
          <c:dPt>
            <c:idx val="1"/>
            <c:invertIfNegative val="0"/>
            <c:bubble3D val="0"/>
            <c:spPr>
              <a:solidFill>
                <a:srgbClr val="F2A20C"/>
              </a:solidFill>
              <a:effectLst/>
            </c:spPr>
          </c:dPt>
          <c:dPt>
            <c:idx val="2"/>
            <c:invertIfNegative val="0"/>
            <c:bubble3D val="0"/>
            <c:spPr>
              <a:solidFill>
                <a:srgbClr val="E5484D"/>
              </a:solidFill>
              <a:effectLst/>
            </c:spPr>
          </c:dPt>
          <c:cat>
            <c:multiLvlStrRef>
              <c:f>Sheet1!$A$2:$A$4</c:f>
              <c:multiLvlStrCache>
                <c:ptCount val="3"/>
                <c:lvl>
                  <c:pt idx="0">
                    <c:v>refusal</c:v>
                  </c:pt>
                  <c:pt idx="1">
                    <c:v>partial compliance</c:v>
                  </c:pt>
                  <c:pt idx="2">
                    <c:v>full violation</c:v>
                  </c:pt>
                </c:lvl>
              </c:multiLvlStrCache>
            </c:multiLvlStrRef>
          </c:cat>
          <c:val>
            <c:numRef>
              <c:f>Sheet1!$B$2:$B$4</c:f>
              <c:numCache>
                <c:formatCode>General</c:formatCode>
                <c:ptCount val="3"/>
                <c:pt idx="0">
                  <c:v>523</c:v>
                </c:pt>
                <c:pt idx="1">
                  <c:v>311</c:v>
                </c:pt>
                <c:pt idx="2">
                  <c:v>144</c:v>
                </c:pt>
              </c:numCache>
            </c:numRef>
          </c:val>
        </c:ser>
        <c:dLbls>
          <c:numFmt formatCode="#,##0" sourceLinked="0"/>
          <c:txPr>
            <a:bodyPr/>
            <a:lstStyle/>
            <a:p>
              <a:pPr>
                <a:defRPr b="0" i="0" strike="noStrike" sz="1200" u="none">
                  <a:solidFill>
                    <a:srgbClr val="0F17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 after matching (%)</c:v>
                </c:pt>
              </c:strCache>
            </c:strRef>
          </c:tx>
          <c:spPr>
            <a:solidFill>
              <a:srgbClr val="0D9488"/>
            </a:solidFill>
            <a:effectLst/>
          </c:spPr>
          <c:invertIfNegative val="0"/>
          <c:dLbls>
            <c:numFmt formatCode="0.0&quot;%&quot;" sourceLinked="0"/>
            <c:txPr>
              <a:bodyPr/>
              <a:lstStyle/>
              <a:p>
                <a:pPr>
                  <a:defRPr b="0" i="0" strike="noStrike" sz="12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0D9488"/>
              </a:solidFill>
              <a:effectLst/>
            </c:spPr>
          </c:dPt>
          <c:dPt>
            <c:idx val="1"/>
            <c:invertIfNegative val="0"/>
            <c:bubble3D val="0"/>
            <c:spPr>
              <a:solidFill>
                <a:srgbClr val="16A34A"/>
              </a:solidFill>
              <a:effectLst/>
            </c:spPr>
          </c:dPt>
          <c:dPt>
            <c:idx val="2"/>
            <c:invertIfNegative val="0"/>
            <c:bubble3D val="0"/>
            <c:spPr>
              <a:solidFill>
                <a:srgbClr val="E5484D"/>
              </a:solidFill>
              <a:effectLst/>
            </c:spPr>
          </c:dPt>
          <c:dPt>
            <c:idx val="3"/>
            <c:invertIfNegative val="0"/>
            <c:bubble3D val="0"/>
            <c:spPr>
              <a:solidFill>
                <a:srgbClr val="7C3AED"/>
              </a:solidFill>
              <a:effectLst/>
            </c:spPr>
          </c:dPt>
          <c:dPt>
            <c:idx val="4"/>
            <c:invertIfNegative val="0"/>
            <c:bubble3D val="0"/>
            <c:spPr>
              <a:solidFill>
                <a:srgbClr val="64748B"/>
              </a:solidFill>
              <a:effectLst/>
            </c:spPr>
          </c:dPt>
          <c:cat>
            <c:multiLvlStrRef>
              <c:f>Sheet1!$A$2:$A$6</c:f>
              <c:multiLvlStrCache>
                <c:ptCount val="5"/>
                <c:lvl>
                  <c:pt idx="0">
                    <c:v>K-means</c:v>
                  </c:pt>
                  <c:pt idx="1">
                    <c:v>GMM-EM</c:v>
                  </c:pt>
                  <c:pt idx="2">
                    <c:v>HMM (+ order)</c:v>
                  </c:pt>
                  <c:pt idx="3">
                    <c:v>Hierarchical (conversations)</c:v>
                  </c:pt>
                  <c:pt idx="4">
                    <c:v>PBL-I classifier (no scores)</c:v>
                  </c:pt>
                </c:lvl>
              </c:multiLvlStrCache>
            </c:multiLvlStrRef>
          </c:cat>
          <c:val>
            <c:numRef>
              <c:f>Sheet1!$B$2:$B$6</c:f>
              <c:numCache>
                <c:formatCode>General</c:formatCode>
                <c:ptCount val="5"/>
                <c:pt idx="0">
                  <c:v>96.9</c:v>
                </c:pt>
                <c:pt idx="1">
                  <c:v>95.1</c:v>
                </c:pt>
                <c:pt idx="2">
                  <c:v>95.1</c:v>
                </c:pt>
                <c:pt idx="3">
                  <c:v>80.5</c:v>
                </c:pt>
                <c:pt idx="4">
                  <c:v>55.9</c:v>
                </c:pt>
              </c:numCache>
            </c:numRef>
          </c:val>
        </c:ser>
        <c:dLbls>
          <c:numFmt formatCode="0.0&quot;%&quot;" sourceLinked="0"/>
          <c:txPr>
            <a:bodyPr/>
            <a:lstStyle/>
            <a:p>
              <a:pPr>
                <a:defRPr b="0" i="0" strike="noStrike" sz="120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D9488"/>
          </a:solidFill>
          <a:ln w="12700">
            <a:solidFill>
              <a:srgbClr val="0D9488"/>
            </a:solidFill>
            <a:prstDash val="solid"/>
          </a:ln>
        </p:spPr>
      </p:sp>
      <p:sp>
        <p:nvSpPr>
          <p:cNvPr id="3" name="Text 1"/>
          <p:cNvSpPr/>
          <p:nvPr/>
        </p:nvSpPr>
        <p:spPr>
          <a:xfrm>
            <a:off x="914400" y="1188720"/>
            <a:ext cx="10058400" cy="365760"/>
          </a:xfrm>
          <a:prstGeom prst="rect">
            <a:avLst/>
          </a:prstGeom>
          <a:noFill/>
          <a:ln/>
        </p:spPr>
        <p:txBody>
          <a:bodyPr wrap="square" lIns="0" tIns="0" rIns="0" bIns="0" rtlCol="0" anchor="ctr"/>
          <a:lstStyle/>
          <a:p>
            <a:pPr indent="0" marL="0">
              <a:buNone/>
            </a:pPr>
            <a:r>
              <a:rPr lang="en-US" sz="1400" b="1" spc="400" kern="0" dirty="0">
                <a:solidFill>
                  <a:srgbClr val="5EEAD4"/>
                </a:solidFill>
                <a:latin typeface="Calibri" pitchFamily="34" charset="0"/>
                <a:ea typeface="Calibri" pitchFamily="34" charset="-122"/>
                <a:cs typeface="Calibri" pitchFamily="34" charset="-120"/>
              </a:rPr>
              <a:t>MACHINE LEARNING  |  PBL-II  |  PROJECT REVIEW 2</a:t>
            </a:r>
            <a:endParaRPr lang="en-US" sz="1400" dirty="0"/>
          </a:p>
        </p:txBody>
      </p:sp>
      <p:sp>
        <p:nvSpPr>
          <p:cNvPr id="4" name="Text 2"/>
          <p:cNvSpPr/>
          <p:nvPr/>
        </p:nvSpPr>
        <p:spPr>
          <a:xfrm>
            <a:off x="914400" y="1737360"/>
            <a:ext cx="10058400"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Jailbreaker-LLM</a:t>
            </a:r>
            <a:endParaRPr lang="en-US" sz="5400" dirty="0"/>
          </a:p>
        </p:txBody>
      </p:sp>
      <p:sp>
        <p:nvSpPr>
          <p:cNvPr id="5" name="Text 3"/>
          <p:cNvSpPr/>
          <p:nvPr/>
        </p:nvSpPr>
        <p:spPr>
          <a:xfrm>
            <a:off x="914400" y="2788920"/>
            <a:ext cx="10058400" cy="640080"/>
          </a:xfrm>
          <a:prstGeom prst="rect">
            <a:avLst/>
          </a:prstGeom>
          <a:noFill/>
          <a:ln/>
        </p:spPr>
        <p:txBody>
          <a:bodyPr wrap="square" lIns="0" tIns="0" rIns="0" bIns="0" rtlCol="0" anchor="ctr"/>
          <a:lstStyle/>
          <a:p>
            <a:pPr indent="0" marL="0">
              <a:buNone/>
            </a:pPr>
            <a:r>
              <a:rPr lang="en-US" sz="2800" dirty="0">
                <a:solidFill>
                  <a:srgbClr val="CBD5E1"/>
                </a:solidFill>
                <a:latin typeface="Calibri" pitchFamily="34" charset="0"/>
                <a:ea typeface="Calibri" pitchFamily="34" charset="-122"/>
                <a:cs typeface="Calibri" pitchFamily="34" charset="-120"/>
              </a:rPr>
              <a:t>Finding hidden compliance states without labels</a:t>
            </a:r>
            <a:endParaRPr lang="en-US" sz="2800" dirty="0"/>
          </a:p>
        </p:txBody>
      </p:sp>
      <p:sp>
        <p:nvSpPr>
          <p:cNvPr id="6" name="Text 4"/>
          <p:cNvSpPr/>
          <p:nvPr/>
        </p:nvSpPr>
        <p:spPr>
          <a:xfrm>
            <a:off x="914400" y="3520440"/>
            <a:ext cx="9601200" cy="822960"/>
          </a:xfrm>
          <a:prstGeom prst="rect">
            <a:avLst/>
          </a:prstGeom>
          <a:noFill/>
          <a:ln/>
        </p:spPr>
        <p:txBody>
          <a:bodyPr wrap="square" lIns="0" tIns="0" rIns="0" bIns="0" rtlCol="0" anchor="t"/>
          <a:lstStyle/>
          <a:p>
            <a:pPr indent="0" marL="0">
              <a:buNone/>
            </a:pPr>
            <a:r>
              <a:rPr lang="en-US" sz="1600" dirty="0">
                <a:solidFill>
                  <a:srgbClr val="94A3B8"/>
                </a:solidFill>
                <a:latin typeface="Calibri" pitchFamily="34" charset="0"/>
                <a:ea typeface="Calibri" pitchFamily="34" charset="-122"/>
                <a:cs typeface="Calibri" pitchFamily="34" charset="-120"/>
              </a:rPr>
              <a:t>PCA, K-means, Gaussian mixtures (EM), hierarchical clustering and a hidden Markov model, applied to the scores of an LLM red-teaming judge</a:t>
            </a:r>
            <a:endParaRPr lang="en-US" sz="1600" dirty="0"/>
          </a:p>
        </p:txBody>
      </p:sp>
      <p:sp>
        <p:nvSpPr>
          <p:cNvPr id="7" name="Text 5"/>
          <p:cNvSpPr/>
          <p:nvPr/>
        </p:nvSpPr>
        <p:spPr>
          <a:xfrm>
            <a:off x="914400" y="5577840"/>
            <a:ext cx="10058400" cy="320040"/>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Shaik Ayman Hameed Baig  |  RA2411004010125  |  B.Tech ECE, SRMIST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RECAP: PBL-I (1 OF 2)</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PBL-I in brief: an RL attacker, a safety gate, two independent judges</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7" name="Shape 5"/>
          <p:cNvSpPr/>
          <p:nvPr/>
        </p:nvSpPr>
        <p:spPr>
          <a:xfrm>
            <a:off x="548640" y="1600200"/>
            <a:ext cx="2286000" cy="1097280"/>
          </a:xfrm>
          <a:prstGeom prst="roundRect">
            <a:avLst>
              <a:gd name="adj" fmla="val 6667"/>
            </a:avLst>
          </a:prstGeom>
          <a:solidFill>
            <a:srgbClr val="FFFFFF"/>
          </a:solidFill>
          <a:ln w="25400">
            <a:solidFill>
              <a:srgbClr val="2F6FED"/>
            </a:solidFill>
            <a:prstDash val="solid"/>
          </a:ln>
        </p:spPr>
      </p:sp>
      <p:sp>
        <p:nvSpPr>
          <p:cNvPr id="8" name="Text 6"/>
          <p:cNvSpPr/>
          <p:nvPr/>
        </p:nvSpPr>
        <p:spPr>
          <a:xfrm>
            <a:off x="658368" y="1600200"/>
            <a:ext cx="2066544" cy="10972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Attacker</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Qwen2.5-0.5B + LoRA</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trained with PPO</a:t>
            </a:r>
            <a:endParaRPr lang="en-US" sz="1400" dirty="0"/>
          </a:p>
        </p:txBody>
      </p:sp>
      <p:sp>
        <p:nvSpPr>
          <p:cNvPr id="9" name="Shape 7"/>
          <p:cNvSpPr/>
          <p:nvPr/>
        </p:nvSpPr>
        <p:spPr>
          <a:xfrm>
            <a:off x="3246120" y="1600200"/>
            <a:ext cx="2011680" cy="1097280"/>
          </a:xfrm>
          <a:prstGeom prst="roundRect">
            <a:avLst>
              <a:gd name="adj" fmla="val 6667"/>
            </a:avLst>
          </a:prstGeom>
          <a:solidFill>
            <a:srgbClr val="FFFFFF"/>
          </a:solidFill>
          <a:ln w="25400">
            <a:solidFill>
              <a:srgbClr val="F2A20C"/>
            </a:solidFill>
            <a:prstDash val="solid"/>
          </a:ln>
        </p:spPr>
      </p:sp>
      <p:sp>
        <p:nvSpPr>
          <p:cNvPr id="10" name="Text 8"/>
          <p:cNvSpPr/>
          <p:nvPr/>
        </p:nvSpPr>
        <p:spPr>
          <a:xfrm>
            <a:off x="3355848" y="1600200"/>
            <a:ext cx="1792224" cy="10972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Safety gate</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allowlist +</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circuit breaker</a:t>
            </a:r>
            <a:endParaRPr lang="en-US" sz="1400" dirty="0"/>
          </a:p>
        </p:txBody>
      </p:sp>
      <p:sp>
        <p:nvSpPr>
          <p:cNvPr id="11" name="Shape 9"/>
          <p:cNvSpPr/>
          <p:nvPr/>
        </p:nvSpPr>
        <p:spPr>
          <a:xfrm>
            <a:off x="5669280" y="1600200"/>
            <a:ext cx="2011680" cy="1097280"/>
          </a:xfrm>
          <a:prstGeom prst="roundRect">
            <a:avLst>
              <a:gd name="adj" fmla="val 6667"/>
            </a:avLst>
          </a:prstGeom>
          <a:solidFill>
            <a:srgbClr val="FFFFFF"/>
          </a:solidFill>
          <a:ln w="25400">
            <a:solidFill>
              <a:srgbClr val="64748B"/>
            </a:solidFill>
            <a:prstDash val="solid"/>
          </a:ln>
        </p:spPr>
      </p:sp>
      <p:sp>
        <p:nvSpPr>
          <p:cNvPr id="12" name="Text 10"/>
          <p:cNvSpPr/>
          <p:nvPr/>
        </p:nvSpPr>
        <p:spPr>
          <a:xfrm>
            <a:off x="5779008" y="1600200"/>
            <a:ext cx="1792224" cy="10972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Target LLM</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the model under</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test</a:t>
            </a:r>
            <a:endParaRPr lang="en-US" sz="1400" dirty="0"/>
          </a:p>
        </p:txBody>
      </p:sp>
      <p:sp>
        <p:nvSpPr>
          <p:cNvPr id="13" name="Shape 11"/>
          <p:cNvSpPr/>
          <p:nvPr/>
        </p:nvSpPr>
        <p:spPr>
          <a:xfrm>
            <a:off x="8092440" y="1600200"/>
            <a:ext cx="3566160" cy="1097280"/>
          </a:xfrm>
          <a:prstGeom prst="roundRect">
            <a:avLst>
              <a:gd name="adj" fmla="val 6667"/>
            </a:avLst>
          </a:prstGeom>
          <a:solidFill>
            <a:srgbClr val="FFFFFF"/>
          </a:solidFill>
          <a:ln w="25400">
            <a:solidFill>
              <a:srgbClr val="0D9488"/>
            </a:solidFill>
            <a:prstDash val="solid"/>
          </a:ln>
        </p:spPr>
      </p:sp>
      <p:sp>
        <p:nvSpPr>
          <p:cNvPr id="14" name="Text 12"/>
          <p:cNvSpPr/>
          <p:nvPr/>
        </p:nvSpPr>
        <p:spPr>
          <a:xfrm>
            <a:off x="8202168" y="1600200"/>
            <a:ext cx="3346704" cy="10972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Judge A: reward judge</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DistilBERT, used during training</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p(refusal) p(partial) p(full)</a:t>
            </a:r>
            <a:endParaRPr lang="en-US" sz="1400" dirty="0"/>
          </a:p>
        </p:txBody>
      </p:sp>
      <p:sp>
        <p:nvSpPr>
          <p:cNvPr id="15" name="Shape 13"/>
          <p:cNvSpPr/>
          <p:nvPr/>
        </p:nvSpPr>
        <p:spPr>
          <a:xfrm>
            <a:off x="2834640" y="2148840"/>
            <a:ext cx="411480" cy="0"/>
          </a:xfrm>
          <a:prstGeom prst="line">
            <a:avLst/>
          </a:prstGeom>
          <a:noFill/>
          <a:ln w="25400">
            <a:solidFill>
              <a:srgbClr val="64748B"/>
            </a:solidFill>
            <a:prstDash val="solid"/>
            <a:tailEnd type="triangle"/>
          </a:ln>
        </p:spPr>
      </p:sp>
      <p:sp>
        <p:nvSpPr>
          <p:cNvPr id="16" name="Shape 14"/>
          <p:cNvSpPr/>
          <p:nvPr/>
        </p:nvSpPr>
        <p:spPr>
          <a:xfrm>
            <a:off x="5257800" y="2148840"/>
            <a:ext cx="411480" cy="0"/>
          </a:xfrm>
          <a:prstGeom prst="line">
            <a:avLst/>
          </a:prstGeom>
          <a:noFill/>
          <a:ln w="25400">
            <a:solidFill>
              <a:srgbClr val="64748B"/>
            </a:solidFill>
            <a:prstDash val="solid"/>
            <a:tailEnd type="triangle"/>
          </a:ln>
        </p:spPr>
      </p:sp>
      <p:sp>
        <p:nvSpPr>
          <p:cNvPr id="17" name="Shape 15"/>
          <p:cNvSpPr/>
          <p:nvPr/>
        </p:nvSpPr>
        <p:spPr>
          <a:xfrm>
            <a:off x="7680960" y="2148840"/>
            <a:ext cx="411480" cy="0"/>
          </a:xfrm>
          <a:prstGeom prst="line">
            <a:avLst/>
          </a:prstGeom>
          <a:noFill/>
          <a:ln w="25400">
            <a:solidFill>
              <a:srgbClr val="64748B"/>
            </a:solidFill>
            <a:prstDash val="solid"/>
            <a:tailEnd type="triangle"/>
          </a:ln>
        </p:spPr>
      </p:sp>
      <p:sp>
        <p:nvSpPr>
          <p:cNvPr id="18" name="Shape 16"/>
          <p:cNvSpPr/>
          <p:nvPr/>
        </p:nvSpPr>
        <p:spPr>
          <a:xfrm>
            <a:off x="9875520" y="2697480"/>
            <a:ext cx="0" cy="411480"/>
          </a:xfrm>
          <a:prstGeom prst="line">
            <a:avLst/>
          </a:prstGeom>
          <a:noFill/>
          <a:ln w="25400">
            <a:solidFill>
              <a:srgbClr val="0D9488"/>
            </a:solidFill>
            <a:prstDash val="solid"/>
          </a:ln>
        </p:spPr>
      </p:sp>
      <p:sp>
        <p:nvSpPr>
          <p:cNvPr id="19" name="Shape 17"/>
          <p:cNvSpPr/>
          <p:nvPr/>
        </p:nvSpPr>
        <p:spPr>
          <a:xfrm>
            <a:off x="1691640" y="3108960"/>
            <a:ext cx="8183880" cy="0"/>
          </a:xfrm>
          <a:prstGeom prst="line">
            <a:avLst/>
          </a:prstGeom>
          <a:noFill/>
          <a:ln w="25400">
            <a:solidFill>
              <a:srgbClr val="0D9488"/>
            </a:solidFill>
            <a:prstDash val="solid"/>
          </a:ln>
        </p:spPr>
      </p:sp>
      <p:sp>
        <p:nvSpPr>
          <p:cNvPr id="20" name="Shape 18"/>
          <p:cNvSpPr/>
          <p:nvPr/>
        </p:nvSpPr>
        <p:spPr>
          <a:xfrm>
            <a:off x="1691640" y="3108960"/>
            <a:ext cx="0" cy="-411480"/>
          </a:xfrm>
          <a:prstGeom prst="line">
            <a:avLst/>
          </a:prstGeom>
          <a:noFill/>
          <a:ln w="25400">
            <a:solidFill>
              <a:srgbClr val="0D9488"/>
            </a:solidFill>
            <a:prstDash val="solid"/>
            <a:tailEnd type="triangle"/>
          </a:ln>
        </p:spPr>
      </p:sp>
      <p:sp>
        <p:nvSpPr>
          <p:cNvPr id="21" name="Text 19"/>
          <p:cNvSpPr/>
          <p:nvPr/>
        </p:nvSpPr>
        <p:spPr>
          <a:xfrm>
            <a:off x="1828800" y="3154680"/>
            <a:ext cx="4663440" cy="274320"/>
          </a:xfrm>
          <a:prstGeom prst="rect">
            <a:avLst/>
          </a:prstGeom>
          <a:noFill/>
          <a:ln/>
        </p:spPr>
        <p:txBody>
          <a:bodyPr wrap="square" lIns="0" tIns="0" rIns="0" bIns="0" rtlCol="0" anchor="ctr"/>
          <a:lstStyle/>
          <a:p>
            <a:pPr algn="l" indent="0" marL="0">
              <a:buNone/>
            </a:pPr>
            <a:r>
              <a:rPr lang="en-US" sz="1150" dirty="0">
                <a:solidFill>
                  <a:srgbClr val="0D9488"/>
                </a:solidFill>
                <a:latin typeface="Consolas" pitchFamily="34" charset="0"/>
                <a:ea typeface="Consolas" pitchFamily="34" charset="-122"/>
                <a:cs typeface="Consolas" pitchFamily="34" charset="-120"/>
              </a:rPr>
              <a:t>reward = p(full) + 0.3 p(partial) - 0.1 p(refusal)</a:t>
            </a:r>
            <a:endParaRPr lang="en-US" sz="1150" dirty="0"/>
          </a:p>
        </p:txBody>
      </p:sp>
      <p:sp>
        <p:nvSpPr>
          <p:cNvPr id="22" name="Shape 20"/>
          <p:cNvSpPr/>
          <p:nvPr/>
        </p:nvSpPr>
        <p:spPr>
          <a:xfrm>
            <a:off x="8092440" y="3794760"/>
            <a:ext cx="3566160" cy="960120"/>
          </a:xfrm>
          <a:prstGeom prst="roundRect">
            <a:avLst>
              <a:gd name="adj" fmla="val 7619"/>
            </a:avLst>
          </a:prstGeom>
          <a:solidFill>
            <a:srgbClr val="FFFFFF"/>
          </a:solidFill>
          <a:ln w="25400">
            <a:solidFill>
              <a:srgbClr val="7C3AED"/>
            </a:solidFill>
            <a:prstDash val="solid"/>
          </a:ln>
        </p:spPr>
      </p:sp>
      <p:sp>
        <p:nvSpPr>
          <p:cNvPr id="23" name="Text 21"/>
          <p:cNvSpPr/>
          <p:nvPr/>
        </p:nvSpPr>
        <p:spPr>
          <a:xfrm>
            <a:off x="8202168" y="3794760"/>
            <a:ext cx="3346704" cy="96012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Judge B: evaluation judge</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separate DistilBERT + LLM judge, never seen by the attacker</a:t>
            </a:r>
            <a:endParaRPr lang="en-US" sz="1400" dirty="0"/>
          </a:p>
        </p:txBody>
      </p:sp>
      <p:sp>
        <p:nvSpPr>
          <p:cNvPr id="24" name="Shape 22"/>
          <p:cNvSpPr/>
          <p:nvPr/>
        </p:nvSpPr>
        <p:spPr>
          <a:xfrm>
            <a:off x="6675120" y="2697480"/>
            <a:ext cx="0" cy="1572768"/>
          </a:xfrm>
          <a:prstGeom prst="line">
            <a:avLst/>
          </a:prstGeom>
          <a:noFill/>
          <a:ln w="25400">
            <a:solidFill>
              <a:srgbClr val="7C3AED"/>
            </a:solidFill>
            <a:prstDash val="solid"/>
          </a:ln>
        </p:spPr>
      </p:sp>
      <p:sp>
        <p:nvSpPr>
          <p:cNvPr id="25" name="Shape 23"/>
          <p:cNvSpPr/>
          <p:nvPr/>
        </p:nvSpPr>
        <p:spPr>
          <a:xfrm>
            <a:off x="6675120" y="4270248"/>
            <a:ext cx="1417320" cy="0"/>
          </a:xfrm>
          <a:prstGeom prst="line">
            <a:avLst/>
          </a:prstGeom>
          <a:noFill/>
          <a:ln w="25400">
            <a:solidFill>
              <a:srgbClr val="7C3AED"/>
            </a:solidFill>
            <a:prstDash val="solid"/>
            <a:tailEnd type="triangle"/>
          </a:ln>
        </p:spPr>
      </p:sp>
      <p:sp>
        <p:nvSpPr>
          <p:cNvPr id="26" name="Text 24"/>
          <p:cNvSpPr/>
          <p:nvPr/>
        </p:nvSpPr>
        <p:spPr>
          <a:xfrm>
            <a:off x="548640" y="3840480"/>
            <a:ext cx="6949440" cy="45720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Only 8.8M of 502.8M parameters are trained (under 2%): the LoRA adapters.</a:t>
            </a:r>
            <a:endParaRPr lang="en-US" sz="1400" dirty="0"/>
          </a:p>
        </p:txBody>
      </p:sp>
      <p:sp>
        <p:nvSpPr>
          <p:cNvPr id="27" name="Shape 25"/>
          <p:cNvSpPr/>
          <p:nvPr/>
        </p:nvSpPr>
        <p:spPr>
          <a:xfrm>
            <a:off x="548640" y="5074920"/>
            <a:ext cx="11109960" cy="1143000"/>
          </a:xfrm>
          <a:prstGeom prst="rect">
            <a:avLst/>
          </a:prstGeom>
          <a:solidFill>
            <a:srgbClr val="ECFDF5"/>
          </a:solidFill>
          <a:ln w="12700">
            <a:solidFill>
              <a:srgbClr val="ECFDF5"/>
            </a:solidFill>
            <a:prstDash val="solid"/>
          </a:ln>
        </p:spPr>
      </p:sp>
      <p:sp>
        <p:nvSpPr>
          <p:cNvPr id="28" name="Shape 26"/>
          <p:cNvSpPr/>
          <p:nvPr/>
        </p:nvSpPr>
        <p:spPr>
          <a:xfrm>
            <a:off x="548640" y="5074920"/>
            <a:ext cx="64008" cy="1143000"/>
          </a:xfrm>
          <a:prstGeom prst="rect">
            <a:avLst/>
          </a:prstGeom>
          <a:solidFill>
            <a:srgbClr val="0D9488"/>
          </a:solidFill>
          <a:ln w="12700">
            <a:solidFill>
              <a:srgbClr val="0D9488"/>
            </a:solidFill>
            <a:prstDash val="solid"/>
          </a:ln>
        </p:spPr>
      </p:sp>
      <p:sp>
        <p:nvSpPr>
          <p:cNvPr id="29" name="Text 27"/>
          <p:cNvSpPr/>
          <p:nvPr/>
        </p:nvSpPr>
        <p:spPr>
          <a:xfrm>
            <a:off x="749808" y="5074920"/>
            <a:ext cx="10789920" cy="114300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IN PLAIN WORDS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One model is trained to try to break another model's safety rules. Judge A tells it how well it did so it can improve. Judge B, which it never trains against, gives the final score, so the attacker cannot simply learn to fool the grader it practices 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RECAP: PBL-I (2 OF 2)</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PBL-I result: judge scores carry the signal, metadata alone does not</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7" name="Shape 5"/>
          <p:cNvSpPr/>
          <p:nvPr/>
        </p:nvSpPr>
        <p:spPr>
          <a:xfrm>
            <a:off x="548640" y="1463040"/>
            <a:ext cx="3566160" cy="1691640"/>
          </a:xfrm>
          <a:prstGeom prst="rect">
            <a:avLst/>
          </a:prstGeom>
          <a:solidFill>
            <a:srgbClr val="FFFFFF"/>
          </a:solidFill>
          <a:ln w="12700">
            <a:solidFill>
              <a:srgbClr val="E2E8F0"/>
            </a:solidFill>
            <a:prstDash val="solid"/>
          </a:ln>
        </p:spPr>
      </p:sp>
      <p:sp>
        <p:nvSpPr>
          <p:cNvPr id="8" name="Shape 6"/>
          <p:cNvSpPr/>
          <p:nvPr/>
        </p:nvSpPr>
        <p:spPr>
          <a:xfrm>
            <a:off x="548640" y="1463040"/>
            <a:ext cx="3566160" cy="64008"/>
          </a:xfrm>
          <a:prstGeom prst="rect">
            <a:avLst/>
          </a:prstGeom>
          <a:solidFill>
            <a:srgbClr val="2F6FED"/>
          </a:solidFill>
          <a:ln w="12700">
            <a:solidFill>
              <a:srgbClr val="2F6FED"/>
            </a:solidFill>
            <a:prstDash val="solid"/>
          </a:ln>
        </p:spPr>
      </p:sp>
      <p:sp>
        <p:nvSpPr>
          <p:cNvPr id="9" name="Text 7"/>
          <p:cNvSpPr/>
          <p:nvPr/>
        </p:nvSpPr>
        <p:spPr>
          <a:xfrm>
            <a:off x="731520" y="1627632"/>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Two datasets</a:t>
            </a:r>
            <a:endParaRPr lang="en-US" sz="1600" dirty="0"/>
          </a:p>
        </p:txBody>
      </p:sp>
      <p:sp>
        <p:nvSpPr>
          <p:cNvPr id="10" name="Text 8"/>
          <p:cNvSpPr/>
          <p:nvPr/>
        </p:nvSpPr>
        <p:spPr>
          <a:xfrm>
            <a:off x="731520" y="2029968"/>
            <a:ext cx="3200400" cy="10058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Judge training: placeholder text only, no real harmful content (144 + 36 rows, two seeds).</a:t>
            </a:r>
            <a:endParaRPr lang="en-US" sz="1400" dirty="0"/>
          </a:p>
          <a:p>
            <a:pPr indent="0" marL="0">
              <a:buNone/>
            </a:pPr>
            <a:r>
              <a:rPr lang="en-US" sz="1400" dirty="0">
                <a:solidFill>
                  <a:srgbClr val="334155"/>
                </a:solidFill>
                <a:latin typeface="Calibri" pitchFamily="34" charset="0"/>
                <a:ea typeface="Calibri" pitchFamily="34" charset="-122"/>
                <a:cs typeface="Calibri" pitchFamily="34" charset="-120"/>
              </a:rPr>
              <a:t>Campaign data: 978 simulated turns from 220 conversations.</a:t>
            </a:r>
            <a:endParaRPr lang="en-US" sz="1400" dirty="0"/>
          </a:p>
        </p:txBody>
      </p:sp>
      <p:sp>
        <p:nvSpPr>
          <p:cNvPr id="11" name="Shape 9"/>
          <p:cNvSpPr/>
          <p:nvPr/>
        </p:nvSpPr>
        <p:spPr>
          <a:xfrm>
            <a:off x="4315968" y="1463040"/>
            <a:ext cx="3566160" cy="1691640"/>
          </a:xfrm>
          <a:prstGeom prst="rect">
            <a:avLst/>
          </a:prstGeom>
          <a:solidFill>
            <a:srgbClr val="FFFFFF"/>
          </a:solidFill>
          <a:ln w="12700">
            <a:solidFill>
              <a:srgbClr val="E2E8F0"/>
            </a:solidFill>
            <a:prstDash val="solid"/>
          </a:ln>
        </p:spPr>
      </p:sp>
      <p:sp>
        <p:nvSpPr>
          <p:cNvPr id="12" name="Shape 10"/>
          <p:cNvSpPr/>
          <p:nvPr/>
        </p:nvSpPr>
        <p:spPr>
          <a:xfrm>
            <a:off x="4315968" y="1463040"/>
            <a:ext cx="3566160" cy="64008"/>
          </a:xfrm>
          <a:prstGeom prst="rect">
            <a:avLst/>
          </a:prstGeom>
          <a:solidFill>
            <a:srgbClr val="F2A20C"/>
          </a:solidFill>
          <a:ln w="12700">
            <a:solidFill>
              <a:srgbClr val="F2A20C"/>
            </a:solidFill>
            <a:prstDash val="solid"/>
          </a:ln>
        </p:spPr>
      </p:sp>
      <p:sp>
        <p:nvSpPr>
          <p:cNvPr id="13" name="Text 11"/>
          <p:cNvSpPr/>
          <p:nvPr/>
        </p:nvSpPr>
        <p:spPr>
          <a:xfrm>
            <a:off x="4498848" y="1627632"/>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Why simulated?</a:t>
            </a:r>
            <a:endParaRPr lang="en-US" sz="1600" dirty="0"/>
          </a:p>
        </p:txBody>
      </p:sp>
      <p:sp>
        <p:nvSpPr>
          <p:cNvPr id="14" name="Text 12"/>
          <p:cNvSpPr/>
          <p:nvPr/>
        </p:nvSpPr>
        <p:spPr>
          <a:xfrm>
            <a:off x="4498848" y="2029968"/>
            <a:ext cx="3200400" cy="10058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Real campaigns need a GPU, a target model and approvals. A simulation has known hidden states, so every method can be checked against the truth.</a:t>
            </a:r>
            <a:endParaRPr lang="en-US" sz="1400" dirty="0"/>
          </a:p>
        </p:txBody>
      </p:sp>
      <p:sp>
        <p:nvSpPr>
          <p:cNvPr id="15" name="Shape 13"/>
          <p:cNvSpPr/>
          <p:nvPr/>
        </p:nvSpPr>
        <p:spPr>
          <a:xfrm>
            <a:off x="8083296" y="1463040"/>
            <a:ext cx="3566160" cy="1691640"/>
          </a:xfrm>
          <a:prstGeom prst="rect">
            <a:avLst/>
          </a:prstGeom>
          <a:solidFill>
            <a:srgbClr val="FFFFFF"/>
          </a:solidFill>
          <a:ln w="12700">
            <a:solidFill>
              <a:srgbClr val="E2E8F0"/>
            </a:solidFill>
            <a:prstDash val="solid"/>
          </a:ln>
        </p:spPr>
      </p:sp>
      <p:sp>
        <p:nvSpPr>
          <p:cNvPr id="16" name="Shape 14"/>
          <p:cNvSpPr/>
          <p:nvPr/>
        </p:nvSpPr>
        <p:spPr>
          <a:xfrm>
            <a:off x="8083296" y="1463040"/>
            <a:ext cx="3566160" cy="64008"/>
          </a:xfrm>
          <a:prstGeom prst="rect">
            <a:avLst/>
          </a:prstGeom>
          <a:solidFill>
            <a:srgbClr val="7C3AED"/>
          </a:solidFill>
          <a:ln w="12700">
            <a:solidFill>
              <a:srgbClr val="7C3AED"/>
            </a:solidFill>
            <a:prstDash val="solid"/>
          </a:ln>
        </p:spPr>
      </p:sp>
      <p:sp>
        <p:nvSpPr>
          <p:cNvPr id="17" name="Text 15"/>
          <p:cNvSpPr/>
          <p:nvPr/>
        </p:nvSpPr>
        <p:spPr>
          <a:xfrm>
            <a:off x="8266176" y="1627632"/>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Judge A vs Judge B</a:t>
            </a:r>
            <a:endParaRPr lang="en-US" sz="1600" dirty="0"/>
          </a:p>
        </p:txBody>
      </p:sp>
      <p:sp>
        <p:nvSpPr>
          <p:cNvPr id="18" name="Text 16"/>
          <p:cNvSpPr/>
          <p:nvPr/>
        </p:nvSpPr>
        <p:spPr>
          <a:xfrm>
            <a:off x="8266176" y="2029968"/>
            <a:ext cx="3200400" cy="10058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A: one DistilBERT, gives the reward. B: DistilBERT + LLM ensemble, never trained against, gives the final score.</a:t>
            </a:r>
            <a:endParaRPr lang="en-US" sz="1400" dirty="0"/>
          </a:p>
        </p:txBody>
      </p:sp>
      <p:sp>
        <p:nvSpPr>
          <p:cNvPr id="19" name="Shape 17"/>
          <p:cNvSpPr/>
          <p:nvPr/>
        </p:nvSpPr>
        <p:spPr>
          <a:xfrm>
            <a:off x="548640" y="3383280"/>
            <a:ext cx="3566160" cy="1234440"/>
          </a:xfrm>
          <a:prstGeom prst="rect">
            <a:avLst/>
          </a:prstGeom>
          <a:solidFill>
            <a:srgbClr val="F1F5F9"/>
          </a:solidFill>
          <a:ln w="12700">
            <a:solidFill>
              <a:srgbClr val="F1F5F9"/>
            </a:solidFill>
            <a:prstDash val="solid"/>
          </a:ln>
        </p:spPr>
      </p:sp>
      <p:sp>
        <p:nvSpPr>
          <p:cNvPr id="20" name="Text 18"/>
          <p:cNvSpPr/>
          <p:nvPr/>
        </p:nvSpPr>
        <p:spPr>
          <a:xfrm>
            <a:off x="548640" y="3474720"/>
            <a:ext cx="3566160" cy="678942"/>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R² = 0.935</a:t>
            </a:r>
            <a:endParaRPr lang="en-US" sz="3000" dirty="0"/>
          </a:p>
        </p:txBody>
      </p:sp>
      <p:sp>
        <p:nvSpPr>
          <p:cNvPr id="21" name="Text 19"/>
          <p:cNvSpPr/>
          <p:nvPr/>
        </p:nvSpPr>
        <p:spPr>
          <a:xfrm>
            <a:off x="640080" y="4099255"/>
            <a:ext cx="3383280" cy="469087"/>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Judge B predicted from Judge A: the two judges agree</a:t>
            </a:r>
            <a:endParaRPr lang="en-US" sz="1150" dirty="0"/>
          </a:p>
        </p:txBody>
      </p:sp>
      <p:sp>
        <p:nvSpPr>
          <p:cNvPr id="22" name="Shape 20"/>
          <p:cNvSpPr/>
          <p:nvPr/>
        </p:nvSpPr>
        <p:spPr>
          <a:xfrm>
            <a:off x="4315968" y="3383280"/>
            <a:ext cx="3566160" cy="1234440"/>
          </a:xfrm>
          <a:prstGeom prst="rect">
            <a:avLst/>
          </a:prstGeom>
          <a:solidFill>
            <a:srgbClr val="F1F5F9"/>
          </a:solidFill>
          <a:ln w="12700">
            <a:solidFill>
              <a:srgbClr val="F1F5F9"/>
            </a:solidFill>
            <a:prstDash val="solid"/>
          </a:ln>
        </p:spPr>
      </p:sp>
      <p:sp>
        <p:nvSpPr>
          <p:cNvPr id="23" name="Text 21"/>
          <p:cNvSpPr/>
          <p:nvPr/>
        </p:nvSpPr>
        <p:spPr>
          <a:xfrm>
            <a:off x="4315968" y="3474720"/>
            <a:ext cx="3566160" cy="678942"/>
          </a:xfrm>
          <a:prstGeom prst="rect">
            <a:avLst/>
          </a:prstGeom>
          <a:noFill/>
          <a:ln/>
        </p:spPr>
        <p:txBody>
          <a:bodyPr wrap="square" lIns="0" tIns="0" rIns="0" bIns="0" rtlCol="0" anchor="ctr"/>
          <a:lstStyle/>
          <a:p>
            <a:pPr algn="ctr" indent="0" marL="0">
              <a:buNone/>
            </a:pPr>
            <a:r>
              <a:rPr lang="en-US" sz="3000" b="1" dirty="0">
                <a:solidFill>
                  <a:srgbClr val="E5484D"/>
                </a:solidFill>
                <a:latin typeface="Calibri" pitchFamily="34" charset="0"/>
                <a:ea typeface="Calibri" pitchFamily="34" charset="-122"/>
                <a:cs typeface="Calibri" pitchFamily="34" charset="-120"/>
              </a:rPr>
              <a:t>55.9%</a:t>
            </a:r>
            <a:endParaRPr lang="en-US" sz="3000" dirty="0"/>
          </a:p>
        </p:txBody>
      </p:sp>
      <p:sp>
        <p:nvSpPr>
          <p:cNvPr id="24" name="Text 22"/>
          <p:cNvSpPr/>
          <p:nvPr/>
        </p:nvSpPr>
        <p:spPr>
          <a:xfrm>
            <a:off x="4407408" y="4099255"/>
            <a:ext cx="3383280" cy="469087"/>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accuracy from turn metadata only (no judge score), macro-F1 0.51</a:t>
            </a:r>
            <a:endParaRPr lang="en-US" sz="1150" dirty="0"/>
          </a:p>
        </p:txBody>
      </p:sp>
      <p:sp>
        <p:nvSpPr>
          <p:cNvPr id="25" name="Shape 23"/>
          <p:cNvSpPr/>
          <p:nvPr/>
        </p:nvSpPr>
        <p:spPr>
          <a:xfrm>
            <a:off x="8083296" y="3383280"/>
            <a:ext cx="3566160" cy="1234440"/>
          </a:xfrm>
          <a:prstGeom prst="rect">
            <a:avLst/>
          </a:prstGeom>
          <a:solidFill>
            <a:srgbClr val="F1F5F9"/>
          </a:solidFill>
          <a:ln w="12700">
            <a:solidFill>
              <a:srgbClr val="F1F5F9"/>
            </a:solidFill>
            <a:prstDash val="solid"/>
          </a:ln>
        </p:spPr>
      </p:sp>
      <p:sp>
        <p:nvSpPr>
          <p:cNvPr id="26" name="Text 24"/>
          <p:cNvSpPr/>
          <p:nvPr/>
        </p:nvSpPr>
        <p:spPr>
          <a:xfrm>
            <a:off x="8083296" y="3474720"/>
            <a:ext cx="3566160" cy="678942"/>
          </a:xfrm>
          <a:prstGeom prst="rect">
            <a:avLst/>
          </a:prstGeom>
          <a:noFill/>
          <a:ln/>
        </p:spPr>
        <p:txBody>
          <a:bodyPr wrap="square" lIns="0" tIns="0" rIns="0" bIns="0" rtlCol="0" anchor="ctr"/>
          <a:lstStyle/>
          <a:p>
            <a:pPr algn="ctr" indent="0" marL="0">
              <a:buNone/>
            </a:pPr>
            <a:r>
              <a:rPr lang="en-US" sz="3000" b="1" dirty="0">
                <a:solidFill>
                  <a:srgbClr val="64748B"/>
                </a:solidFill>
                <a:latin typeface="Calibri" pitchFamily="34" charset="0"/>
                <a:ea typeface="Calibri" pitchFamily="34" charset="-122"/>
                <a:cs typeface="Calibri" pitchFamily="34" charset="-120"/>
              </a:rPr>
              <a:t>~53%</a:t>
            </a:r>
            <a:endParaRPr lang="en-US" sz="3000" dirty="0"/>
          </a:p>
        </p:txBody>
      </p:sp>
      <p:sp>
        <p:nvSpPr>
          <p:cNvPr id="27" name="Text 25"/>
          <p:cNvSpPr/>
          <p:nvPr/>
        </p:nvSpPr>
        <p:spPr>
          <a:xfrm>
            <a:off x="8174736" y="4099255"/>
            <a:ext cx="3383280" cy="469087"/>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accuracy of always guessing "refusal"</a:t>
            </a:r>
            <a:endParaRPr lang="en-US" sz="1150" dirty="0"/>
          </a:p>
        </p:txBody>
      </p:sp>
      <p:sp>
        <p:nvSpPr>
          <p:cNvPr id="28" name="Shape 26"/>
          <p:cNvSpPr/>
          <p:nvPr/>
        </p:nvSpPr>
        <p:spPr>
          <a:xfrm>
            <a:off x="548640" y="4846320"/>
            <a:ext cx="11109960" cy="1371600"/>
          </a:xfrm>
          <a:prstGeom prst="rect">
            <a:avLst/>
          </a:prstGeom>
          <a:solidFill>
            <a:srgbClr val="ECFDF5"/>
          </a:solidFill>
          <a:ln w="12700">
            <a:solidFill>
              <a:srgbClr val="ECFDF5"/>
            </a:solidFill>
            <a:prstDash val="solid"/>
          </a:ln>
        </p:spPr>
      </p:sp>
      <p:sp>
        <p:nvSpPr>
          <p:cNvPr id="29" name="Shape 27"/>
          <p:cNvSpPr/>
          <p:nvPr/>
        </p:nvSpPr>
        <p:spPr>
          <a:xfrm>
            <a:off x="548640" y="4846320"/>
            <a:ext cx="64008" cy="1371600"/>
          </a:xfrm>
          <a:prstGeom prst="rect">
            <a:avLst/>
          </a:prstGeom>
          <a:solidFill>
            <a:srgbClr val="0D9488"/>
          </a:solidFill>
          <a:ln w="12700">
            <a:solidFill>
              <a:srgbClr val="0D9488"/>
            </a:solidFill>
            <a:prstDash val="solid"/>
          </a:ln>
        </p:spPr>
      </p:sp>
      <p:sp>
        <p:nvSpPr>
          <p:cNvPr id="30" name="Text 28"/>
          <p:cNvSpPr/>
          <p:nvPr/>
        </p:nvSpPr>
        <p:spPr>
          <a:xfrm>
            <a:off x="749808" y="4846320"/>
            <a:ext cx="10789920" cy="137160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NEXT QUESTION</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The judge scores are where the signal lives. So the PBL-II question is: can we find the three states from the scores alone, with no labels at all? Real red-team campaigns do not come with ground-truth labels, so this is the question that matters in practice.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PBL-II: QUESTION AND DATA</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Can judge scores alone reveal the hidden compliance state?</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
        <p:nvSpPr>
          <p:cNvPr id="7" name="Shape 5"/>
          <p:cNvSpPr/>
          <p:nvPr/>
        </p:nvSpPr>
        <p:spPr>
          <a:xfrm>
            <a:off x="548640" y="1463040"/>
            <a:ext cx="3520440" cy="1188720"/>
          </a:xfrm>
          <a:prstGeom prst="roundRect">
            <a:avLst>
              <a:gd name="adj" fmla="val 6154"/>
            </a:avLst>
          </a:prstGeom>
          <a:solidFill>
            <a:srgbClr val="FFFFFF"/>
          </a:solidFill>
          <a:ln w="25400">
            <a:solidFill>
              <a:srgbClr val="2F6FED"/>
            </a:solidFill>
            <a:prstDash val="solid"/>
          </a:ln>
        </p:spPr>
      </p:sp>
      <p:sp>
        <p:nvSpPr>
          <p:cNvPr id="8" name="Text 6"/>
          <p:cNvSpPr/>
          <p:nvPr/>
        </p:nvSpPr>
        <p:spPr>
          <a:xfrm>
            <a:off x="640080" y="1463040"/>
            <a:ext cx="3337560" cy="118872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Per turn</a:t>
            </a:r>
            <a:endParaRPr lang="en-US" sz="1600" dirty="0"/>
          </a:p>
          <a:p>
            <a:pPr algn="ctr" indent="0" marL="0">
              <a:buNone/>
            </a:pPr>
            <a:r>
              <a:rPr lang="en-US" sz="1300" dirty="0">
                <a:solidFill>
                  <a:srgbClr val="334155"/>
                </a:solidFill>
                <a:latin typeface="Calibri" pitchFamily="34" charset="0"/>
                <a:ea typeface="Calibri" pitchFamily="34" charset="-122"/>
                <a:cs typeface="Calibri" pitchFamily="34" charset="-120"/>
              </a:rPr>
              <a:t>3 scores from Judge A:</a:t>
            </a:r>
            <a:endParaRPr lang="en-US" sz="1600" dirty="0"/>
          </a:p>
          <a:p>
            <a:pPr algn="ctr" indent="0" marL="0">
              <a:buNone/>
            </a:pPr>
            <a:r>
              <a:rPr lang="en-US" sz="1300" dirty="0">
                <a:solidFill>
                  <a:srgbClr val="334155"/>
                </a:solidFill>
                <a:latin typeface="Calibri" pitchFamily="34" charset="0"/>
                <a:ea typeface="Calibri" pitchFamily="34" charset="-122"/>
                <a:cs typeface="Calibri" pitchFamily="34" charset="-120"/>
              </a:rPr>
              <a:t>p(refusal) p(partial) p(full)</a:t>
            </a:r>
            <a:endParaRPr lang="en-US" sz="1600" dirty="0"/>
          </a:p>
        </p:txBody>
      </p:sp>
      <p:sp>
        <p:nvSpPr>
          <p:cNvPr id="9" name="Shape 7"/>
          <p:cNvSpPr/>
          <p:nvPr/>
        </p:nvSpPr>
        <p:spPr>
          <a:xfrm>
            <a:off x="4343400" y="1463040"/>
            <a:ext cx="3520440" cy="1188720"/>
          </a:xfrm>
          <a:prstGeom prst="roundRect">
            <a:avLst>
              <a:gd name="adj" fmla="val 6154"/>
            </a:avLst>
          </a:prstGeom>
          <a:solidFill>
            <a:srgbClr val="FFFFFF"/>
          </a:solidFill>
          <a:ln w="25400">
            <a:solidFill>
              <a:srgbClr val="0D9488"/>
            </a:solidFill>
            <a:prstDash val="solid"/>
          </a:ln>
        </p:spPr>
      </p:sp>
      <p:sp>
        <p:nvSpPr>
          <p:cNvPr id="10" name="Text 8"/>
          <p:cNvSpPr/>
          <p:nvPr/>
        </p:nvSpPr>
        <p:spPr>
          <a:xfrm>
            <a:off x="4434840" y="1463040"/>
            <a:ext cx="3337560" cy="118872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Unsupervised model</a:t>
            </a:r>
            <a:endParaRPr lang="en-US" sz="1600" dirty="0"/>
          </a:p>
          <a:p>
            <a:pPr algn="ctr" indent="0" marL="0">
              <a:buNone/>
            </a:pPr>
            <a:r>
              <a:rPr lang="en-US" sz="1300" dirty="0">
                <a:solidFill>
                  <a:srgbClr val="334155"/>
                </a:solidFill>
                <a:latin typeface="Calibri" pitchFamily="34" charset="0"/>
                <a:ea typeface="Calibri" pitchFamily="34" charset="-122"/>
                <a:cs typeface="Calibri" pitchFamily="34" charset="-120"/>
              </a:rPr>
              <a:t>PCA, K-means, GMM-EM,</a:t>
            </a:r>
            <a:endParaRPr lang="en-US" sz="1600" dirty="0"/>
          </a:p>
          <a:p>
            <a:pPr algn="ctr" indent="0" marL="0">
              <a:buNone/>
            </a:pPr>
            <a:r>
              <a:rPr lang="en-US" sz="1300" dirty="0">
                <a:solidFill>
                  <a:srgbClr val="334155"/>
                </a:solidFill>
                <a:latin typeface="Calibri" pitchFamily="34" charset="0"/>
                <a:ea typeface="Calibri" pitchFamily="34" charset="-122"/>
                <a:cs typeface="Calibri" pitchFamily="34" charset="-120"/>
              </a:rPr>
              <a:t>hierarchical, HMM</a:t>
            </a:r>
            <a:endParaRPr lang="en-US" sz="1600" dirty="0"/>
          </a:p>
        </p:txBody>
      </p:sp>
      <p:sp>
        <p:nvSpPr>
          <p:cNvPr id="11" name="Shape 9"/>
          <p:cNvSpPr/>
          <p:nvPr/>
        </p:nvSpPr>
        <p:spPr>
          <a:xfrm>
            <a:off x="8138160" y="1463040"/>
            <a:ext cx="3520440" cy="1188720"/>
          </a:xfrm>
          <a:prstGeom prst="roundRect">
            <a:avLst>
              <a:gd name="adj" fmla="val 6154"/>
            </a:avLst>
          </a:prstGeom>
          <a:solidFill>
            <a:srgbClr val="FFFFFF"/>
          </a:solidFill>
          <a:ln w="25400">
            <a:solidFill>
              <a:srgbClr val="F2A20C"/>
            </a:solidFill>
            <a:prstDash val="solid"/>
          </a:ln>
        </p:spPr>
      </p:sp>
      <p:sp>
        <p:nvSpPr>
          <p:cNvPr id="12" name="Text 10"/>
          <p:cNvSpPr/>
          <p:nvPr/>
        </p:nvSpPr>
        <p:spPr>
          <a:xfrm>
            <a:off x="8229600" y="1463040"/>
            <a:ext cx="3337560" cy="118872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Groups found</a:t>
            </a:r>
            <a:endParaRPr lang="en-US" sz="1600" dirty="0"/>
          </a:p>
          <a:p>
            <a:pPr algn="ctr" indent="0" marL="0">
              <a:buNone/>
            </a:pPr>
            <a:r>
              <a:rPr lang="en-US" sz="1300" dirty="0">
                <a:solidFill>
                  <a:srgbClr val="334155"/>
                </a:solidFill>
                <a:latin typeface="Calibri" pitchFamily="34" charset="0"/>
                <a:ea typeface="Calibri" pitchFamily="34" charset="-122"/>
                <a:cs typeface="Calibri" pitchFamily="34" charset="-120"/>
              </a:rPr>
              <a:t>cluster 0, 1, 2:</a:t>
            </a:r>
            <a:endParaRPr lang="en-US" sz="1600" dirty="0"/>
          </a:p>
          <a:p>
            <a:pPr algn="ctr" indent="0" marL="0">
              <a:buNone/>
            </a:pPr>
            <a:r>
              <a:rPr lang="en-US" sz="1300" dirty="0">
                <a:solidFill>
                  <a:srgbClr val="334155"/>
                </a:solidFill>
                <a:latin typeface="Calibri" pitchFamily="34" charset="0"/>
                <a:ea typeface="Calibri" pitchFamily="34" charset="-122"/>
                <a:cs typeface="Calibri" pitchFamily="34" charset="-120"/>
              </a:rPr>
              <a:t>unnamed groups of turns</a:t>
            </a:r>
            <a:endParaRPr lang="en-US" sz="1600" dirty="0"/>
          </a:p>
        </p:txBody>
      </p:sp>
      <p:sp>
        <p:nvSpPr>
          <p:cNvPr id="13" name="Shape 11"/>
          <p:cNvSpPr/>
          <p:nvPr/>
        </p:nvSpPr>
        <p:spPr>
          <a:xfrm>
            <a:off x="4069080" y="2057400"/>
            <a:ext cx="274320" cy="0"/>
          </a:xfrm>
          <a:prstGeom prst="line">
            <a:avLst/>
          </a:prstGeom>
          <a:noFill/>
          <a:ln w="31750">
            <a:solidFill>
              <a:srgbClr val="64748B"/>
            </a:solidFill>
            <a:prstDash val="solid"/>
            <a:tailEnd type="triangle"/>
          </a:ln>
        </p:spPr>
      </p:sp>
      <p:sp>
        <p:nvSpPr>
          <p:cNvPr id="14" name="Shape 12"/>
          <p:cNvSpPr/>
          <p:nvPr/>
        </p:nvSpPr>
        <p:spPr>
          <a:xfrm>
            <a:off x="7863840" y="2057400"/>
            <a:ext cx="274320" cy="0"/>
          </a:xfrm>
          <a:prstGeom prst="line">
            <a:avLst/>
          </a:prstGeom>
          <a:noFill/>
          <a:ln w="31750">
            <a:solidFill>
              <a:srgbClr val="64748B"/>
            </a:solidFill>
            <a:prstDash val="solid"/>
            <a:tailEnd type="triangle"/>
          </a:ln>
        </p:spPr>
      </p:sp>
      <p:sp>
        <p:nvSpPr>
          <p:cNvPr id="15" name="Text 13"/>
          <p:cNvSpPr/>
          <p:nvPr/>
        </p:nvSpPr>
        <p:spPr>
          <a:xfrm>
            <a:off x="548640" y="2788920"/>
            <a:ext cx="11109960" cy="320040"/>
          </a:xfrm>
          <a:prstGeom prst="rect">
            <a:avLst/>
          </a:prstGeom>
          <a:noFill/>
          <a:ln/>
        </p:spPr>
        <p:txBody>
          <a:bodyPr wrap="square" lIns="0" tIns="0" rIns="0" bIns="0" rtlCol="0" anchor="ctr"/>
          <a:lstStyle/>
          <a:p>
            <a:pPr algn="ctr" indent="0" marL="0">
              <a:buNone/>
            </a:pPr>
            <a:r>
              <a:rPr lang="en-US" sz="1300" b="1" dirty="0">
                <a:solidFill>
                  <a:srgbClr val="E5484D"/>
                </a:solidFill>
                <a:latin typeface="Calibri" pitchFamily="34" charset="0"/>
                <a:ea typeface="Calibri" pitchFamily="34" charset="-122"/>
                <a:cs typeface="Calibri" pitchFamily="34" charset="-120"/>
              </a:rPr>
              <a:t>True hidden state is used only AFTER fitting, to score the clusters.</a:t>
            </a:r>
            <a:endParaRPr lang="en-US" sz="1300" dirty="0"/>
          </a:p>
        </p:txBody>
      </p:sp>
      <p:graphicFrame>
        <p:nvGraphicFramePr>
          <p:cNvPr id="16" name="Chart 0" descr=""/>
          <p:cNvGraphicFramePr/>
          <p:nvPr/>
        </p:nvGraphicFramePr>
        <p:xfrm>
          <a:off x="548640" y="3246120"/>
          <a:ext cx="4754880" cy="301752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5669280" y="3291840"/>
            <a:ext cx="5989320" cy="292608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Features: the 3 judge scores, z-scored. They always sum to 1, so the data has only 2 real dimensions.</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Hierarchical clustering uses one row per conversation (6 features).</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Scored by matched accuracy (best of the 6 ways to name 3 clusters), ARI (1 = perfect, 0 = random) and silhouette (needs no labels).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PCA</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PCA: three judge scores really live in two dimensions</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pic>
        <p:nvPicPr>
          <p:cNvPr id="7" name="Image 0" descr="/tmp/claude-0/deck/fig/pca.png">    </p:cNvPr>
          <p:cNvPicPr>
            <a:picLocks noChangeAspect="1"/>
          </p:cNvPicPr>
          <p:nvPr/>
        </p:nvPicPr>
        <p:blipFill>
          <a:blip r:embed="rId1"/>
          <a:stretch>
            <a:fillRect/>
          </a:stretch>
        </p:blipFill>
        <p:spPr>
          <a:xfrm>
            <a:off x="548640" y="1371600"/>
            <a:ext cx="6035040" cy="3084576"/>
          </a:xfrm>
          <a:prstGeom prst="rect">
            <a:avLst/>
          </a:prstGeom>
        </p:spPr>
      </p:pic>
      <p:sp>
        <p:nvSpPr>
          <p:cNvPr id="8" name="Shape 5"/>
          <p:cNvSpPr/>
          <p:nvPr/>
        </p:nvSpPr>
        <p:spPr>
          <a:xfrm>
            <a:off x="6858000" y="1371600"/>
            <a:ext cx="4800600" cy="1920240"/>
          </a:xfrm>
          <a:prstGeom prst="rect">
            <a:avLst/>
          </a:prstGeom>
          <a:solidFill>
            <a:srgbClr val="ECFDF5"/>
          </a:solidFill>
          <a:ln w="12700">
            <a:solidFill>
              <a:srgbClr val="ECFDF5"/>
            </a:solidFill>
            <a:prstDash val="solid"/>
          </a:ln>
        </p:spPr>
      </p:sp>
      <p:sp>
        <p:nvSpPr>
          <p:cNvPr id="9" name="Shape 6"/>
          <p:cNvSpPr/>
          <p:nvPr/>
        </p:nvSpPr>
        <p:spPr>
          <a:xfrm>
            <a:off x="6858000" y="1371600"/>
            <a:ext cx="64008" cy="1920240"/>
          </a:xfrm>
          <a:prstGeom prst="rect">
            <a:avLst/>
          </a:prstGeom>
          <a:solidFill>
            <a:srgbClr val="0D9488"/>
          </a:solidFill>
          <a:ln w="12700">
            <a:solidFill>
              <a:srgbClr val="0D9488"/>
            </a:solidFill>
            <a:prstDash val="solid"/>
          </a:ln>
        </p:spPr>
      </p:sp>
      <p:sp>
        <p:nvSpPr>
          <p:cNvPr id="10" name="Text 7"/>
          <p:cNvSpPr/>
          <p:nvPr/>
        </p:nvSpPr>
        <p:spPr>
          <a:xfrm>
            <a:off x="7059168" y="1371600"/>
            <a:ext cx="4480560" cy="192024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IN PLAIN WORDS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PCA finds the directions along which the data varies most. Left: all turns sit on one flat sheet in 3-D, because the three scores sum to 1. PC1 and PC2 are two axes on that sheet; right: flattening onto them loses nothing.</a:t>
            </a:r>
            <a:endParaRPr lang="en-US" sz="1050" dirty="0"/>
          </a:p>
        </p:txBody>
      </p:sp>
      <p:sp>
        <p:nvSpPr>
          <p:cNvPr id="11" name="Shape 8"/>
          <p:cNvSpPr/>
          <p:nvPr/>
        </p:nvSpPr>
        <p:spPr>
          <a:xfrm>
            <a:off x="6858000" y="3474720"/>
            <a:ext cx="4800600" cy="883920"/>
          </a:xfrm>
          <a:prstGeom prst="rect">
            <a:avLst/>
          </a:prstGeom>
          <a:solidFill>
            <a:srgbClr val="F1F5F9"/>
          </a:solidFill>
          <a:ln w="12700">
            <a:solidFill>
              <a:srgbClr val="F1F5F9"/>
            </a:solidFill>
            <a:prstDash val="solid"/>
          </a:ln>
        </p:spPr>
      </p:sp>
      <p:sp>
        <p:nvSpPr>
          <p:cNvPr id="12" name="Text 9"/>
          <p:cNvSpPr/>
          <p:nvPr/>
        </p:nvSpPr>
        <p:spPr>
          <a:xfrm>
            <a:off x="6858000" y="3566160"/>
            <a:ext cx="4800600" cy="486156"/>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PC1: 67.7%</a:t>
            </a:r>
            <a:endParaRPr lang="en-US" sz="3000" dirty="0"/>
          </a:p>
        </p:txBody>
      </p:sp>
      <p:sp>
        <p:nvSpPr>
          <p:cNvPr id="13" name="Text 10"/>
          <p:cNvSpPr/>
          <p:nvPr/>
        </p:nvSpPr>
        <p:spPr>
          <a:xfrm>
            <a:off x="6949440" y="3987394"/>
            <a:ext cx="4617720" cy="335890"/>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of the variance</a:t>
            </a:r>
            <a:endParaRPr lang="en-US" sz="1150" dirty="0"/>
          </a:p>
        </p:txBody>
      </p:sp>
      <p:sp>
        <p:nvSpPr>
          <p:cNvPr id="14" name="Shape 11"/>
          <p:cNvSpPr/>
          <p:nvPr/>
        </p:nvSpPr>
        <p:spPr>
          <a:xfrm>
            <a:off x="6858000" y="4450080"/>
            <a:ext cx="4800600" cy="883920"/>
          </a:xfrm>
          <a:prstGeom prst="rect">
            <a:avLst/>
          </a:prstGeom>
          <a:solidFill>
            <a:srgbClr val="F1F5F9"/>
          </a:solidFill>
          <a:ln w="12700">
            <a:solidFill>
              <a:srgbClr val="F1F5F9"/>
            </a:solidFill>
            <a:prstDash val="solid"/>
          </a:ln>
        </p:spPr>
      </p:sp>
      <p:sp>
        <p:nvSpPr>
          <p:cNvPr id="15" name="Text 12"/>
          <p:cNvSpPr/>
          <p:nvPr/>
        </p:nvSpPr>
        <p:spPr>
          <a:xfrm>
            <a:off x="6858000" y="4541520"/>
            <a:ext cx="4800600" cy="486156"/>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PC2: 32.3%</a:t>
            </a:r>
            <a:endParaRPr lang="en-US" sz="3000" dirty="0"/>
          </a:p>
        </p:txBody>
      </p:sp>
      <p:sp>
        <p:nvSpPr>
          <p:cNvPr id="16" name="Text 13"/>
          <p:cNvSpPr/>
          <p:nvPr/>
        </p:nvSpPr>
        <p:spPr>
          <a:xfrm>
            <a:off x="6949440" y="4962754"/>
            <a:ext cx="4617720" cy="335890"/>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of the variance</a:t>
            </a:r>
            <a:endParaRPr lang="en-US" sz="1150" dirty="0"/>
          </a:p>
        </p:txBody>
      </p:sp>
      <p:sp>
        <p:nvSpPr>
          <p:cNvPr id="17" name="Shape 14"/>
          <p:cNvSpPr/>
          <p:nvPr/>
        </p:nvSpPr>
        <p:spPr>
          <a:xfrm>
            <a:off x="6858000" y="5425440"/>
            <a:ext cx="4800600" cy="883920"/>
          </a:xfrm>
          <a:prstGeom prst="rect">
            <a:avLst/>
          </a:prstGeom>
          <a:solidFill>
            <a:srgbClr val="F1F5F9"/>
          </a:solidFill>
          <a:ln w="12700">
            <a:solidFill>
              <a:srgbClr val="F1F5F9"/>
            </a:solidFill>
            <a:prstDash val="solid"/>
          </a:ln>
        </p:spPr>
      </p:sp>
      <p:sp>
        <p:nvSpPr>
          <p:cNvPr id="18" name="Text 15"/>
          <p:cNvSpPr/>
          <p:nvPr/>
        </p:nvSpPr>
        <p:spPr>
          <a:xfrm>
            <a:off x="6858000" y="5516880"/>
            <a:ext cx="4800600" cy="486156"/>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PC3: 0.0%</a:t>
            </a:r>
            <a:endParaRPr lang="en-US" sz="3000" dirty="0"/>
          </a:p>
        </p:txBody>
      </p:sp>
      <p:sp>
        <p:nvSpPr>
          <p:cNvPr id="19" name="Text 16"/>
          <p:cNvSpPr/>
          <p:nvPr/>
        </p:nvSpPr>
        <p:spPr>
          <a:xfrm>
            <a:off x="6949440" y="5938114"/>
            <a:ext cx="4617720" cy="335890"/>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exactly zero: the scores sum to 1</a:t>
            </a:r>
            <a:endParaRPr lang="en-US" sz="1150" dirty="0"/>
          </a:p>
        </p:txBody>
      </p:sp>
      <p:sp>
        <p:nvSpPr>
          <p:cNvPr id="20" name="Shape 17"/>
          <p:cNvSpPr/>
          <p:nvPr/>
        </p:nvSpPr>
        <p:spPr>
          <a:xfrm>
            <a:off x="548640" y="4639056"/>
            <a:ext cx="6035040" cy="1670304"/>
          </a:xfrm>
          <a:prstGeom prst="rect">
            <a:avLst/>
          </a:prstGeom>
          <a:solidFill>
            <a:srgbClr val="0F172A"/>
          </a:solidFill>
          <a:ln w="12700">
            <a:solidFill>
              <a:srgbClr val="0F172A"/>
            </a:solidFill>
            <a:prstDash val="solid"/>
          </a:ln>
        </p:spPr>
      </p:sp>
      <p:sp>
        <p:nvSpPr>
          <p:cNvPr id="21" name="Text 18"/>
          <p:cNvSpPr/>
          <p:nvPr/>
        </p:nvSpPr>
        <p:spPr>
          <a:xfrm>
            <a:off x="731520" y="4712208"/>
            <a:ext cx="566928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src/analysis/unsupervised.py (excerpt)</a:t>
            </a:r>
            <a:endParaRPr lang="en-US" sz="1050" dirty="0"/>
          </a:p>
        </p:txBody>
      </p:sp>
      <p:sp>
        <p:nvSpPr>
          <p:cNvPr id="22" name="Text 19"/>
          <p:cNvSpPr/>
          <p:nvPr/>
        </p:nvSpPr>
        <p:spPr>
          <a:xfrm>
            <a:off x="731520" y="5004816"/>
            <a:ext cx="5669280" cy="1213104"/>
          </a:xfrm>
          <a:prstGeom prst="rect">
            <a:avLst/>
          </a:prstGeom>
          <a:noFill/>
          <a:ln/>
        </p:spPr>
        <p:txBody>
          <a:bodyPr wrap="square" lIns="0" tIns="0" rIns="0" bIns="0" rtlCol="0" anchor="t"/>
          <a:lstStyle/>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S = (X - mean).T @ (X - mean) / len(X)    # covariance</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eigvals, eigvecs = np.linalg.eigh(S)      # S u = lambda u</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order = np.argsort(eigvals)[::-1]         # biggest first</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Z = (X - mean) @ U[:, :2]                 # keep 2 dims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K-MEANS</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K-means: assign points to centres, move centres, repeat</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pic>
        <p:nvPicPr>
          <p:cNvPr id="7" name="Image 0" descr="/tmp/claude-0/deck/fig/kmeans_steps.png">    </p:cNvPr>
          <p:cNvPicPr>
            <a:picLocks noChangeAspect="1"/>
          </p:cNvPicPr>
          <p:nvPr/>
        </p:nvPicPr>
        <p:blipFill>
          <a:blip r:embed="rId1"/>
          <a:stretch>
            <a:fillRect/>
          </a:stretch>
        </p:blipFill>
        <p:spPr>
          <a:xfrm>
            <a:off x="548640" y="1371600"/>
            <a:ext cx="7772400" cy="1972994"/>
          </a:xfrm>
          <a:prstGeom prst="rect">
            <a:avLst/>
          </a:prstGeom>
        </p:spPr>
      </p:pic>
      <p:sp>
        <p:nvSpPr>
          <p:cNvPr id="8" name="Shape 5"/>
          <p:cNvSpPr/>
          <p:nvPr/>
        </p:nvSpPr>
        <p:spPr>
          <a:xfrm>
            <a:off x="8595360" y="1371600"/>
            <a:ext cx="3063240" cy="1920240"/>
          </a:xfrm>
          <a:prstGeom prst="rect">
            <a:avLst/>
          </a:prstGeom>
          <a:solidFill>
            <a:srgbClr val="ECFDF5"/>
          </a:solidFill>
          <a:ln w="12700">
            <a:solidFill>
              <a:srgbClr val="ECFDF5"/>
            </a:solidFill>
            <a:prstDash val="solid"/>
          </a:ln>
        </p:spPr>
      </p:sp>
      <p:sp>
        <p:nvSpPr>
          <p:cNvPr id="9" name="Shape 6"/>
          <p:cNvSpPr/>
          <p:nvPr/>
        </p:nvSpPr>
        <p:spPr>
          <a:xfrm>
            <a:off x="8595360" y="1371600"/>
            <a:ext cx="64008" cy="1920240"/>
          </a:xfrm>
          <a:prstGeom prst="rect">
            <a:avLst/>
          </a:prstGeom>
          <a:solidFill>
            <a:srgbClr val="0D9488"/>
          </a:solidFill>
          <a:ln w="12700">
            <a:solidFill>
              <a:srgbClr val="0D9488"/>
            </a:solidFill>
            <a:prstDash val="solid"/>
          </a:ln>
        </p:spPr>
      </p:sp>
      <p:sp>
        <p:nvSpPr>
          <p:cNvPr id="10" name="Text 7"/>
          <p:cNvSpPr/>
          <p:nvPr/>
        </p:nvSpPr>
        <p:spPr>
          <a:xfrm>
            <a:off x="8796528" y="1371600"/>
            <a:ext cx="2743200" cy="192024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IN PLAIN WORDS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Every point joins its nearest centre (X), then each centre moves to the average of its points. Repeat until nothing moves (this example run took 5 rounds). k = 3 is chosen because the silhouette peaks there (0.684, versus 0.608 at k = 2 and 0.551 at k = 4).</a:t>
            </a:r>
            <a:endParaRPr lang="en-US" sz="1050" dirty="0"/>
          </a:p>
        </p:txBody>
      </p:sp>
      <p:sp>
        <p:nvSpPr>
          <p:cNvPr id="11" name="Shape 8"/>
          <p:cNvSpPr/>
          <p:nvPr/>
        </p:nvSpPr>
        <p:spPr>
          <a:xfrm>
            <a:off x="8595360" y="3474720"/>
            <a:ext cx="3063240" cy="883920"/>
          </a:xfrm>
          <a:prstGeom prst="rect">
            <a:avLst/>
          </a:prstGeom>
          <a:solidFill>
            <a:srgbClr val="F1F5F9"/>
          </a:solidFill>
          <a:ln w="12700">
            <a:solidFill>
              <a:srgbClr val="F1F5F9"/>
            </a:solidFill>
            <a:prstDash val="solid"/>
          </a:ln>
        </p:spPr>
      </p:sp>
      <p:sp>
        <p:nvSpPr>
          <p:cNvPr id="12" name="Text 9"/>
          <p:cNvSpPr/>
          <p:nvPr/>
        </p:nvSpPr>
        <p:spPr>
          <a:xfrm>
            <a:off x="8595360" y="3566160"/>
            <a:ext cx="3063240" cy="486156"/>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0.924</a:t>
            </a:r>
            <a:endParaRPr lang="en-US" sz="3000" dirty="0"/>
          </a:p>
        </p:txBody>
      </p:sp>
      <p:sp>
        <p:nvSpPr>
          <p:cNvPr id="13" name="Text 10"/>
          <p:cNvSpPr/>
          <p:nvPr/>
        </p:nvSpPr>
        <p:spPr>
          <a:xfrm>
            <a:off x="8686800" y="3987394"/>
            <a:ext cx="2880360" cy="335890"/>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ARI vs true state (sklearn gives the same)</a:t>
            </a:r>
            <a:endParaRPr lang="en-US" sz="1150" dirty="0"/>
          </a:p>
        </p:txBody>
      </p:sp>
      <p:sp>
        <p:nvSpPr>
          <p:cNvPr id="14" name="Shape 11"/>
          <p:cNvSpPr/>
          <p:nvPr/>
        </p:nvSpPr>
        <p:spPr>
          <a:xfrm>
            <a:off x="8595360" y="4450080"/>
            <a:ext cx="3063240" cy="883920"/>
          </a:xfrm>
          <a:prstGeom prst="rect">
            <a:avLst/>
          </a:prstGeom>
          <a:solidFill>
            <a:srgbClr val="F1F5F9"/>
          </a:solidFill>
          <a:ln w="12700">
            <a:solidFill>
              <a:srgbClr val="F1F5F9"/>
            </a:solidFill>
            <a:prstDash val="solid"/>
          </a:ln>
        </p:spPr>
      </p:sp>
      <p:sp>
        <p:nvSpPr>
          <p:cNvPr id="15" name="Text 12"/>
          <p:cNvSpPr/>
          <p:nvPr/>
        </p:nvSpPr>
        <p:spPr>
          <a:xfrm>
            <a:off x="8595360" y="4541520"/>
            <a:ext cx="3063240" cy="486156"/>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96.9%</a:t>
            </a:r>
            <a:endParaRPr lang="en-US" sz="3000" dirty="0"/>
          </a:p>
        </p:txBody>
      </p:sp>
      <p:sp>
        <p:nvSpPr>
          <p:cNvPr id="16" name="Text 13"/>
          <p:cNvSpPr/>
          <p:nvPr/>
        </p:nvSpPr>
        <p:spPr>
          <a:xfrm>
            <a:off x="8686800" y="4962754"/>
            <a:ext cx="2880360" cy="335890"/>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accuracy after matching</a:t>
            </a:r>
            <a:endParaRPr lang="en-US" sz="1150" dirty="0"/>
          </a:p>
        </p:txBody>
      </p:sp>
      <p:sp>
        <p:nvSpPr>
          <p:cNvPr id="17" name="Shape 14"/>
          <p:cNvSpPr/>
          <p:nvPr/>
        </p:nvSpPr>
        <p:spPr>
          <a:xfrm>
            <a:off x="8595360" y="5425440"/>
            <a:ext cx="3063240" cy="883920"/>
          </a:xfrm>
          <a:prstGeom prst="rect">
            <a:avLst/>
          </a:prstGeom>
          <a:solidFill>
            <a:srgbClr val="F1F5F9"/>
          </a:solidFill>
          <a:ln w="12700">
            <a:solidFill>
              <a:srgbClr val="F1F5F9"/>
            </a:solidFill>
            <a:prstDash val="solid"/>
          </a:ln>
        </p:spPr>
      </p:sp>
      <p:sp>
        <p:nvSpPr>
          <p:cNvPr id="18" name="Text 15"/>
          <p:cNvSpPr/>
          <p:nvPr/>
        </p:nvSpPr>
        <p:spPr>
          <a:xfrm>
            <a:off x="8595360" y="5516880"/>
            <a:ext cx="3063240" cy="486156"/>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0.684</a:t>
            </a:r>
            <a:endParaRPr lang="en-US" sz="3000" dirty="0"/>
          </a:p>
        </p:txBody>
      </p:sp>
      <p:sp>
        <p:nvSpPr>
          <p:cNvPr id="19" name="Text 16"/>
          <p:cNvSpPr/>
          <p:nvPr/>
        </p:nvSpPr>
        <p:spPr>
          <a:xfrm>
            <a:off x="8686800" y="5938114"/>
            <a:ext cx="2880360" cy="335890"/>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silhouette</a:t>
            </a:r>
            <a:endParaRPr lang="en-US" sz="1150" dirty="0"/>
          </a:p>
        </p:txBody>
      </p:sp>
      <p:sp>
        <p:nvSpPr>
          <p:cNvPr id="20" name="Shape 17"/>
          <p:cNvSpPr/>
          <p:nvPr/>
        </p:nvSpPr>
        <p:spPr>
          <a:xfrm>
            <a:off x="548640" y="3527474"/>
            <a:ext cx="7772400" cy="2781886"/>
          </a:xfrm>
          <a:prstGeom prst="rect">
            <a:avLst/>
          </a:prstGeom>
          <a:solidFill>
            <a:srgbClr val="0F172A"/>
          </a:solidFill>
          <a:ln w="12700">
            <a:solidFill>
              <a:srgbClr val="0F172A"/>
            </a:solidFill>
            <a:prstDash val="solid"/>
          </a:ln>
        </p:spPr>
      </p:sp>
      <p:sp>
        <p:nvSpPr>
          <p:cNvPr id="21" name="Text 18"/>
          <p:cNvSpPr/>
          <p:nvPr/>
        </p:nvSpPr>
        <p:spPr>
          <a:xfrm>
            <a:off x="731520" y="3600626"/>
            <a:ext cx="740664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src/analysis/unsupervised.py (excerpt, shortened)</a:t>
            </a:r>
            <a:endParaRPr lang="en-US" sz="1050" dirty="0"/>
          </a:p>
        </p:txBody>
      </p:sp>
      <p:sp>
        <p:nvSpPr>
          <p:cNvPr id="22" name="Text 19"/>
          <p:cNvSpPr/>
          <p:nvPr/>
        </p:nvSpPr>
        <p:spPr>
          <a:xfrm>
            <a:off x="731520" y="3893234"/>
            <a:ext cx="7406640" cy="2324686"/>
          </a:xfrm>
          <a:prstGeom prst="rect">
            <a:avLst/>
          </a:prstGeom>
          <a:noFill/>
          <a:ln/>
        </p:spPr>
        <p:txBody>
          <a:bodyPr wrap="square" lIns="0" tIns="0" rIns="0" bIns="0" rtlCol="0" anchor="t"/>
          <a:lstStyle/>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for _ in range(max_iter):</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labels = sq_dists(X, mu).argmin(axis=1)    # assign</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new_mu = np.array([X[labels == j].mean(axis=0)</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for j in range(k)])      # update</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if np.allclose(new_mu, mu): break          # converged</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mu = new_mu</a:t>
            </a:r>
            <a:endParaRPr lang="en-US" sz="1250" dirty="0"/>
          </a:p>
          <a:p>
            <a:pPr indent="0" marL="0">
              <a:spcAft>
                <a:spcPts val="200"/>
              </a:spcAft>
              <a:buNone/>
            </a:pPr>
            <a:r>
              <a:rPr lang="en-US" sz="1250" dirty="0">
                <a:solidFill>
                  <a:srgbClr val="94A3B8"/>
                </a:solidFill>
                <a:latin typeface="Consolas" pitchFamily="34" charset="0"/>
                <a:ea typeface="Consolas" pitchFamily="34" charset="-122"/>
                <a:cs typeface="Consolas" pitchFamily="34" charset="-120"/>
              </a:rPr>
              <a:t># k-means++ seeding, best of 10 runs by distortion J</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GAUSSIAN MIXTURES AND EM</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Gaussian mixtures: soft membership, fitted by EM</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pic>
        <p:nvPicPr>
          <p:cNvPr id="7" name="Image 0" descr="/tmp/claude-0/deck/fig/gmm.png">    </p:cNvPr>
          <p:cNvPicPr>
            <a:picLocks noChangeAspect="1"/>
          </p:cNvPicPr>
          <p:nvPr/>
        </p:nvPicPr>
        <p:blipFill>
          <a:blip r:embed="rId1"/>
          <a:stretch>
            <a:fillRect/>
          </a:stretch>
        </p:blipFill>
        <p:spPr>
          <a:xfrm>
            <a:off x="548640" y="1371600"/>
            <a:ext cx="6583680" cy="2606040"/>
          </a:xfrm>
          <a:prstGeom prst="rect">
            <a:avLst/>
          </a:prstGeom>
        </p:spPr>
      </p:pic>
      <p:sp>
        <p:nvSpPr>
          <p:cNvPr id="8" name="Shape 5"/>
          <p:cNvSpPr/>
          <p:nvPr/>
        </p:nvSpPr>
        <p:spPr>
          <a:xfrm>
            <a:off x="7406640" y="1371600"/>
            <a:ext cx="4251960" cy="1920240"/>
          </a:xfrm>
          <a:prstGeom prst="rect">
            <a:avLst/>
          </a:prstGeom>
          <a:solidFill>
            <a:srgbClr val="ECFDF5"/>
          </a:solidFill>
          <a:ln w="12700">
            <a:solidFill>
              <a:srgbClr val="ECFDF5"/>
            </a:solidFill>
            <a:prstDash val="solid"/>
          </a:ln>
        </p:spPr>
      </p:sp>
      <p:sp>
        <p:nvSpPr>
          <p:cNvPr id="9" name="Shape 6"/>
          <p:cNvSpPr/>
          <p:nvPr/>
        </p:nvSpPr>
        <p:spPr>
          <a:xfrm>
            <a:off x="7406640" y="1371600"/>
            <a:ext cx="64008" cy="1920240"/>
          </a:xfrm>
          <a:prstGeom prst="rect">
            <a:avLst/>
          </a:prstGeom>
          <a:solidFill>
            <a:srgbClr val="0D9488"/>
          </a:solidFill>
          <a:ln w="12700">
            <a:solidFill>
              <a:srgbClr val="0D9488"/>
            </a:solidFill>
            <a:prstDash val="solid"/>
          </a:ln>
        </p:spPr>
      </p:sp>
      <p:sp>
        <p:nvSpPr>
          <p:cNvPr id="10" name="Text 7"/>
          <p:cNvSpPr/>
          <p:nvPr/>
        </p:nvSpPr>
        <p:spPr>
          <a:xfrm>
            <a:off x="7607808" y="1371600"/>
            <a:ext cx="3931920" cy="192024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IN PLAIN WORDS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Each cluster is a Gaussian blob with its own centre, shape and weight, and a point gets a probability for each blob. EM alternates: E-step guesses each point's responsibilities, M-step refits the blobs using them. 43 borderline turns (right) are flagged uncertain instead of forced.</a:t>
            </a:r>
            <a:endParaRPr lang="en-US" sz="1050" dirty="0"/>
          </a:p>
        </p:txBody>
      </p:sp>
      <p:sp>
        <p:nvSpPr>
          <p:cNvPr id="11" name="Shape 8"/>
          <p:cNvSpPr/>
          <p:nvPr/>
        </p:nvSpPr>
        <p:spPr>
          <a:xfrm>
            <a:off x="7406640" y="3474720"/>
            <a:ext cx="4251960" cy="883920"/>
          </a:xfrm>
          <a:prstGeom prst="rect">
            <a:avLst/>
          </a:prstGeom>
          <a:solidFill>
            <a:srgbClr val="F1F5F9"/>
          </a:solidFill>
          <a:ln w="12700">
            <a:solidFill>
              <a:srgbClr val="F1F5F9"/>
            </a:solidFill>
            <a:prstDash val="solid"/>
          </a:ln>
        </p:spPr>
      </p:sp>
      <p:sp>
        <p:nvSpPr>
          <p:cNvPr id="12" name="Text 9"/>
          <p:cNvSpPr/>
          <p:nvPr/>
        </p:nvSpPr>
        <p:spPr>
          <a:xfrm>
            <a:off x="7406640" y="3566160"/>
            <a:ext cx="4251960" cy="486156"/>
          </a:xfrm>
          <a:prstGeom prst="rect">
            <a:avLst/>
          </a:prstGeom>
          <a:noFill/>
          <a:ln/>
        </p:spPr>
        <p:txBody>
          <a:bodyPr wrap="square" lIns="0" tIns="0" rIns="0" bIns="0" rtlCol="0" anchor="ctr"/>
          <a:lstStyle/>
          <a:p>
            <a:pPr algn="ctr" indent="0" marL="0">
              <a:buNone/>
            </a:pPr>
            <a:r>
              <a:rPr lang="en-US" sz="3000" b="1" dirty="0">
                <a:solidFill>
                  <a:srgbClr val="16A34A"/>
                </a:solidFill>
                <a:latin typeface="Calibri" pitchFamily="34" charset="0"/>
                <a:ea typeface="Calibri" pitchFamily="34" charset="-122"/>
                <a:cs typeface="Calibri" pitchFamily="34" charset="-120"/>
              </a:rPr>
              <a:t>0.865</a:t>
            </a:r>
            <a:endParaRPr lang="en-US" sz="3000" dirty="0"/>
          </a:p>
        </p:txBody>
      </p:sp>
      <p:sp>
        <p:nvSpPr>
          <p:cNvPr id="13" name="Text 10"/>
          <p:cNvSpPr/>
          <p:nvPr/>
        </p:nvSpPr>
        <p:spPr>
          <a:xfrm>
            <a:off x="7498080" y="3987394"/>
            <a:ext cx="4069080" cy="335890"/>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ARI vs true state</a:t>
            </a:r>
            <a:endParaRPr lang="en-US" sz="1150" dirty="0"/>
          </a:p>
        </p:txBody>
      </p:sp>
      <p:sp>
        <p:nvSpPr>
          <p:cNvPr id="14" name="Shape 11"/>
          <p:cNvSpPr/>
          <p:nvPr/>
        </p:nvSpPr>
        <p:spPr>
          <a:xfrm>
            <a:off x="7406640" y="4450080"/>
            <a:ext cx="4251960" cy="883920"/>
          </a:xfrm>
          <a:prstGeom prst="rect">
            <a:avLst/>
          </a:prstGeom>
          <a:solidFill>
            <a:srgbClr val="F1F5F9"/>
          </a:solidFill>
          <a:ln w="12700">
            <a:solidFill>
              <a:srgbClr val="F1F5F9"/>
            </a:solidFill>
            <a:prstDash val="solid"/>
          </a:ln>
        </p:spPr>
      </p:sp>
      <p:sp>
        <p:nvSpPr>
          <p:cNvPr id="15" name="Text 12"/>
          <p:cNvSpPr/>
          <p:nvPr/>
        </p:nvSpPr>
        <p:spPr>
          <a:xfrm>
            <a:off x="7406640" y="4541520"/>
            <a:ext cx="4251960" cy="486156"/>
          </a:xfrm>
          <a:prstGeom prst="rect">
            <a:avLst/>
          </a:prstGeom>
          <a:noFill/>
          <a:ln/>
        </p:spPr>
        <p:txBody>
          <a:bodyPr wrap="square" lIns="0" tIns="0" rIns="0" bIns="0" rtlCol="0" anchor="ctr"/>
          <a:lstStyle/>
          <a:p>
            <a:pPr algn="ctr" indent="0" marL="0">
              <a:buNone/>
            </a:pPr>
            <a:r>
              <a:rPr lang="en-US" sz="3000" b="1" dirty="0">
                <a:solidFill>
                  <a:srgbClr val="16A34A"/>
                </a:solidFill>
                <a:latin typeface="Calibri" pitchFamily="34" charset="0"/>
                <a:ea typeface="Calibri" pitchFamily="34" charset="-122"/>
                <a:cs typeface="Calibri" pitchFamily="34" charset="-120"/>
              </a:rPr>
              <a:t>95.1%</a:t>
            </a:r>
            <a:endParaRPr lang="en-US" sz="3000" dirty="0"/>
          </a:p>
        </p:txBody>
      </p:sp>
      <p:sp>
        <p:nvSpPr>
          <p:cNvPr id="16" name="Text 13"/>
          <p:cNvSpPr/>
          <p:nvPr/>
        </p:nvSpPr>
        <p:spPr>
          <a:xfrm>
            <a:off x="7498080" y="4962754"/>
            <a:ext cx="4069080" cy="335890"/>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accuracy after matching (41 EM iterations)</a:t>
            </a:r>
            <a:endParaRPr lang="en-US" sz="1150" dirty="0"/>
          </a:p>
        </p:txBody>
      </p:sp>
      <p:sp>
        <p:nvSpPr>
          <p:cNvPr id="17" name="Shape 14"/>
          <p:cNvSpPr/>
          <p:nvPr/>
        </p:nvSpPr>
        <p:spPr>
          <a:xfrm>
            <a:off x="7406640" y="5425440"/>
            <a:ext cx="4251960" cy="883920"/>
          </a:xfrm>
          <a:prstGeom prst="rect">
            <a:avLst/>
          </a:prstGeom>
          <a:solidFill>
            <a:srgbClr val="F1F5F9"/>
          </a:solidFill>
          <a:ln w="12700">
            <a:solidFill>
              <a:srgbClr val="F1F5F9"/>
            </a:solidFill>
            <a:prstDash val="solid"/>
          </a:ln>
        </p:spPr>
      </p:sp>
      <p:sp>
        <p:nvSpPr>
          <p:cNvPr id="18" name="Text 15"/>
          <p:cNvSpPr/>
          <p:nvPr/>
        </p:nvSpPr>
        <p:spPr>
          <a:xfrm>
            <a:off x="7406640" y="5516880"/>
            <a:ext cx="4251960" cy="486156"/>
          </a:xfrm>
          <a:prstGeom prst="rect">
            <a:avLst/>
          </a:prstGeom>
          <a:noFill/>
          <a:ln/>
        </p:spPr>
        <p:txBody>
          <a:bodyPr wrap="square" lIns="0" tIns="0" rIns="0" bIns="0" rtlCol="0" anchor="ctr"/>
          <a:lstStyle/>
          <a:p>
            <a:pPr algn="ctr" indent="0" marL="0">
              <a:buNone/>
            </a:pPr>
            <a:r>
              <a:rPr lang="en-US" sz="3000" b="1" dirty="0">
                <a:solidFill>
                  <a:srgbClr val="16A34A"/>
                </a:solidFill>
                <a:latin typeface="Calibri" pitchFamily="34" charset="0"/>
                <a:ea typeface="Calibri" pitchFamily="34" charset="-122"/>
                <a:cs typeface="Calibri" pitchFamily="34" charset="-120"/>
              </a:rPr>
              <a:t>0.652</a:t>
            </a:r>
            <a:endParaRPr lang="en-US" sz="3000" dirty="0"/>
          </a:p>
        </p:txBody>
      </p:sp>
      <p:sp>
        <p:nvSpPr>
          <p:cNvPr id="19" name="Text 16"/>
          <p:cNvSpPr/>
          <p:nvPr/>
        </p:nvSpPr>
        <p:spPr>
          <a:xfrm>
            <a:off x="7498080" y="5938114"/>
            <a:ext cx="4069080" cy="335890"/>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silhouette</a:t>
            </a:r>
            <a:endParaRPr lang="en-US" sz="1150" dirty="0"/>
          </a:p>
        </p:txBody>
      </p:sp>
      <p:sp>
        <p:nvSpPr>
          <p:cNvPr id="20" name="Shape 17"/>
          <p:cNvSpPr/>
          <p:nvPr/>
        </p:nvSpPr>
        <p:spPr>
          <a:xfrm>
            <a:off x="548640" y="4160520"/>
            <a:ext cx="6583680" cy="2148840"/>
          </a:xfrm>
          <a:prstGeom prst="rect">
            <a:avLst/>
          </a:prstGeom>
          <a:solidFill>
            <a:srgbClr val="0F172A"/>
          </a:solidFill>
          <a:ln w="12700">
            <a:solidFill>
              <a:srgbClr val="0F172A"/>
            </a:solidFill>
            <a:prstDash val="solid"/>
          </a:ln>
        </p:spPr>
      </p:sp>
      <p:sp>
        <p:nvSpPr>
          <p:cNvPr id="21" name="Text 18"/>
          <p:cNvSpPr/>
          <p:nvPr/>
        </p:nvSpPr>
        <p:spPr>
          <a:xfrm>
            <a:off x="731520" y="4233672"/>
            <a:ext cx="621792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src/analysis/unsupervised.py (excerpt, line breaks added)</a:t>
            </a:r>
            <a:endParaRPr lang="en-US" sz="1050" dirty="0"/>
          </a:p>
        </p:txBody>
      </p:sp>
      <p:sp>
        <p:nvSpPr>
          <p:cNvPr id="22" name="Text 19"/>
          <p:cNvSpPr/>
          <p:nvPr/>
        </p:nvSpPr>
        <p:spPr>
          <a:xfrm>
            <a:off x="731520" y="4526280"/>
            <a:ext cx="6217920" cy="1691640"/>
          </a:xfrm>
          <a:prstGeom prst="rect">
            <a:avLst/>
          </a:prstGeom>
          <a:noFill/>
          <a:ln/>
        </p:spPr>
        <p:txBody>
          <a:bodyPr wrap="square" lIns="0" tIns="0" rIns="0" bIns="0" rtlCol="0" anchor="t"/>
          <a:lstStyle/>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Nk = R.sum(axis=0)                    # M-step: weights,</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pi, mu = Nk / N, (R.T @ X) / Nk[:, None]    # centres</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cov = ... (R[:, j, None] * (X - mu[j])).T @ (X - mu[j])</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 Nk[j] + reg * np.eye(D)       # shapes</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log_joint = log(pi_j) + log_gauss(X, mu_j, cov_j)  # E-step</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R = np.exp(log_joint - log_norm[:, None])  # responsibilities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HIERARCHICAL CLUSTERING</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Hierarchical: merge the closest clusters, then cut the tree</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pic>
        <p:nvPicPr>
          <p:cNvPr id="7" name="Image 0" descr="/tmp/claude-0/deck/fig/hier.png">    </p:cNvPr>
          <p:cNvPicPr>
            <a:picLocks noChangeAspect="1"/>
          </p:cNvPicPr>
          <p:nvPr/>
        </p:nvPicPr>
        <p:blipFill>
          <a:blip r:embed="rId1"/>
          <a:stretch>
            <a:fillRect/>
          </a:stretch>
        </p:blipFill>
        <p:spPr>
          <a:xfrm>
            <a:off x="548640" y="1371600"/>
            <a:ext cx="6949440" cy="2463892"/>
          </a:xfrm>
          <a:prstGeom prst="rect">
            <a:avLst/>
          </a:prstGeom>
        </p:spPr>
      </p:pic>
      <p:sp>
        <p:nvSpPr>
          <p:cNvPr id="8" name="Shape 5"/>
          <p:cNvSpPr/>
          <p:nvPr/>
        </p:nvSpPr>
        <p:spPr>
          <a:xfrm>
            <a:off x="7772400" y="1371600"/>
            <a:ext cx="3886200" cy="2011680"/>
          </a:xfrm>
          <a:prstGeom prst="rect">
            <a:avLst/>
          </a:prstGeom>
          <a:solidFill>
            <a:srgbClr val="ECFDF5"/>
          </a:solidFill>
          <a:ln w="12700">
            <a:solidFill>
              <a:srgbClr val="ECFDF5"/>
            </a:solidFill>
            <a:prstDash val="solid"/>
          </a:ln>
        </p:spPr>
      </p:sp>
      <p:sp>
        <p:nvSpPr>
          <p:cNvPr id="9" name="Shape 6"/>
          <p:cNvSpPr/>
          <p:nvPr/>
        </p:nvSpPr>
        <p:spPr>
          <a:xfrm>
            <a:off x="7772400" y="1371600"/>
            <a:ext cx="64008" cy="2011680"/>
          </a:xfrm>
          <a:prstGeom prst="rect">
            <a:avLst/>
          </a:prstGeom>
          <a:solidFill>
            <a:srgbClr val="0D9488"/>
          </a:solidFill>
          <a:ln w="12700">
            <a:solidFill>
              <a:srgbClr val="0D9488"/>
            </a:solidFill>
            <a:prstDash val="solid"/>
          </a:ln>
        </p:spPr>
      </p:sp>
      <p:sp>
        <p:nvSpPr>
          <p:cNvPr id="10" name="Text 7"/>
          <p:cNvSpPr/>
          <p:nvPr/>
        </p:nvSpPr>
        <p:spPr>
          <a:xfrm>
            <a:off x="7973568" y="1371600"/>
            <a:ext cx="3566160" cy="201168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IN PLAIN WORDS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Merge the two closest conversations or clusters, repeatedly, until 3 remain. The only choice is how to measure distance between clusters. Runs on 220 conversations, not turns, and linkage was compared against true labels, so 0.692 is slightly optimistic.</a:t>
            </a:r>
            <a:endParaRPr lang="en-US" sz="1050" dirty="0"/>
          </a:p>
        </p:txBody>
      </p:sp>
      <p:sp>
        <p:nvSpPr>
          <p:cNvPr id="11" name="Shape 8"/>
          <p:cNvSpPr/>
          <p:nvPr/>
        </p:nvSpPr>
        <p:spPr>
          <a:xfrm>
            <a:off x="7772400" y="3566160"/>
            <a:ext cx="3886200" cy="853440"/>
          </a:xfrm>
          <a:prstGeom prst="rect">
            <a:avLst/>
          </a:prstGeom>
          <a:solidFill>
            <a:srgbClr val="F1F5F9"/>
          </a:solidFill>
          <a:ln w="12700">
            <a:solidFill>
              <a:srgbClr val="F1F5F9"/>
            </a:solidFill>
            <a:prstDash val="solid"/>
          </a:ln>
        </p:spPr>
      </p:sp>
      <p:sp>
        <p:nvSpPr>
          <p:cNvPr id="12" name="Text 9"/>
          <p:cNvSpPr/>
          <p:nvPr/>
        </p:nvSpPr>
        <p:spPr>
          <a:xfrm>
            <a:off x="7772400" y="3657600"/>
            <a:ext cx="3886200" cy="469392"/>
          </a:xfrm>
          <a:prstGeom prst="rect">
            <a:avLst/>
          </a:prstGeom>
          <a:noFill/>
          <a:ln/>
        </p:spPr>
        <p:txBody>
          <a:bodyPr wrap="square" lIns="0" tIns="0" rIns="0" bIns="0" rtlCol="0" anchor="ctr"/>
          <a:lstStyle/>
          <a:p>
            <a:pPr algn="ctr" indent="0" marL="0">
              <a:buNone/>
            </a:pPr>
            <a:r>
              <a:rPr lang="en-US" sz="3000" b="1" dirty="0">
                <a:solidFill>
                  <a:srgbClr val="7C3AED"/>
                </a:solidFill>
                <a:latin typeface="Calibri" pitchFamily="34" charset="0"/>
                <a:ea typeface="Calibri" pitchFamily="34" charset="-122"/>
                <a:cs typeface="Calibri" pitchFamily="34" charset="-120"/>
              </a:rPr>
              <a:t>0.692</a:t>
            </a:r>
            <a:endParaRPr lang="en-US" sz="3000" dirty="0"/>
          </a:p>
        </p:txBody>
      </p:sp>
      <p:sp>
        <p:nvSpPr>
          <p:cNvPr id="13" name="Text 10"/>
          <p:cNvSpPr/>
          <p:nvPr/>
        </p:nvSpPr>
        <p:spPr>
          <a:xfrm>
            <a:off x="7863840" y="4061155"/>
            <a:ext cx="3703320" cy="324307"/>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ARI, complete linkage</a:t>
            </a:r>
            <a:endParaRPr lang="en-US" sz="1150" dirty="0"/>
          </a:p>
        </p:txBody>
      </p:sp>
      <p:sp>
        <p:nvSpPr>
          <p:cNvPr id="14" name="Shape 11"/>
          <p:cNvSpPr/>
          <p:nvPr/>
        </p:nvSpPr>
        <p:spPr>
          <a:xfrm>
            <a:off x="7772400" y="4511040"/>
            <a:ext cx="3886200" cy="853440"/>
          </a:xfrm>
          <a:prstGeom prst="rect">
            <a:avLst/>
          </a:prstGeom>
          <a:solidFill>
            <a:srgbClr val="F1F5F9"/>
          </a:solidFill>
          <a:ln w="12700">
            <a:solidFill>
              <a:srgbClr val="F1F5F9"/>
            </a:solidFill>
            <a:prstDash val="solid"/>
          </a:ln>
        </p:spPr>
      </p:sp>
      <p:sp>
        <p:nvSpPr>
          <p:cNvPr id="15" name="Text 12"/>
          <p:cNvSpPr/>
          <p:nvPr/>
        </p:nvSpPr>
        <p:spPr>
          <a:xfrm>
            <a:off x="7772400" y="4602480"/>
            <a:ext cx="3886200" cy="469392"/>
          </a:xfrm>
          <a:prstGeom prst="rect">
            <a:avLst/>
          </a:prstGeom>
          <a:noFill/>
          <a:ln/>
        </p:spPr>
        <p:txBody>
          <a:bodyPr wrap="square" lIns="0" tIns="0" rIns="0" bIns="0" rtlCol="0" anchor="ctr"/>
          <a:lstStyle/>
          <a:p>
            <a:pPr algn="ctr" indent="0" marL="0">
              <a:buNone/>
            </a:pPr>
            <a:r>
              <a:rPr lang="en-US" sz="3000" b="1" dirty="0">
                <a:solidFill>
                  <a:srgbClr val="7C3AED"/>
                </a:solidFill>
                <a:latin typeface="Calibri" pitchFamily="34" charset="0"/>
                <a:ea typeface="Calibri" pitchFamily="34" charset="-122"/>
                <a:cs typeface="Calibri" pitchFamily="34" charset="-120"/>
              </a:rPr>
              <a:t>80.5%</a:t>
            </a:r>
            <a:endParaRPr lang="en-US" sz="3000" dirty="0"/>
          </a:p>
        </p:txBody>
      </p:sp>
      <p:sp>
        <p:nvSpPr>
          <p:cNvPr id="16" name="Text 13"/>
          <p:cNvSpPr/>
          <p:nvPr/>
        </p:nvSpPr>
        <p:spPr>
          <a:xfrm>
            <a:off x="7863840" y="5006035"/>
            <a:ext cx="3703320" cy="324307"/>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accuracy after matching</a:t>
            </a:r>
            <a:endParaRPr lang="en-US" sz="1150" dirty="0"/>
          </a:p>
        </p:txBody>
      </p:sp>
      <p:sp>
        <p:nvSpPr>
          <p:cNvPr id="17" name="Shape 14"/>
          <p:cNvSpPr/>
          <p:nvPr/>
        </p:nvSpPr>
        <p:spPr>
          <a:xfrm>
            <a:off x="7772400" y="5455920"/>
            <a:ext cx="3886200" cy="853440"/>
          </a:xfrm>
          <a:prstGeom prst="rect">
            <a:avLst/>
          </a:prstGeom>
          <a:solidFill>
            <a:srgbClr val="F1F5F9"/>
          </a:solidFill>
          <a:ln w="12700">
            <a:solidFill>
              <a:srgbClr val="F1F5F9"/>
            </a:solidFill>
            <a:prstDash val="solid"/>
          </a:ln>
        </p:spPr>
      </p:sp>
      <p:sp>
        <p:nvSpPr>
          <p:cNvPr id="18" name="Text 15"/>
          <p:cNvSpPr/>
          <p:nvPr/>
        </p:nvSpPr>
        <p:spPr>
          <a:xfrm>
            <a:off x="7772400" y="5547360"/>
            <a:ext cx="3886200" cy="469392"/>
          </a:xfrm>
          <a:prstGeom prst="rect">
            <a:avLst/>
          </a:prstGeom>
          <a:noFill/>
          <a:ln/>
        </p:spPr>
        <p:txBody>
          <a:bodyPr wrap="square" lIns="0" tIns="0" rIns="0" bIns="0" rtlCol="0" anchor="ctr"/>
          <a:lstStyle/>
          <a:p>
            <a:pPr algn="ctr" indent="0" marL="0">
              <a:buNone/>
            </a:pPr>
            <a:r>
              <a:rPr lang="en-US" sz="3000" b="1" dirty="0">
                <a:solidFill>
                  <a:srgbClr val="7C3AED"/>
                </a:solidFill>
                <a:latin typeface="Calibri" pitchFamily="34" charset="0"/>
                <a:ea typeface="Calibri" pitchFamily="34" charset="-122"/>
                <a:cs typeface="Calibri" pitchFamily="34" charset="-120"/>
              </a:rPr>
              <a:t>0.423</a:t>
            </a:r>
            <a:endParaRPr lang="en-US" sz="3000" dirty="0"/>
          </a:p>
        </p:txBody>
      </p:sp>
      <p:sp>
        <p:nvSpPr>
          <p:cNvPr id="19" name="Text 16"/>
          <p:cNvSpPr/>
          <p:nvPr/>
        </p:nvSpPr>
        <p:spPr>
          <a:xfrm>
            <a:off x="7863840" y="5950915"/>
            <a:ext cx="3703320" cy="324307"/>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silhouette</a:t>
            </a:r>
            <a:endParaRPr lang="en-US" sz="1150" dirty="0"/>
          </a:p>
        </p:txBody>
      </p:sp>
      <p:sp>
        <p:nvSpPr>
          <p:cNvPr id="20" name="Shape 17"/>
          <p:cNvSpPr/>
          <p:nvPr/>
        </p:nvSpPr>
        <p:spPr>
          <a:xfrm>
            <a:off x="548640" y="4018372"/>
            <a:ext cx="6949440" cy="2290988"/>
          </a:xfrm>
          <a:prstGeom prst="rect">
            <a:avLst/>
          </a:prstGeom>
          <a:solidFill>
            <a:srgbClr val="0F172A"/>
          </a:solidFill>
          <a:ln w="12700">
            <a:solidFill>
              <a:srgbClr val="0F172A"/>
            </a:solidFill>
            <a:prstDash val="solid"/>
          </a:ln>
        </p:spPr>
      </p:sp>
      <p:sp>
        <p:nvSpPr>
          <p:cNvPr id="21" name="Text 18"/>
          <p:cNvSpPr/>
          <p:nvPr/>
        </p:nvSpPr>
        <p:spPr>
          <a:xfrm>
            <a:off x="731520" y="4091524"/>
            <a:ext cx="658368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src/analysis/unsupervised.py (excerpt, shortened)</a:t>
            </a:r>
            <a:endParaRPr lang="en-US" sz="1050" dirty="0"/>
          </a:p>
        </p:txBody>
      </p:sp>
      <p:sp>
        <p:nvSpPr>
          <p:cNvPr id="22" name="Text 19"/>
          <p:cNvSpPr/>
          <p:nvPr/>
        </p:nvSpPr>
        <p:spPr>
          <a:xfrm>
            <a:off x="731520" y="4384132"/>
            <a:ext cx="6583680" cy="1833788"/>
          </a:xfrm>
          <a:prstGeom prst="rect">
            <a:avLst/>
          </a:prstGeom>
          <a:noFill/>
          <a:ln/>
        </p:spPr>
        <p:txBody>
          <a:bodyPr wrap="square" lIns="0" tIns="0" rIns="0" bIns="0" rtlCol="0" anchor="t"/>
          <a:lstStyle/>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a, b = np.unravel_index(np.argmin(D), D.shape)  # closest pair</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if linkage == "single":   new = np.minimum(dac, dbc)</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elif linkage == "complete": new = np.maximum(dac, dbc)</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elif linkage == "average":</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new = (na * dac + nb * dbc) / (na + nb)</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D[a, o] = D[o, a] = new     # merge a and b, retire b</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BEYOND UNIT 3: HMM</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HMM: now use the order of turns, not just the scores</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pic>
        <p:nvPicPr>
          <p:cNvPr id="7" name="Image 0" descr="/tmp/claude-0/deck/fig/hmm.png">    </p:cNvPr>
          <p:cNvPicPr>
            <a:picLocks noChangeAspect="1"/>
          </p:cNvPicPr>
          <p:nvPr/>
        </p:nvPicPr>
        <p:blipFill>
          <a:blip r:embed="rId1"/>
          <a:stretch>
            <a:fillRect/>
          </a:stretch>
        </p:blipFill>
        <p:spPr>
          <a:xfrm>
            <a:off x="548640" y="1371600"/>
            <a:ext cx="5394960" cy="2565896"/>
          </a:xfrm>
          <a:prstGeom prst="rect">
            <a:avLst/>
          </a:prstGeom>
        </p:spPr>
      </p:pic>
      <p:sp>
        <p:nvSpPr>
          <p:cNvPr id="8" name="Shape 5"/>
          <p:cNvSpPr/>
          <p:nvPr/>
        </p:nvSpPr>
        <p:spPr>
          <a:xfrm>
            <a:off x="6217920" y="1371600"/>
            <a:ext cx="5440680" cy="2011680"/>
          </a:xfrm>
          <a:prstGeom prst="rect">
            <a:avLst/>
          </a:prstGeom>
          <a:solidFill>
            <a:srgbClr val="ECFDF5"/>
          </a:solidFill>
          <a:ln w="12700">
            <a:solidFill>
              <a:srgbClr val="ECFDF5"/>
            </a:solidFill>
            <a:prstDash val="solid"/>
          </a:ln>
        </p:spPr>
      </p:sp>
      <p:sp>
        <p:nvSpPr>
          <p:cNvPr id="9" name="Shape 6"/>
          <p:cNvSpPr/>
          <p:nvPr/>
        </p:nvSpPr>
        <p:spPr>
          <a:xfrm>
            <a:off x="6217920" y="1371600"/>
            <a:ext cx="64008" cy="2011680"/>
          </a:xfrm>
          <a:prstGeom prst="rect">
            <a:avLst/>
          </a:prstGeom>
          <a:solidFill>
            <a:srgbClr val="0D9488"/>
          </a:solidFill>
          <a:ln w="12700">
            <a:solidFill>
              <a:srgbClr val="0D9488"/>
            </a:solidFill>
            <a:prstDash val="solid"/>
          </a:ln>
        </p:spPr>
      </p:sp>
      <p:sp>
        <p:nvSpPr>
          <p:cNvPr id="10" name="Text 7"/>
          <p:cNvSpPr/>
          <p:nvPr/>
        </p:nvSpPr>
        <p:spPr>
          <a:xfrm>
            <a:off x="6419088" y="1371600"/>
            <a:ext cx="5120640" cy="201168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IN PLAIN WORDS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The conversation moves through hidden states and each emits scores, so a refusal is often followed by another. The 0.99 "stay" in full violation is a stopping-rule artefact (conversations end at first success). Uses the hmmlearn library.</a:t>
            </a:r>
            <a:endParaRPr lang="en-US" sz="1050" dirty="0"/>
          </a:p>
        </p:txBody>
      </p:sp>
      <p:sp>
        <p:nvSpPr>
          <p:cNvPr id="11" name="Shape 8"/>
          <p:cNvSpPr/>
          <p:nvPr/>
        </p:nvSpPr>
        <p:spPr>
          <a:xfrm>
            <a:off x="6217920" y="3566160"/>
            <a:ext cx="5440680" cy="853440"/>
          </a:xfrm>
          <a:prstGeom prst="rect">
            <a:avLst/>
          </a:prstGeom>
          <a:solidFill>
            <a:srgbClr val="F1F5F9"/>
          </a:solidFill>
          <a:ln w="12700">
            <a:solidFill>
              <a:srgbClr val="F1F5F9"/>
            </a:solidFill>
            <a:prstDash val="solid"/>
          </a:ln>
        </p:spPr>
      </p:sp>
      <p:sp>
        <p:nvSpPr>
          <p:cNvPr id="12" name="Text 9"/>
          <p:cNvSpPr/>
          <p:nvPr/>
        </p:nvSpPr>
        <p:spPr>
          <a:xfrm>
            <a:off x="6217920" y="3657600"/>
            <a:ext cx="5440680" cy="469392"/>
          </a:xfrm>
          <a:prstGeom prst="rect">
            <a:avLst/>
          </a:prstGeom>
          <a:noFill/>
          <a:ln/>
        </p:spPr>
        <p:txBody>
          <a:bodyPr wrap="square" lIns="0" tIns="0" rIns="0" bIns="0" rtlCol="0" anchor="ctr"/>
          <a:lstStyle/>
          <a:p>
            <a:pPr algn="ctr" indent="0" marL="0">
              <a:buNone/>
            </a:pPr>
            <a:r>
              <a:rPr lang="en-US" sz="3000" b="1" dirty="0">
                <a:solidFill>
                  <a:srgbClr val="E5484D"/>
                </a:solidFill>
                <a:latin typeface="Calibri" pitchFamily="34" charset="0"/>
                <a:ea typeface="Calibri" pitchFamily="34" charset="-122"/>
                <a:cs typeface="Calibri" pitchFamily="34" charset="-120"/>
              </a:rPr>
              <a:t>95.1%</a:t>
            </a:r>
            <a:endParaRPr lang="en-US" sz="3000" dirty="0"/>
          </a:p>
        </p:txBody>
      </p:sp>
      <p:sp>
        <p:nvSpPr>
          <p:cNvPr id="13" name="Text 10"/>
          <p:cNvSpPr/>
          <p:nvPr/>
        </p:nvSpPr>
        <p:spPr>
          <a:xfrm>
            <a:off x="6309360" y="4061155"/>
            <a:ext cx="5257800" cy="324307"/>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accuracy after matching</a:t>
            </a:r>
            <a:endParaRPr lang="en-US" sz="1150" dirty="0"/>
          </a:p>
        </p:txBody>
      </p:sp>
      <p:sp>
        <p:nvSpPr>
          <p:cNvPr id="14" name="Shape 11"/>
          <p:cNvSpPr/>
          <p:nvPr/>
        </p:nvSpPr>
        <p:spPr>
          <a:xfrm>
            <a:off x="6217920" y="4511040"/>
            <a:ext cx="5440680" cy="853440"/>
          </a:xfrm>
          <a:prstGeom prst="rect">
            <a:avLst/>
          </a:prstGeom>
          <a:solidFill>
            <a:srgbClr val="F1F5F9"/>
          </a:solidFill>
          <a:ln w="12700">
            <a:solidFill>
              <a:srgbClr val="F1F5F9"/>
            </a:solidFill>
            <a:prstDash val="solid"/>
          </a:ln>
        </p:spPr>
      </p:sp>
      <p:sp>
        <p:nvSpPr>
          <p:cNvPr id="15" name="Text 12"/>
          <p:cNvSpPr/>
          <p:nvPr/>
        </p:nvSpPr>
        <p:spPr>
          <a:xfrm>
            <a:off x="6217920" y="4602480"/>
            <a:ext cx="5440680" cy="469392"/>
          </a:xfrm>
          <a:prstGeom prst="rect">
            <a:avLst/>
          </a:prstGeom>
          <a:noFill/>
          <a:ln/>
        </p:spPr>
        <p:txBody>
          <a:bodyPr wrap="square" lIns="0" tIns="0" rIns="0" bIns="0" rtlCol="0" anchor="ctr"/>
          <a:lstStyle/>
          <a:p>
            <a:pPr algn="ctr" indent="0" marL="0">
              <a:buNone/>
            </a:pPr>
            <a:r>
              <a:rPr lang="en-US" sz="3000" b="1" dirty="0">
                <a:solidFill>
                  <a:srgbClr val="E5484D"/>
                </a:solidFill>
                <a:latin typeface="Calibri" pitchFamily="34" charset="0"/>
                <a:ea typeface="Calibri" pitchFamily="34" charset="-122"/>
                <a:cs typeface="Calibri" pitchFamily="34" charset="-120"/>
              </a:rPr>
              <a:t>0.868</a:t>
            </a:r>
            <a:endParaRPr lang="en-US" sz="3000" dirty="0"/>
          </a:p>
        </p:txBody>
      </p:sp>
      <p:sp>
        <p:nvSpPr>
          <p:cNvPr id="16" name="Text 13"/>
          <p:cNvSpPr/>
          <p:nvPr/>
        </p:nvSpPr>
        <p:spPr>
          <a:xfrm>
            <a:off x="6309360" y="5006035"/>
            <a:ext cx="5257800" cy="324307"/>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ARI vs true state</a:t>
            </a:r>
            <a:endParaRPr lang="en-US" sz="1150" dirty="0"/>
          </a:p>
        </p:txBody>
      </p:sp>
      <p:sp>
        <p:nvSpPr>
          <p:cNvPr id="17" name="Shape 14"/>
          <p:cNvSpPr/>
          <p:nvPr/>
        </p:nvSpPr>
        <p:spPr>
          <a:xfrm>
            <a:off x="6217920" y="5455920"/>
            <a:ext cx="5440680" cy="853440"/>
          </a:xfrm>
          <a:prstGeom prst="rect">
            <a:avLst/>
          </a:prstGeom>
          <a:solidFill>
            <a:srgbClr val="F1F5F9"/>
          </a:solidFill>
          <a:ln w="12700">
            <a:solidFill>
              <a:srgbClr val="F1F5F9"/>
            </a:solidFill>
            <a:prstDash val="solid"/>
          </a:ln>
        </p:spPr>
      </p:sp>
      <p:sp>
        <p:nvSpPr>
          <p:cNvPr id="18" name="Text 15"/>
          <p:cNvSpPr/>
          <p:nvPr/>
        </p:nvSpPr>
        <p:spPr>
          <a:xfrm>
            <a:off x="6217920" y="5547360"/>
            <a:ext cx="5440680" cy="469392"/>
          </a:xfrm>
          <a:prstGeom prst="rect">
            <a:avLst/>
          </a:prstGeom>
          <a:noFill/>
          <a:ln/>
        </p:spPr>
        <p:txBody>
          <a:bodyPr wrap="square" lIns="0" tIns="0" rIns="0" bIns="0" rtlCol="0" anchor="ctr"/>
          <a:lstStyle/>
          <a:p>
            <a:pPr algn="ctr" indent="0" marL="0">
              <a:buNone/>
            </a:pPr>
            <a:r>
              <a:rPr lang="en-US" sz="3000" b="1" dirty="0">
                <a:solidFill>
                  <a:srgbClr val="E5484D"/>
                </a:solidFill>
                <a:latin typeface="Calibri" pitchFamily="34" charset="0"/>
                <a:ea typeface="Calibri" pitchFamily="34" charset="-122"/>
                <a:cs typeface="Calibri" pitchFamily="34" charset="-120"/>
              </a:rPr>
              <a:t>1819</a:t>
            </a:r>
            <a:endParaRPr lang="en-US" sz="3000" dirty="0"/>
          </a:p>
        </p:txBody>
      </p:sp>
      <p:sp>
        <p:nvSpPr>
          <p:cNvPr id="19" name="Text 16"/>
          <p:cNvSpPr/>
          <p:nvPr/>
        </p:nvSpPr>
        <p:spPr>
          <a:xfrm>
            <a:off x="6309360" y="5950915"/>
            <a:ext cx="5257800" cy="324307"/>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log-likelihood</a:t>
            </a:r>
            <a:endParaRPr lang="en-US" sz="1150" dirty="0"/>
          </a:p>
        </p:txBody>
      </p:sp>
      <p:sp>
        <p:nvSpPr>
          <p:cNvPr id="20" name="Shape 17"/>
          <p:cNvSpPr/>
          <p:nvPr/>
        </p:nvSpPr>
        <p:spPr>
          <a:xfrm>
            <a:off x="548640" y="4120376"/>
            <a:ext cx="5394960" cy="2188984"/>
          </a:xfrm>
          <a:prstGeom prst="rect">
            <a:avLst/>
          </a:prstGeom>
          <a:solidFill>
            <a:srgbClr val="0F172A"/>
          </a:solidFill>
          <a:ln w="12700">
            <a:solidFill>
              <a:srgbClr val="0F172A"/>
            </a:solidFill>
            <a:prstDash val="solid"/>
          </a:ln>
        </p:spPr>
      </p:sp>
      <p:sp>
        <p:nvSpPr>
          <p:cNvPr id="21" name="Text 18"/>
          <p:cNvSpPr/>
          <p:nvPr/>
        </p:nvSpPr>
        <p:spPr>
          <a:xfrm>
            <a:off x="731520" y="4193528"/>
            <a:ext cx="502920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src/analysis/compliance_hmm.py (excerpt)</a:t>
            </a:r>
            <a:endParaRPr lang="en-US" sz="1050" dirty="0"/>
          </a:p>
        </p:txBody>
      </p:sp>
      <p:sp>
        <p:nvSpPr>
          <p:cNvPr id="22" name="Text 19"/>
          <p:cNvSpPr/>
          <p:nvPr/>
        </p:nvSpPr>
        <p:spPr>
          <a:xfrm>
            <a:off x="731520" y="4486136"/>
            <a:ext cx="5029200" cy="1731784"/>
          </a:xfrm>
          <a:prstGeom prst="rect">
            <a:avLst/>
          </a:prstGeom>
          <a:noFill/>
          <a:ln/>
        </p:spPr>
        <p:txBody>
          <a:bodyPr wrap="square" lIns="0" tIns="0" rIns="0" bIns="0" rtlCol="0" anchor="t"/>
          <a:lstStyle/>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model = GaussianHMM(n_components=3,</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covariance_type="diag", n_iter=200)</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model.fit(X, lengths)          # EM</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decoded = model.predict(X, lengths)</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linear_sum_assignment(-cm)     # name states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RESULTS</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Without labels, 95-97% of states are recovered; metadata alone, 56%</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graphicFrame>
        <p:nvGraphicFramePr>
          <p:cNvPr id="7" name="Chart 0" descr=""/>
          <p:cNvGraphicFramePr/>
          <p:nvPr/>
        </p:nvGraphicFramePr>
        <p:xfrm>
          <a:off x="548640" y="1417320"/>
          <a:ext cx="5852160" cy="36576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48640" y="5120640"/>
            <a:ext cx="585216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The 56% bar is a supervised classifier with no scores; the others use scores and no labels.</a:t>
            </a:r>
            <a:endParaRPr lang="en-US" sz="1150" dirty="0"/>
          </a:p>
        </p:txBody>
      </p:sp>
      <p:sp>
        <p:nvSpPr>
          <p:cNvPr id="9" name="Shape 6"/>
          <p:cNvSpPr/>
          <p:nvPr/>
        </p:nvSpPr>
        <p:spPr>
          <a:xfrm>
            <a:off x="6675120" y="1417320"/>
            <a:ext cx="4983480" cy="1600200"/>
          </a:xfrm>
          <a:prstGeom prst="rect">
            <a:avLst/>
          </a:prstGeom>
          <a:solidFill>
            <a:srgbClr val="ECFDF5"/>
          </a:solidFill>
          <a:ln w="12700">
            <a:solidFill>
              <a:srgbClr val="ECFDF5"/>
            </a:solidFill>
            <a:prstDash val="solid"/>
          </a:ln>
        </p:spPr>
      </p:sp>
      <p:sp>
        <p:nvSpPr>
          <p:cNvPr id="10" name="Text 7"/>
          <p:cNvSpPr/>
          <p:nvPr/>
        </p:nvSpPr>
        <p:spPr>
          <a:xfrm>
            <a:off x="6858000" y="1463040"/>
            <a:ext cx="4663440" cy="1508760"/>
          </a:xfrm>
          <a:prstGeom prst="rect">
            <a:avLst/>
          </a:prstGeom>
          <a:noFill/>
          <a:ln/>
        </p:spPr>
        <p:txBody>
          <a:bodyPr wrap="square" lIns="0" tIns="0" rIns="0" bIns="0" rtlCol="0" anchor="t"/>
          <a:lstStyle/>
          <a:p>
            <a:pPr indent="0" marL="0">
              <a:spcAft>
                <a:spcPts val="400"/>
              </a:spcAft>
              <a:buNone/>
            </a:pPr>
            <a:r>
              <a:rPr lang="en-US" sz="1500" b="1" dirty="0">
                <a:solidFill>
                  <a:srgbClr val="0D9488"/>
                </a:solidFill>
                <a:latin typeface="Calibri" pitchFamily="34" charset="0"/>
                <a:ea typeface="Calibri" pitchFamily="34" charset="-122"/>
                <a:cs typeface="Calibri" pitchFamily="34" charset="-120"/>
              </a:rPr>
              <a:t>What it shows</a:t>
            </a:r>
            <a:endParaRPr lang="en-US" sz="1350" dirty="0"/>
          </a:p>
          <a:p>
            <a:pPr marL="342900" indent="-342900">
              <a:spcAft>
                <a:spcPts val="400"/>
              </a:spcAft>
              <a:buSzPct val="100000"/>
              <a:buChar char="•"/>
            </a:pPr>
            <a:r>
              <a:rPr lang="en-US" sz="1350" dirty="0">
                <a:solidFill>
                  <a:srgbClr val="0F172A"/>
                </a:solidFill>
                <a:latin typeface="Calibri" pitchFamily="34" charset="0"/>
                <a:ea typeface="Calibri" pitchFamily="34" charset="-122"/>
                <a:cs typeface="Calibri" pitchFamily="34" charset="-120"/>
              </a:rPr>
              <a:t>Three states emerge from judge scores with no labels.</a:t>
            </a:r>
            <a:endParaRPr lang="en-US" sz="1350" dirty="0"/>
          </a:p>
          <a:p>
            <a:pPr marL="342900" indent="-342900">
              <a:spcAft>
                <a:spcPts val="400"/>
              </a:spcAft>
              <a:buSzPct val="100000"/>
              <a:buChar char="•"/>
            </a:pPr>
            <a:r>
              <a:rPr lang="en-US" sz="1350" dirty="0">
                <a:solidFill>
                  <a:srgbClr val="0F172A"/>
                </a:solidFill>
                <a:latin typeface="Calibri" pitchFamily="34" charset="0"/>
                <a:ea typeface="Calibri" pitchFamily="34" charset="-122"/>
                <a:cs typeface="Calibri" pitchFamily="34" charset="-120"/>
              </a:rPr>
              <a:t>The NumPy K-means matches sklearn and the pure-Python version (96.9%).</a:t>
            </a:r>
            <a:endParaRPr lang="en-US" sz="1350" dirty="0"/>
          </a:p>
        </p:txBody>
      </p:sp>
      <p:sp>
        <p:nvSpPr>
          <p:cNvPr id="11" name="Shape 8"/>
          <p:cNvSpPr/>
          <p:nvPr/>
        </p:nvSpPr>
        <p:spPr>
          <a:xfrm>
            <a:off x="6675120" y="3200400"/>
            <a:ext cx="4983480" cy="2148840"/>
          </a:xfrm>
          <a:prstGeom prst="rect">
            <a:avLst/>
          </a:prstGeom>
          <a:solidFill>
            <a:srgbClr val="FEF2F2"/>
          </a:solidFill>
          <a:ln w="12700">
            <a:solidFill>
              <a:srgbClr val="FEF2F2"/>
            </a:solidFill>
            <a:prstDash val="solid"/>
          </a:ln>
        </p:spPr>
      </p:sp>
      <p:sp>
        <p:nvSpPr>
          <p:cNvPr id="12" name="Text 9"/>
          <p:cNvSpPr/>
          <p:nvPr/>
        </p:nvSpPr>
        <p:spPr>
          <a:xfrm>
            <a:off x="6858000" y="3246120"/>
            <a:ext cx="4663440" cy="2057400"/>
          </a:xfrm>
          <a:prstGeom prst="rect">
            <a:avLst/>
          </a:prstGeom>
          <a:noFill/>
          <a:ln/>
        </p:spPr>
        <p:txBody>
          <a:bodyPr wrap="square" lIns="0" tIns="0" rIns="0" bIns="0" rtlCol="0" anchor="t"/>
          <a:lstStyle/>
          <a:p>
            <a:pPr indent="0" marL="0">
              <a:spcAft>
                <a:spcPts val="500"/>
              </a:spcAft>
              <a:buNone/>
            </a:pPr>
            <a:r>
              <a:rPr lang="en-US" sz="1500" b="1" dirty="0">
                <a:solidFill>
                  <a:srgbClr val="E5484D"/>
                </a:solidFill>
                <a:latin typeface="Calibri" pitchFamily="34" charset="0"/>
                <a:ea typeface="Calibri" pitchFamily="34" charset="-122"/>
                <a:cs typeface="Calibri" pitchFamily="34" charset="-120"/>
              </a:rPr>
              <a:t>What it does not show</a:t>
            </a:r>
            <a:endParaRPr lang="en-US" sz="1350" dirty="0"/>
          </a:p>
          <a:p>
            <a:pPr marL="342900" indent="-342900">
              <a:spcAft>
                <a:spcPts val="500"/>
              </a:spcAft>
              <a:buSzPct val="100000"/>
              <a:buChar char="•"/>
            </a:pPr>
            <a:r>
              <a:rPr lang="en-US" sz="1350" dirty="0">
                <a:solidFill>
                  <a:srgbClr val="0F172A"/>
                </a:solidFill>
                <a:latin typeface="Calibri" pitchFamily="34" charset="0"/>
                <a:ea typeface="Calibri" pitchFamily="34" charset="-122"/>
                <a:cs typeface="Calibri" pitchFamily="34" charset="-120"/>
              </a:rPr>
              <a:t>The data is simulated, so clean separation is built in; real judges will blur it.</a:t>
            </a:r>
            <a:endParaRPr lang="en-US" sz="1350" dirty="0"/>
          </a:p>
          <a:p>
            <a:pPr marL="342900" indent="-342900">
              <a:spcAft>
                <a:spcPts val="500"/>
              </a:spcAft>
              <a:buSzPct val="100000"/>
              <a:buChar char="•"/>
            </a:pPr>
            <a:r>
              <a:rPr lang="en-US" sz="1350" dirty="0">
                <a:solidFill>
                  <a:srgbClr val="0F172A"/>
                </a:solidFill>
                <a:latin typeface="Calibri" pitchFamily="34" charset="0"/>
                <a:ea typeface="Calibri" pitchFamily="34" charset="-122"/>
                <a:cs typeface="Calibri" pitchFamily="34" charset="-120"/>
              </a:rPr>
              <a:t>Order did not help: K-means beats the HMM here.</a:t>
            </a:r>
            <a:endParaRPr lang="en-US" sz="1350" dirty="0"/>
          </a:p>
          <a:p>
            <a:pPr marL="342900" indent="-342900">
              <a:spcAft>
                <a:spcPts val="500"/>
              </a:spcAft>
              <a:buSzPct val="100000"/>
              <a:buChar char="•"/>
            </a:pPr>
            <a:r>
              <a:rPr lang="en-US" sz="1350" dirty="0">
                <a:solidFill>
                  <a:srgbClr val="0F172A"/>
                </a:solidFill>
                <a:latin typeface="Calibri" pitchFamily="34" charset="0"/>
                <a:ea typeface="Calibri" pitchFamily="34" charset="-122"/>
                <a:cs typeface="Calibri" pitchFamily="34" charset="-120"/>
              </a:rPr>
              <a:t>BIC alone does not pick k = 3; the silhouette does.</a:t>
            </a:r>
            <a:endParaRPr lang="en-US" sz="1350" dirty="0"/>
          </a:p>
        </p:txBody>
      </p:sp>
      <p:sp>
        <p:nvSpPr>
          <p:cNvPr id="13" name="Shape 10"/>
          <p:cNvSpPr/>
          <p:nvPr/>
        </p:nvSpPr>
        <p:spPr>
          <a:xfrm>
            <a:off x="548640" y="5623560"/>
            <a:ext cx="5852160" cy="685800"/>
          </a:xfrm>
          <a:prstGeom prst="rect">
            <a:avLst/>
          </a:prstGeom>
          <a:solidFill>
            <a:srgbClr val="ECFDF5"/>
          </a:solidFill>
          <a:ln w="12700">
            <a:solidFill>
              <a:srgbClr val="ECFDF5"/>
            </a:solidFill>
            <a:prstDash val="solid"/>
          </a:ln>
        </p:spPr>
      </p:sp>
      <p:sp>
        <p:nvSpPr>
          <p:cNvPr id="14" name="Shape 11"/>
          <p:cNvSpPr/>
          <p:nvPr/>
        </p:nvSpPr>
        <p:spPr>
          <a:xfrm>
            <a:off x="548640" y="5623560"/>
            <a:ext cx="64008" cy="685800"/>
          </a:xfrm>
          <a:prstGeom prst="rect">
            <a:avLst/>
          </a:prstGeom>
          <a:solidFill>
            <a:srgbClr val="0D9488"/>
          </a:solidFill>
          <a:ln w="12700">
            <a:solidFill>
              <a:srgbClr val="0D9488"/>
            </a:solidFill>
            <a:prstDash val="solid"/>
          </a:ln>
        </p:spPr>
      </p:sp>
      <p:sp>
        <p:nvSpPr>
          <p:cNvPr id="15" name="Text 12"/>
          <p:cNvSpPr/>
          <p:nvPr/>
        </p:nvSpPr>
        <p:spPr>
          <a:xfrm>
            <a:off x="749808" y="5623560"/>
            <a:ext cx="5532120" cy="68580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NEXT REVIEW</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Next: rerun the same code on a real campaign.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REPRODUCE AND REFERENCES</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Run it yourself, and where the methods come from</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
        <p:nvSpPr>
          <p:cNvPr id="7" name="Shape 5"/>
          <p:cNvSpPr/>
          <p:nvPr/>
        </p:nvSpPr>
        <p:spPr>
          <a:xfrm>
            <a:off x="548640" y="1463040"/>
            <a:ext cx="5760720" cy="3291840"/>
          </a:xfrm>
          <a:prstGeom prst="rect">
            <a:avLst/>
          </a:prstGeom>
          <a:solidFill>
            <a:srgbClr val="0F172A"/>
          </a:solidFill>
          <a:ln w="12700">
            <a:solidFill>
              <a:srgbClr val="0F172A"/>
            </a:solidFill>
            <a:prstDash val="solid"/>
          </a:ln>
        </p:spPr>
      </p:sp>
      <p:sp>
        <p:nvSpPr>
          <p:cNvPr id="8" name="Text 6"/>
          <p:cNvSpPr/>
          <p:nvPr/>
        </p:nvSpPr>
        <p:spPr>
          <a:xfrm>
            <a:off x="731520" y="1536192"/>
            <a:ext cx="539496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terminal (repository root)</a:t>
            </a:r>
            <a:endParaRPr lang="en-US" sz="1050" dirty="0"/>
          </a:p>
        </p:txBody>
      </p:sp>
      <p:sp>
        <p:nvSpPr>
          <p:cNvPr id="9" name="Text 7"/>
          <p:cNvSpPr/>
          <p:nvPr/>
        </p:nvSpPr>
        <p:spPr>
          <a:xfrm>
            <a:off x="731520" y="1828800"/>
            <a:ext cx="5394960" cy="2834640"/>
          </a:xfrm>
          <a:prstGeom prst="rect">
            <a:avLst/>
          </a:prstGeom>
          <a:noFill/>
          <a:ln/>
        </p:spPr>
        <p:txBody>
          <a:bodyPr wrap="square" lIns="0" tIns="0" rIns="0" bIns="0" rtlCol="0" anchor="t"/>
          <a:lstStyle/>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python3 -m venv ~/jailbreaker-venv</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source ~/jailbreaker-venv/bin/activate</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pip install torch --index-url \</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https://download.pytorch.org/whl/cpu</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pip install -r requirements.txt</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python data/build_demo_assets.py</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python main_analysis.py      # 8 steps</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python review2_kmeans_pure_python.py</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pytest -q                    # 48 passed</a:t>
            </a:r>
            <a:endParaRPr lang="en-US" sz="1250" dirty="0"/>
          </a:p>
        </p:txBody>
      </p:sp>
      <p:sp>
        <p:nvSpPr>
          <p:cNvPr id="10" name="Text 8"/>
          <p:cNvSpPr/>
          <p:nvPr/>
        </p:nvSpPr>
        <p:spPr>
          <a:xfrm>
            <a:off x="548640" y="4892040"/>
            <a:ext cx="5760720" cy="5486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Numbers: outputs/analysis/metrics.json. Repo: github.com/Ananyacodes/jailbreaker-llm</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0" y="1463040"/>
          <a:ext cx="5074920" cy="914400"/>
        </p:xfrm>
        <a:graphic>
          <a:graphicData uri="http://schemas.openxmlformats.org/drawingml/2006/table">
            <a:tbl>
              <a:tblPr/>
              <a:tblGrid>
                <a:gridCol w="1691640"/>
                <a:gridCol w="3383280"/>
              </a:tblGrid>
              <a:tr h="5029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Topic</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502920">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PCA, K-means, GMM/EM, HMM</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Bishop, Pattern Recognition and Machine Learning, 2006: sec. 12.1, 9.1, 9.2, 13.2</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02920">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Dempster, Laird and Rubin, 1977</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02920">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k-means++</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Arthur and Vassilvitskii, 2007</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02920">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Linkage update</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Lance and Williams, 1967</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02920">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Silhouette, ARI</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Rousseeuw, 1987; Hubert and Arabie, 1985</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02920">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HMM</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Rabiner, 1989</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02920">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PBL-I background</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JailbreakBench; GCG; PAIR; PPO; LoRA</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Jailbreaker-LLM PBL-II</dc:title>
  <dc:subject>PptxGenJS Presentation</dc:subject>
  <dc:creator>PptxGenJS</dc:creator>
  <cp:lastModifiedBy>PptxGenJS</cp:lastModifiedBy>
  <cp:revision>1</cp:revision>
  <dcterms:created xsi:type="dcterms:W3CDTF">2026-10-22T03:15:07Z</dcterms:created>
  <dcterms:modified xsi:type="dcterms:W3CDTF">2026-10-22T03:15:07Z</dcterms:modified>
</cp:coreProperties>
</file>