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55"/>
                </a:solidFill>
                <a:latin typeface="Calibri"/>
              </a:defRPr>
            </a:pPr>
            <a:r>
              <a:rPr sz="1300" b="0" i="0" u="none" strike="noStrike">
                <a:solidFill>
                  <a:srgbClr val="334155"/>
                </a:solidFill>
                <a:latin typeface="Calibri"/>
              </a:rPr>
              <a:t>Hidden true state, turn level</a:t>
            </a:r>
          </a:p>
        </c:rich>
      </c:tx>
      <c:layout/>
      <c:overlay val="0"/>
    </c:title>
    <c:autoTitleDeleted val="0"/>
    <c:plotArea>
      <c:layout/>
      <c:barChart>
        <c:barDir val="col"/>
        <c:grouping val="clustered"/>
        <c:varyColors val="0"/>
        <c:ser>
          <c:idx val="0"/>
          <c:order val="0"/>
          <c:tx>
            <c:strRef>
              <c:f>Sheet1!$B$1</c:f>
              <c:strCache>
                <c:ptCount val="1"/>
                <c:pt idx="0">
                  <c:v>turns</c:v>
                </c:pt>
              </c:strCache>
            </c:strRef>
          </c:tx>
          <c:spPr>
            <a:solidFill>
              <a:srgbClr val="2F6FED"/>
            </a:solidFill>
            <a:effectLst/>
          </c:spPr>
          <c:invertIfNegative val="0"/>
          <c:dLbls>
            <c:numFmt formatCode="#,##0"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dPt>
            <c:idx val="0"/>
            <c:invertIfNegative val="0"/>
            <c:bubble3D val="0"/>
            <c:spPr>
              <a:solidFill>
                <a:srgbClr val="2F6FED"/>
              </a:solidFill>
              <a:effectLst/>
            </c:spPr>
          </c:dPt>
          <c:dPt>
            <c:idx val="1"/>
            <c:invertIfNegative val="0"/>
            <c:bubble3D val="0"/>
            <c:spPr>
              <a:solidFill>
                <a:srgbClr val="F2A20C"/>
              </a:solidFill>
              <a:effectLst/>
            </c:spPr>
          </c:dPt>
          <c:dPt>
            <c:idx val="2"/>
            <c:invertIfNegative val="0"/>
            <c:bubble3D val="0"/>
            <c:spPr>
              <a:solidFill>
                <a:srgbClr val="E5484D"/>
              </a:solidFill>
              <a:effectLst/>
            </c:spPr>
          </c:dPt>
          <c:cat>
            <c:multiLvlStrRef>
              <c:f>Sheet1!$A$2:$A$4</c:f>
              <c:multiLvlStrCache>
                <c:ptCount val="3"/>
                <c:lvl>
                  <c:pt idx="0">
                    <c:v>refusal</c:v>
                  </c:pt>
                  <c:pt idx="1">
                    <c:v>partial compliance</c:v>
                  </c:pt>
                  <c:pt idx="2">
                    <c:v>full violation</c:v>
                  </c:pt>
                </c:lvl>
              </c:multiLvlStrCache>
            </c:multiLvlStrRef>
          </c:cat>
          <c:val>
            <c:numRef>
              <c:f>Sheet1!$B$2:$B$4</c:f>
              <c:numCache>
                <c:formatCode>General</c:formatCode>
                <c:ptCount val="3"/>
                <c:pt idx="0">
                  <c:v>523</c:v>
                </c:pt>
                <c:pt idx="1">
                  <c:v>311</c:v>
                </c:pt>
                <c:pt idx="2">
                  <c:v>144</c:v>
                </c:pt>
              </c:numCache>
            </c:numRef>
          </c:val>
        </c:ser>
        <c:dLbls>
          <c:numFmt formatCode="#,##0"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explained variance</c:v>
                </c:pt>
              </c:strCache>
            </c:strRef>
          </c:tx>
          <c:spPr>
            <a:solidFill>
              <a:srgbClr val="0D9488"/>
            </a:solidFill>
            <a:effectLst/>
          </c:spPr>
          <c:invertIfNegative val="0"/>
          <c:dLbls>
            <c:numFmt formatCode="0.0&quot;%&quot;"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PC1</c:v>
                  </c:pt>
                  <c:pt idx="1">
                    <c:v>PC2</c:v>
                  </c:pt>
                  <c:pt idx="2">
                    <c:v>PC3</c:v>
                  </c:pt>
                </c:lvl>
              </c:multiLvlStrCache>
            </c:multiLvlStrRef>
          </c:cat>
          <c:val>
            <c:numRef>
              <c:f>Sheet1!$B$2:$B$4</c:f>
              <c:numCache>
                <c:formatCode>General</c:formatCode>
                <c:ptCount val="3"/>
                <c:pt idx="0">
                  <c:v>67.7</c:v>
                </c:pt>
                <c:pt idx="1">
                  <c:v>32.3</c:v>
                </c:pt>
                <c:pt idx="2">
                  <c:v>0</c:v>
                </c:pt>
              </c:numCache>
            </c:numRef>
          </c:val>
        </c:ser>
        <c:dLbls>
          <c:numFmt formatCode="0.0&quot;%&quot;"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55"/>
                </a:solidFill>
                <a:latin typeface="Calibri"/>
              </a:defRPr>
            </a:pPr>
            <a:r>
              <a:rPr sz="1300" b="0" i="0" u="none" strike="noStrike">
                <a:solidFill>
                  <a:srgbClr val="334155"/>
                </a:solidFill>
                <a:latin typeface="Calibri"/>
              </a:rPr>
              <a:t>Elbow: distortion J falls fast, then slowly</a:t>
            </a:r>
          </a:p>
        </c:rich>
      </c:tx>
      <c:layout/>
      <c:overlay val="0"/>
    </c:title>
    <c:autoTitleDeleted val="0"/>
    <c:plotArea>
      <c:layout/>
      <c:lineChart>
        <c:varyColors val="0"/>
        <c:ser>
          <c:idx val="0"/>
          <c:order val="0"/>
          <c:tx>
            <c:strRef>
              <c:f>Sheet1!$B$1</c:f>
              <c:strCache>
                <c:ptCount val="1"/>
                <c:pt idx="0">
                  <c:v>distortion J</c:v>
                </c:pt>
              </c:strCache>
            </c:strRef>
          </c:tx>
          <c:spPr>
            <a:solidFill>
              <a:srgbClr val="2F6FED"/>
            </a:solidFill>
            <a:ln w="38100" cap="flat">
              <a:solidFill>
                <a:srgbClr val="2F6FED"/>
              </a:solidFill>
              <a:prstDash val="solid"/>
              <a:round/>
            </a:ln>
            <a:effectLst/>
          </c:spPr>
          <c:invertIfNegative val="0"/>
          <c:dLbls>
            <c:numFmt formatCode="0" sourceLinked="0"/>
            <c:txPr>
              <a:bodyPr/>
              <a:lstStyle/>
              <a:p>
                <a:pPr>
                  <a:defRPr b="0" i="0" strike="noStrike" sz="1100" u="none">
                    <a:solidFill>
                      <a:srgbClr val="000000"/>
                    </a:solidFill>
                    <a:latin typeface="Arial"/>
                  </a:defRPr>
                </a:pPr>
              </a:p>
            </c:txPr>
            <c:dLblPos val="t"/>
            <c:showLegendKey val="0"/>
            <c:showVal val="1"/>
            <c:showCatName val="0"/>
            <c:showSerName val="0"/>
            <c:showPercent val="0"/>
            <c:showBubbleSize val="0"/>
            <c:showLeaderLines val="0"/>
          </c:dLbls>
          <c:marker>
            <c:symbol val="circle"/>
            <c:size val="9"/>
            <c:spPr>
              <a:solidFill>
                <a:srgbClr val="2F6FED"/>
              </a:solidFill>
              <a:ln w="9525" cap="flat">
                <a:solidFill>
                  <a:srgbClr val="2F6FED"/>
                </a:solidFill>
                <a:prstDash val="solid"/>
                <a:round/>
              </a:ln>
              <a:effectLst/>
            </c:spPr>
          </c:marker>
          <c:cat>
            <c:multiLvlStrRef>
              <c:f>Sheet1!$A$2:$A$6</c:f>
              <c:multiLvlStrCache>
                <c:ptCount val="5"/>
                <c:lvl>
                  <c:pt idx="0">
                    <c:v>2</c:v>
                  </c:pt>
                  <c:pt idx="1">
                    <c:v>3</c:v>
                  </c:pt>
                  <c:pt idx="2">
                    <c:v>4</c:v>
                  </c:pt>
                  <c:pt idx="3">
                    <c:v>5</c:v>
                  </c:pt>
                  <c:pt idx="4">
                    <c:v>6</c:v>
                  </c:pt>
                </c:lvl>
              </c:multiLvlStrCache>
            </c:multiLvlStrRef>
          </c:cat>
          <c:val>
            <c:numRef>
              <c:f>Sheet1!$B$2:$B$6</c:f>
              <c:numCache>
                <c:formatCode>General</c:formatCode>
                <c:ptCount val="5"/>
                <c:pt idx="0">
                  <c:v>1132.7</c:v>
                </c:pt>
                <c:pt idx="1">
                  <c:v>415.2</c:v>
                </c:pt>
                <c:pt idx="2">
                  <c:v>318.9</c:v>
                </c:pt>
                <c:pt idx="3">
                  <c:v>236.4</c:v>
                </c:pt>
                <c:pt idx="4">
                  <c:v>196</c:v>
                </c:pt>
              </c:numCache>
            </c:numRef>
          </c:val>
          <c:smooth val="0"/>
        </c:ser>
        <c:dLbls>
          <c:numFmt formatCode="0" sourceLinked="0"/>
          <c:txPr>
            <a:bodyPr/>
            <a:lstStyle/>
            <a:p>
              <a:pPr>
                <a:defRPr b="0" i="0" strike="noStrike" sz="1100" u="none">
                  <a:solidFill>
                    <a:srgbClr val="00000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number of clusters 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55"/>
                </a:solidFill>
                <a:latin typeface="Calibri"/>
              </a:defRPr>
            </a:pPr>
            <a:r>
              <a:rPr sz="1300" b="0" i="0" u="none" strike="noStrike">
                <a:solidFill>
                  <a:srgbClr val="334155"/>
                </a:solidFill>
                <a:latin typeface="Calibri"/>
              </a:rPr>
              <a:t>Silhouette: highest at k = 3</a:t>
            </a:r>
          </a:p>
        </c:rich>
      </c:tx>
      <c:layout/>
      <c:overlay val="0"/>
    </c:title>
    <c:autoTitleDeleted val="0"/>
    <c:plotArea>
      <c:layout/>
      <c:lineChart>
        <c:varyColors val="0"/>
        <c:ser>
          <c:idx val="0"/>
          <c:order val="0"/>
          <c:tx>
            <c:strRef>
              <c:f>Sheet1!$B$1</c:f>
              <c:strCache>
                <c:ptCount val="1"/>
                <c:pt idx="0">
                  <c:v>silhouette</c:v>
                </c:pt>
              </c:strCache>
            </c:strRef>
          </c:tx>
          <c:spPr>
            <a:solidFill>
              <a:srgbClr val="F2A20C"/>
            </a:solidFill>
            <a:ln w="38100" cap="flat">
              <a:solidFill>
                <a:srgbClr val="F2A20C"/>
              </a:solidFill>
              <a:prstDash val="solid"/>
              <a:round/>
            </a:ln>
            <a:effectLst/>
          </c:spPr>
          <c:invertIfNegative val="0"/>
          <c:dLbls>
            <c:numFmt formatCode="0.000" sourceLinked="0"/>
            <c:txPr>
              <a:bodyPr/>
              <a:lstStyle/>
              <a:p>
                <a:pPr>
                  <a:defRPr b="0" i="0" strike="noStrike" sz="1100" u="none">
                    <a:solidFill>
                      <a:srgbClr val="000000"/>
                    </a:solidFill>
                    <a:latin typeface="Arial"/>
                  </a:defRPr>
                </a:pPr>
              </a:p>
            </c:txPr>
            <c:dLblPos val="t"/>
            <c:showLegendKey val="0"/>
            <c:showVal val="1"/>
            <c:showCatName val="0"/>
            <c:showSerName val="0"/>
            <c:showPercent val="0"/>
            <c:showBubbleSize val="0"/>
            <c:showLeaderLines val="0"/>
          </c:dLbls>
          <c:marker>
            <c:symbol val="circle"/>
            <c:size val="9"/>
            <c:spPr>
              <a:solidFill>
                <a:srgbClr val="F2A20C"/>
              </a:solidFill>
              <a:ln w="9525" cap="flat">
                <a:solidFill>
                  <a:srgbClr val="F2A20C"/>
                </a:solidFill>
                <a:prstDash val="solid"/>
                <a:round/>
              </a:ln>
              <a:effectLst/>
            </c:spPr>
          </c:marker>
          <c:cat>
            <c:multiLvlStrRef>
              <c:f>Sheet1!$A$2:$A$6</c:f>
              <c:multiLvlStrCache>
                <c:ptCount val="5"/>
                <c:lvl>
                  <c:pt idx="0">
                    <c:v>2</c:v>
                  </c:pt>
                  <c:pt idx="1">
                    <c:v>3</c:v>
                  </c:pt>
                  <c:pt idx="2">
                    <c:v>4</c:v>
                  </c:pt>
                  <c:pt idx="3">
                    <c:v>5</c:v>
                  </c:pt>
                  <c:pt idx="4">
                    <c:v>6</c:v>
                  </c:pt>
                </c:lvl>
              </c:multiLvlStrCache>
            </c:multiLvlStrRef>
          </c:cat>
          <c:val>
            <c:numRef>
              <c:f>Sheet1!$B$2:$B$6</c:f>
              <c:numCache>
                <c:formatCode>General</c:formatCode>
                <c:ptCount val="5"/>
                <c:pt idx="0">
                  <c:v>0.608</c:v>
                </c:pt>
                <c:pt idx="1">
                  <c:v>0.684</c:v>
                </c:pt>
                <c:pt idx="2">
                  <c:v>0.551</c:v>
                </c:pt>
                <c:pt idx="3">
                  <c:v>0.493</c:v>
                </c:pt>
                <c:pt idx="4">
                  <c:v>0.474</c:v>
                </c:pt>
              </c:numCache>
            </c:numRef>
          </c:val>
          <c:smooth val="0"/>
        </c:ser>
        <c:dLbls>
          <c:numFmt formatCode="0.000" sourceLinked="0"/>
          <c:txPr>
            <a:bodyPr/>
            <a:lstStyle/>
            <a:p>
              <a:pPr>
                <a:defRPr b="0" i="0" strike="noStrike" sz="1100" u="none">
                  <a:solidFill>
                    <a:srgbClr val="00000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number of clusters 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5"/>
          <c:min val="0.4"/>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Calibri"/>
              </a:defRPr>
            </a:pPr>
            <a:r>
              <a:rPr sz="1100" b="0" i="0" u="none" strike="noStrike">
                <a:solidFill>
                  <a:srgbClr val="334155"/>
                </a:solidFill>
                <a:latin typeface="Calibri"/>
              </a:rPr>
              <a:t>EM log-likelihood: 41 iterations</a:t>
            </a:r>
          </a:p>
        </c:rich>
      </c:tx>
      <c:layout/>
      <c:overlay val="0"/>
    </c:title>
    <c:autoTitleDeleted val="0"/>
    <c:plotArea>
      <c:layout/>
      <c:lineChart>
        <c:varyColors val="0"/>
        <c:ser>
          <c:idx val="0"/>
          <c:order val="0"/>
          <c:tx>
            <c:strRef>
              <c:f>Sheet1!$B$1</c:f>
              <c:strCache>
                <c:ptCount val="1"/>
                <c:pt idx="0">
                  <c:v>log-likelihood</c:v>
                </c:pt>
              </c:strCache>
            </c:strRef>
          </c:tx>
          <c:spPr>
            <a:solidFill>
              <a:srgbClr val="16A34A"/>
            </a:solidFill>
            <a:ln w="31750" cap="flat">
              <a:solidFill>
                <a:srgbClr val="16A3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1"/>
            <c:spPr>
              <a:solidFill>
                <a:srgbClr val="16A34A"/>
              </a:solidFill>
              <a:ln w="9525" cap="flat">
                <a:solidFill>
                  <a:srgbClr val="16A34A"/>
                </a:solidFill>
                <a:prstDash val="solid"/>
                <a:round/>
              </a:ln>
              <a:effectLst/>
            </c:spPr>
          </c:marker>
          <c:cat>
            <c:multiLvlStrRef>
              <c:f>Sheet1!$A$2:$A$42</c:f>
              <c:multiLvlStrCache>
                <c:ptCount val="41"/>
                <c:lvl>
                  <c:pt idx="0">
                    <c:v>1</c:v>
                  </c:pt>
                  <c:pt idx="1">
                    <c:v> </c:v>
                  </c:pt>
                  <c:pt idx="2">
                    <c:v> </c:v>
                  </c:pt>
                  <c:pt idx="3">
                    <c:v> </c:v>
                  </c:pt>
                  <c:pt idx="4">
                    <c:v> </c:v>
                  </c:pt>
                  <c:pt idx="5">
                    <c:v> </c:v>
                  </c:pt>
                  <c:pt idx="6">
                    <c:v> </c:v>
                  </c:pt>
                  <c:pt idx="7">
                    <c:v> </c:v>
                  </c:pt>
                  <c:pt idx="8">
                    <c:v> </c:v>
                  </c:pt>
                  <c:pt idx="9">
                    <c:v>10</c:v>
                  </c:pt>
                  <c:pt idx="10">
                    <c:v> </c:v>
                  </c:pt>
                  <c:pt idx="11">
                    <c:v> </c:v>
                  </c:pt>
                  <c:pt idx="12">
                    <c:v> </c:v>
                  </c:pt>
                  <c:pt idx="13">
                    <c:v> </c:v>
                  </c:pt>
                  <c:pt idx="14">
                    <c:v> </c:v>
                  </c:pt>
                  <c:pt idx="15">
                    <c:v> </c:v>
                  </c:pt>
                  <c:pt idx="16">
                    <c:v> </c:v>
                  </c:pt>
                  <c:pt idx="17">
                    <c:v> </c:v>
                  </c:pt>
                  <c:pt idx="18">
                    <c:v> </c:v>
                  </c:pt>
                  <c:pt idx="19">
                    <c:v>20</c:v>
                  </c:pt>
                  <c:pt idx="20">
                    <c:v> </c:v>
                  </c:pt>
                  <c:pt idx="21">
                    <c:v> </c:v>
                  </c:pt>
                  <c:pt idx="22">
                    <c:v> </c:v>
                  </c:pt>
                  <c:pt idx="23">
                    <c:v> </c:v>
                  </c:pt>
                  <c:pt idx="24">
                    <c:v> </c:v>
                  </c:pt>
                  <c:pt idx="25">
                    <c:v> </c:v>
                  </c:pt>
                  <c:pt idx="26">
                    <c:v> </c:v>
                  </c:pt>
                  <c:pt idx="27">
                    <c:v> </c:v>
                  </c:pt>
                  <c:pt idx="28">
                    <c:v> </c:v>
                  </c:pt>
                  <c:pt idx="29">
                    <c:v>30</c:v>
                  </c:pt>
                  <c:pt idx="30">
                    <c:v> </c:v>
                  </c:pt>
                  <c:pt idx="31">
                    <c:v> </c:v>
                  </c:pt>
                  <c:pt idx="32">
                    <c:v> </c:v>
                  </c:pt>
                  <c:pt idx="33">
                    <c:v> </c:v>
                  </c:pt>
                  <c:pt idx="34">
                    <c:v> </c:v>
                  </c:pt>
                  <c:pt idx="35">
                    <c:v> </c:v>
                  </c:pt>
                  <c:pt idx="36">
                    <c:v> </c:v>
                  </c:pt>
                  <c:pt idx="37">
                    <c:v> </c:v>
                  </c:pt>
                  <c:pt idx="38">
                    <c:v> </c:v>
                  </c:pt>
                  <c:pt idx="39">
                    <c:v>40</c:v>
                  </c:pt>
                  <c:pt idx="40">
                    <c:v> </c:v>
                  </c:pt>
                </c:lvl>
              </c:multiLvlStrCache>
            </c:multiLvlStrRef>
          </c:cat>
          <c:val>
            <c:numRef>
              <c:f>Sheet1!$B$2:$B$42</c:f>
              <c:numCache>
                <c:formatCode>General</c:formatCode>
                <c:ptCount val="41"/>
                <c:pt idx="0">
                  <c:v>-2023.52</c:v>
                </c:pt>
                <c:pt idx="1">
                  <c:v>-2003.65</c:v>
                </c:pt>
                <c:pt idx="2">
                  <c:v>-1992.93</c:v>
                </c:pt>
                <c:pt idx="3">
                  <c:v>-1984.96</c:v>
                </c:pt>
                <c:pt idx="4">
                  <c:v>-1980.85</c:v>
                </c:pt>
                <c:pt idx="5">
                  <c:v>-1979.33</c:v>
                </c:pt>
                <c:pt idx="6">
                  <c:v>-1978.72</c:v>
                </c:pt>
                <c:pt idx="7">
                  <c:v>-1978.42</c:v>
                </c:pt>
                <c:pt idx="8">
                  <c:v>-1978.25</c:v>
                </c:pt>
                <c:pt idx="9">
                  <c:v>-1978.16</c:v>
                </c:pt>
                <c:pt idx="10">
                  <c:v>-1978.1</c:v>
                </c:pt>
                <c:pt idx="11">
                  <c:v>-1978.07</c:v>
                </c:pt>
                <c:pt idx="12">
                  <c:v>-1978.05</c:v>
                </c:pt>
                <c:pt idx="13">
                  <c:v>-1978.03</c:v>
                </c:pt>
                <c:pt idx="14">
                  <c:v>-1978.02</c:v>
                </c:pt>
                <c:pt idx="15">
                  <c:v>-1978.02</c:v>
                </c:pt>
                <c:pt idx="16">
                  <c:v>-1978.01</c:v>
                </c:pt>
                <c:pt idx="17">
                  <c:v>-1978.01</c:v>
                </c:pt>
                <c:pt idx="18">
                  <c:v>-1978.01</c:v>
                </c:pt>
                <c:pt idx="19">
                  <c:v>-1978.01</c:v>
                </c:pt>
                <c:pt idx="20">
                  <c:v>-1978.01</c:v>
                </c:pt>
                <c:pt idx="21">
                  <c:v>-1978.01</c:v>
                </c:pt>
                <c:pt idx="22">
                  <c:v>-1978.01</c:v>
                </c:pt>
                <c:pt idx="23">
                  <c:v>-1978.01</c:v>
                </c:pt>
                <c:pt idx="24">
                  <c:v>-1978.01</c:v>
                </c:pt>
                <c:pt idx="25">
                  <c:v>-1978.01</c:v>
                </c:pt>
                <c:pt idx="26">
                  <c:v>-1978.01</c:v>
                </c:pt>
                <c:pt idx="27">
                  <c:v>-1978.01</c:v>
                </c:pt>
                <c:pt idx="28">
                  <c:v>-1978.01</c:v>
                </c:pt>
                <c:pt idx="29">
                  <c:v>-1978.01</c:v>
                </c:pt>
                <c:pt idx="30">
                  <c:v>-1978.01</c:v>
                </c:pt>
                <c:pt idx="31">
                  <c:v>-1978.01</c:v>
                </c:pt>
                <c:pt idx="32">
                  <c:v>-1978.01</c:v>
                </c:pt>
                <c:pt idx="33">
                  <c:v>-1978.01</c:v>
                </c:pt>
                <c:pt idx="34">
                  <c:v>-1978.01</c:v>
                </c:pt>
                <c:pt idx="35">
                  <c:v>-1978.01</c:v>
                </c:pt>
                <c:pt idx="36">
                  <c:v>-1978.01</c:v>
                </c:pt>
                <c:pt idx="37">
                  <c:v>-1978.01</c:v>
                </c:pt>
                <c:pt idx="38">
                  <c:v>-1978.01</c:v>
                </c:pt>
                <c:pt idx="39">
                  <c:v>-1978.01</c:v>
                </c:pt>
                <c:pt idx="40">
                  <c:v>-1978.01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tickLblSkip val="10"/>
      </c:catAx>
      <c:valAx>
        <c:axId val="2094734552"/>
        <c:scaling>
          <c:orientation val="minMax"/>
          <c:max val="-1970"/>
          <c:min val="-203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Calibri"/>
              </a:defRPr>
            </a:pPr>
            <a:r>
              <a:rPr sz="1100" b="0" i="0" u="none" strike="noStrike">
                <a:solidFill>
                  <a:srgbClr val="334155"/>
                </a:solidFill>
                <a:latin typeface="Calibri"/>
              </a:rPr>
              <a:t>ARI by linkage (conversation level)</a:t>
            </a:r>
          </a:p>
        </c:rich>
      </c:tx>
      <c:layout/>
      <c:overlay val="0"/>
    </c:title>
    <c:autoTitleDeleted val="0"/>
    <c:plotArea>
      <c:layout/>
      <c:barChart>
        <c:barDir val="col"/>
        <c:grouping val="clustered"/>
        <c:varyColors val="0"/>
        <c:ser>
          <c:idx val="0"/>
          <c:order val="0"/>
          <c:tx>
            <c:strRef>
              <c:f>Sheet1!$B$1</c:f>
              <c:strCache>
                <c:ptCount val="1"/>
                <c:pt idx="0">
                  <c:v>ARI</c:v>
                </c:pt>
              </c:strCache>
            </c:strRef>
          </c:tx>
          <c:spPr>
            <a:solidFill>
              <a:srgbClr val="64748B"/>
            </a:solidFill>
            <a:effectLst/>
          </c:spPr>
          <c:invertIfNegative val="0"/>
          <c:dLbls>
            <c:numFmt formatCode="0.00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7C3AED"/>
              </a:solidFill>
              <a:effectLst/>
            </c:spPr>
          </c:dPt>
          <c:dPt>
            <c:idx val="2"/>
            <c:invertIfNegative val="0"/>
            <c:bubble3D val="0"/>
            <c:spPr>
              <a:solidFill>
                <a:srgbClr val="7C3AED"/>
              </a:solidFill>
              <a:effectLst/>
            </c:spPr>
          </c:dPt>
          <c:dPt>
            <c:idx val="3"/>
            <c:invertIfNegative val="0"/>
            <c:bubble3D val="0"/>
            <c:spPr>
              <a:solidFill>
                <a:srgbClr val="64748B"/>
              </a:solidFill>
              <a:effectLst/>
            </c:spPr>
          </c:dPt>
          <c:cat>
            <c:multiLvlStrRef>
              <c:f>Sheet1!$A$2:$A$5</c:f>
              <c:multiLvlStrCache>
                <c:ptCount val="4"/>
                <c:lvl>
                  <c:pt idx="0">
                    <c:v>single</c:v>
                  </c:pt>
                  <c:pt idx="1">
                    <c:v>complete</c:v>
                  </c:pt>
                  <c:pt idx="2">
                    <c:v>average</c:v>
                  </c:pt>
                  <c:pt idx="3">
                    <c:v>ward</c:v>
                  </c:pt>
                </c:lvl>
              </c:multiLvlStrCache>
            </c:multiLvlStrRef>
          </c:cat>
          <c:val>
            <c:numRef>
              <c:f>Sheet1!$B$2:$B$5</c:f>
              <c:numCache>
                <c:formatCode>General</c:formatCode>
                <c:ptCount val="4"/>
                <c:pt idx="0">
                  <c:v>-0.008</c:v>
                </c:pt>
                <c:pt idx="1">
                  <c:v>0.692</c:v>
                </c:pt>
                <c:pt idx="2">
                  <c:v>0.66</c:v>
                </c:pt>
                <c:pt idx="3">
                  <c:v>0.371</c:v>
                </c:pt>
              </c:numCache>
            </c:numRef>
          </c:val>
        </c:ser>
        <c:dLbls>
          <c:numFmt formatCode="0.00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 after matching (%)</c:v>
                </c:pt>
              </c:strCache>
            </c:strRef>
          </c:tx>
          <c:spPr>
            <a:solidFill>
              <a:srgbClr val="0D9488"/>
            </a:solidFill>
            <a:effectLst/>
          </c:spPr>
          <c:invertIfNegative val="0"/>
          <c:dLbls>
            <c:numFmt formatCode="0.0&quot;%&quot;" sourceLinked="0"/>
            <c:txPr>
              <a:bodyPr/>
              <a:lstStyle/>
              <a:p>
                <a:pPr>
                  <a:defRPr b="0" i="0" strike="noStrike" sz="12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0D9488"/>
              </a:solidFill>
              <a:effectLst/>
            </c:spPr>
          </c:dPt>
          <c:dPt>
            <c:idx val="1"/>
            <c:invertIfNegative val="0"/>
            <c:bubble3D val="0"/>
            <c:spPr>
              <a:solidFill>
                <a:srgbClr val="16A34A"/>
              </a:solidFill>
              <a:effectLst/>
            </c:spPr>
          </c:dPt>
          <c:dPt>
            <c:idx val="2"/>
            <c:invertIfNegative val="0"/>
            <c:bubble3D val="0"/>
            <c:spPr>
              <a:solidFill>
                <a:srgbClr val="E5484D"/>
              </a:solidFill>
              <a:effectLst/>
            </c:spPr>
          </c:dPt>
          <c:dPt>
            <c:idx val="3"/>
            <c:invertIfNegative val="0"/>
            <c:bubble3D val="0"/>
            <c:spPr>
              <a:solidFill>
                <a:srgbClr val="7C3AED"/>
              </a:solidFill>
              <a:effectLst/>
            </c:spPr>
          </c:dPt>
          <c:dPt>
            <c:idx val="4"/>
            <c:invertIfNegative val="0"/>
            <c:bubble3D val="0"/>
            <c:spPr>
              <a:solidFill>
                <a:srgbClr val="64748B"/>
              </a:solidFill>
              <a:effectLst/>
            </c:spPr>
          </c:dPt>
          <c:cat>
            <c:multiLvlStrRef>
              <c:f>Sheet1!$A$2:$A$6</c:f>
              <c:multiLvlStrCache>
                <c:ptCount val="5"/>
                <c:lvl>
                  <c:pt idx="0">
                    <c:v>K-means (scores)</c:v>
                  </c:pt>
                  <c:pt idx="1">
                    <c:v>GMM-EM (scores)</c:v>
                  </c:pt>
                  <c:pt idx="2">
                    <c:v>HMM (scores + order)</c:v>
                  </c:pt>
                  <c:pt idx="3">
                    <c:v>Hierarchical (per conversation)</c:v>
                  </c:pt>
                  <c:pt idx="4">
                    <c:v>PBL-I best classifier (no scores)</c:v>
                  </c:pt>
                </c:lvl>
              </c:multiLvlStrCache>
            </c:multiLvlStrRef>
          </c:cat>
          <c:val>
            <c:numRef>
              <c:f>Sheet1!$B$2:$B$6</c:f>
              <c:numCache>
                <c:formatCode>General</c:formatCode>
                <c:ptCount val="5"/>
                <c:pt idx="0">
                  <c:v>96.9</c:v>
                </c:pt>
                <c:pt idx="1">
                  <c:v>95.1</c:v>
                </c:pt>
                <c:pt idx="2">
                  <c:v>95.1</c:v>
                </c:pt>
                <c:pt idx="3">
                  <c:v>80.5</c:v>
                </c:pt>
                <c:pt idx="4">
                  <c:v>55.9</c:v>
                </c:pt>
              </c:numCache>
            </c:numRef>
          </c:val>
        </c:ser>
        <c:dLbls>
          <c:numFmt formatCode="0.0&quot;%&quot;" sourceLinked="0"/>
          <c:txPr>
            <a:bodyPr/>
            <a:lstStyle/>
            <a:p>
              <a:pPr>
                <a:defRPr b="0" i="0" strike="noStrike" sz="120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D9488"/>
          </a:solidFill>
          <a:ln w="12700">
            <a:solidFill>
              <a:srgbClr val="0D9488"/>
            </a:solidFill>
            <a:prstDash val="solid"/>
          </a:ln>
        </p:spPr>
      </p:sp>
      <p:sp>
        <p:nvSpPr>
          <p:cNvPr id="3" name="Text 1"/>
          <p:cNvSpPr/>
          <p:nvPr/>
        </p:nvSpPr>
        <p:spPr>
          <a:xfrm>
            <a:off x="914400" y="1188720"/>
            <a:ext cx="100584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MACHINE LEARNING  |  PBL-II  |  PROJECT REVIEW 2</a:t>
            </a:r>
            <a:endParaRPr lang="en-US" sz="1400" dirty="0"/>
          </a:p>
        </p:txBody>
      </p:sp>
      <p:sp>
        <p:nvSpPr>
          <p:cNvPr id="4" name="Text 2"/>
          <p:cNvSpPr/>
          <p:nvPr/>
        </p:nvSpPr>
        <p:spPr>
          <a:xfrm>
            <a:off x="914400" y="1737360"/>
            <a:ext cx="1005840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Jailbreaker-LLM</a:t>
            </a:r>
            <a:endParaRPr lang="en-US" sz="5400" dirty="0"/>
          </a:p>
        </p:txBody>
      </p:sp>
      <p:sp>
        <p:nvSpPr>
          <p:cNvPr id="5" name="Text 3"/>
          <p:cNvSpPr/>
          <p:nvPr/>
        </p:nvSpPr>
        <p:spPr>
          <a:xfrm>
            <a:off x="914400" y="2788920"/>
            <a:ext cx="10058400" cy="640080"/>
          </a:xfrm>
          <a:prstGeom prst="rect">
            <a:avLst/>
          </a:prstGeom>
          <a:noFill/>
          <a:ln/>
        </p:spPr>
        <p:txBody>
          <a:bodyPr wrap="square" lIns="0" tIns="0" rIns="0" bIns="0" rtlCol="0" anchor="ctr"/>
          <a:lstStyle/>
          <a:p>
            <a:pPr indent="0" marL="0">
              <a:buNone/>
            </a:pPr>
            <a:r>
              <a:rPr lang="en-US" sz="2800" dirty="0">
                <a:solidFill>
                  <a:srgbClr val="CBD5E1"/>
                </a:solidFill>
                <a:latin typeface="Calibri" pitchFamily="34" charset="0"/>
                <a:ea typeface="Calibri" pitchFamily="34" charset="-122"/>
                <a:cs typeface="Calibri" pitchFamily="34" charset="-120"/>
              </a:rPr>
              <a:t>Finding hidden compliance states without labels</a:t>
            </a:r>
            <a:endParaRPr lang="en-US" sz="2800" dirty="0"/>
          </a:p>
        </p:txBody>
      </p:sp>
      <p:sp>
        <p:nvSpPr>
          <p:cNvPr id="6" name="Text 4"/>
          <p:cNvSpPr/>
          <p:nvPr/>
        </p:nvSpPr>
        <p:spPr>
          <a:xfrm>
            <a:off x="914400" y="3520440"/>
            <a:ext cx="9601200" cy="822960"/>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PCA, K-means, Gaussian mixtures (EM), hierarchical clustering and a hidden Markov model, applied to the scores of an LLM red-teaming judge</a:t>
            </a:r>
            <a:endParaRPr lang="en-US" sz="1600" dirty="0"/>
          </a:p>
        </p:txBody>
      </p:sp>
      <p:sp>
        <p:nvSpPr>
          <p:cNvPr id="7" name="Text 5"/>
          <p:cNvSpPr/>
          <p:nvPr/>
        </p:nvSpPr>
        <p:spPr>
          <a:xfrm>
            <a:off x="914400" y="5577840"/>
            <a:ext cx="10058400" cy="32004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Shaik Ayman Hameed Baig  |  RA2411004010125  |  B.Tech ECE, SRMIST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RECAP: PBL-I (1 OF 3)</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PBL-I in brief: an RL attacker, a safety gate, two independent judges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7" name="Shape 5"/>
          <p:cNvSpPr/>
          <p:nvPr/>
        </p:nvSpPr>
        <p:spPr>
          <a:xfrm>
            <a:off x="548640" y="1600200"/>
            <a:ext cx="2286000" cy="1097280"/>
          </a:xfrm>
          <a:prstGeom prst="roundRect">
            <a:avLst>
              <a:gd name="adj" fmla="val 6667"/>
            </a:avLst>
          </a:prstGeom>
          <a:solidFill>
            <a:srgbClr val="FFFFFF"/>
          </a:solidFill>
          <a:ln w="25400">
            <a:solidFill>
              <a:srgbClr val="2F6FED"/>
            </a:solidFill>
            <a:prstDash val="solid"/>
          </a:ln>
        </p:spPr>
      </p:sp>
      <p:sp>
        <p:nvSpPr>
          <p:cNvPr id="8" name="Text 6"/>
          <p:cNvSpPr/>
          <p:nvPr/>
        </p:nvSpPr>
        <p:spPr>
          <a:xfrm>
            <a:off x="658368" y="1600200"/>
            <a:ext cx="2066544" cy="10972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Attacker</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Qwen2.5-0.5B + LoRA</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trained with PPO</a:t>
            </a:r>
            <a:endParaRPr lang="en-US" sz="1400" dirty="0"/>
          </a:p>
        </p:txBody>
      </p:sp>
      <p:sp>
        <p:nvSpPr>
          <p:cNvPr id="9" name="Shape 7"/>
          <p:cNvSpPr/>
          <p:nvPr/>
        </p:nvSpPr>
        <p:spPr>
          <a:xfrm>
            <a:off x="3246120" y="1600200"/>
            <a:ext cx="2011680" cy="1097280"/>
          </a:xfrm>
          <a:prstGeom prst="roundRect">
            <a:avLst>
              <a:gd name="adj" fmla="val 6667"/>
            </a:avLst>
          </a:prstGeom>
          <a:solidFill>
            <a:srgbClr val="FFFFFF"/>
          </a:solidFill>
          <a:ln w="25400">
            <a:solidFill>
              <a:srgbClr val="F2A20C"/>
            </a:solidFill>
            <a:prstDash val="solid"/>
          </a:ln>
        </p:spPr>
      </p:sp>
      <p:sp>
        <p:nvSpPr>
          <p:cNvPr id="10" name="Text 8"/>
          <p:cNvSpPr/>
          <p:nvPr/>
        </p:nvSpPr>
        <p:spPr>
          <a:xfrm>
            <a:off x="3355848" y="1600200"/>
            <a:ext cx="1792224" cy="10972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Safety gate</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allowlist +</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circuit breaker</a:t>
            </a:r>
            <a:endParaRPr lang="en-US" sz="1400" dirty="0"/>
          </a:p>
        </p:txBody>
      </p:sp>
      <p:sp>
        <p:nvSpPr>
          <p:cNvPr id="11" name="Shape 9"/>
          <p:cNvSpPr/>
          <p:nvPr/>
        </p:nvSpPr>
        <p:spPr>
          <a:xfrm>
            <a:off x="5669280" y="1600200"/>
            <a:ext cx="2011680" cy="1097280"/>
          </a:xfrm>
          <a:prstGeom prst="roundRect">
            <a:avLst>
              <a:gd name="adj" fmla="val 6667"/>
            </a:avLst>
          </a:prstGeom>
          <a:solidFill>
            <a:srgbClr val="FFFFFF"/>
          </a:solidFill>
          <a:ln w="25400">
            <a:solidFill>
              <a:srgbClr val="64748B"/>
            </a:solidFill>
            <a:prstDash val="solid"/>
          </a:ln>
        </p:spPr>
      </p:sp>
      <p:sp>
        <p:nvSpPr>
          <p:cNvPr id="12" name="Text 10"/>
          <p:cNvSpPr/>
          <p:nvPr/>
        </p:nvSpPr>
        <p:spPr>
          <a:xfrm>
            <a:off x="5779008" y="1600200"/>
            <a:ext cx="1792224" cy="10972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Target LLM</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the model under</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test</a:t>
            </a:r>
            <a:endParaRPr lang="en-US" sz="1400" dirty="0"/>
          </a:p>
        </p:txBody>
      </p:sp>
      <p:sp>
        <p:nvSpPr>
          <p:cNvPr id="13" name="Shape 11"/>
          <p:cNvSpPr/>
          <p:nvPr/>
        </p:nvSpPr>
        <p:spPr>
          <a:xfrm>
            <a:off x="8092440" y="1600200"/>
            <a:ext cx="3566160" cy="1097280"/>
          </a:xfrm>
          <a:prstGeom prst="roundRect">
            <a:avLst>
              <a:gd name="adj" fmla="val 6667"/>
            </a:avLst>
          </a:prstGeom>
          <a:solidFill>
            <a:srgbClr val="FFFFFF"/>
          </a:solidFill>
          <a:ln w="25400">
            <a:solidFill>
              <a:srgbClr val="0D9488"/>
            </a:solidFill>
            <a:prstDash val="solid"/>
          </a:ln>
        </p:spPr>
      </p:sp>
      <p:sp>
        <p:nvSpPr>
          <p:cNvPr id="14" name="Text 12"/>
          <p:cNvSpPr/>
          <p:nvPr/>
        </p:nvSpPr>
        <p:spPr>
          <a:xfrm>
            <a:off x="8202168" y="1600200"/>
            <a:ext cx="3346704" cy="109728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Judge A: reward judge</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DistilBERT, used during training</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p(refusal) p(partial) p(full)</a:t>
            </a:r>
            <a:endParaRPr lang="en-US" sz="1400" dirty="0"/>
          </a:p>
        </p:txBody>
      </p:sp>
      <p:sp>
        <p:nvSpPr>
          <p:cNvPr id="15" name="Shape 13"/>
          <p:cNvSpPr/>
          <p:nvPr/>
        </p:nvSpPr>
        <p:spPr>
          <a:xfrm>
            <a:off x="2834640" y="2148840"/>
            <a:ext cx="411480" cy="0"/>
          </a:xfrm>
          <a:prstGeom prst="line">
            <a:avLst/>
          </a:prstGeom>
          <a:noFill/>
          <a:ln w="25400">
            <a:solidFill>
              <a:srgbClr val="64748B"/>
            </a:solidFill>
            <a:prstDash val="solid"/>
            <a:tailEnd type="triangle"/>
          </a:ln>
        </p:spPr>
      </p:sp>
      <p:sp>
        <p:nvSpPr>
          <p:cNvPr id="16" name="Shape 14"/>
          <p:cNvSpPr/>
          <p:nvPr/>
        </p:nvSpPr>
        <p:spPr>
          <a:xfrm>
            <a:off x="5257800" y="2148840"/>
            <a:ext cx="411480" cy="0"/>
          </a:xfrm>
          <a:prstGeom prst="line">
            <a:avLst/>
          </a:prstGeom>
          <a:noFill/>
          <a:ln w="25400">
            <a:solidFill>
              <a:srgbClr val="64748B"/>
            </a:solidFill>
            <a:prstDash val="solid"/>
            <a:tailEnd type="triangle"/>
          </a:ln>
        </p:spPr>
      </p:sp>
      <p:sp>
        <p:nvSpPr>
          <p:cNvPr id="17" name="Shape 15"/>
          <p:cNvSpPr/>
          <p:nvPr/>
        </p:nvSpPr>
        <p:spPr>
          <a:xfrm>
            <a:off x="7680960" y="2148840"/>
            <a:ext cx="411480" cy="0"/>
          </a:xfrm>
          <a:prstGeom prst="line">
            <a:avLst/>
          </a:prstGeom>
          <a:noFill/>
          <a:ln w="25400">
            <a:solidFill>
              <a:srgbClr val="64748B"/>
            </a:solidFill>
            <a:prstDash val="solid"/>
            <a:tailEnd type="triangle"/>
          </a:ln>
        </p:spPr>
      </p:sp>
      <p:sp>
        <p:nvSpPr>
          <p:cNvPr id="18" name="Shape 16"/>
          <p:cNvSpPr/>
          <p:nvPr/>
        </p:nvSpPr>
        <p:spPr>
          <a:xfrm>
            <a:off x="9875520" y="2697480"/>
            <a:ext cx="0" cy="411480"/>
          </a:xfrm>
          <a:prstGeom prst="line">
            <a:avLst/>
          </a:prstGeom>
          <a:noFill/>
          <a:ln w="25400">
            <a:solidFill>
              <a:srgbClr val="0D9488"/>
            </a:solidFill>
            <a:prstDash val="solid"/>
          </a:ln>
        </p:spPr>
      </p:sp>
      <p:sp>
        <p:nvSpPr>
          <p:cNvPr id="19" name="Shape 17"/>
          <p:cNvSpPr/>
          <p:nvPr/>
        </p:nvSpPr>
        <p:spPr>
          <a:xfrm>
            <a:off x="1691640" y="3108960"/>
            <a:ext cx="8183880" cy="0"/>
          </a:xfrm>
          <a:prstGeom prst="line">
            <a:avLst/>
          </a:prstGeom>
          <a:noFill/>
          <a:ln w="25400">
            <a:solidFill>
              <a:srgbClr val="0D9488"/>
            </a:solidFill>
            <a:prstDash val="solid"/>
          </a:ln>
        </p:spPr>
      </p:sp>
      <p:sp>
        <p:nvSpPr>
          <p:cNvPr id="20" name="Shape 18"/>
          <p:cNvSpPr/>
          <p:nvPr/>
        </p:nvSpPr>
        <p:spPr>
          <a:xfrm>
            <a:off x="1691640" y="3108960"/>
            <a:ext cx="0" cy="-411480"/>
          </a:xfrm>
          <a:prstGeom prst="line">
            <a:avLst/>
          </a:prstGeom>
          <a:noFill/>
          <a:ln w="25400">
            <a:solidFill>
              <a:srgbClr val="0D9488"/>
            </a:solidFill>
            <a:prstDash val="solid"/>
            <a:tailEnd type="triangle"/>
          </a:ln>
        </p:spPr>
      </p:sp>
      <p:sp>
        <p:nvSpPr>
          <p:cNvPr id="21" name="Text 19"/>
          <p:cNvSpPr/>
          <p:nvPr/>
        </p:nvSpPr>
        <p:spPr>
          <a:xfrm>
            <a:off x="1828800" y="3154680"/>
            <a:ext cx="4663440" cy="274320"/>
          </a:xfrm>
          <a:prstGeom prst="rect">
            <a:avLst/>
          </a:prstGeom>
          <a:noFill/>
          <a:ln/>
        </p:spPr>
        <p:txBody>
          <a:bodyPr wrap="square" lIns="0" tIns="0" rIns="0" bIns="0" rtlCol="0" anchor="ctr"/>
          <a:lstStyle/>
          <a:p>
            <a:pPr algn="l" indent="0" marL="0">
              <a:buNone/>
            </a:pPr>
            <a:r>
              <a:rPr lang="en-US" sz="1150" dirty="0">
                <a:solidFill>
                  <a:srgbClr val="0D9488"/>
                </a:solidFill>
                <a:latin typeface="Consolas" pitchFamily="34" charset="0"/>
                <a:ea typeface="Consolas" pitchFamily="34" charset="-122"/>
                <a:cs typeface="Consolas" pitchFamily="34" charset="-120"/>
              </a:rPr>
              <a:t>reward = p(full) + 0.3 p(partial) - 0.1 p(refusal)</a:t>
            </a:r>
            <a:endParaRPr lang="en-US" sz="1150" dirty="0"/>
          </a:p>
        </p:txBody>
      </p:sp>
      <p:sp>
        <p:nvSpPr>
          <p:cNvPr id="22" name="Shape 20"/>
          <p:cNvSpPr/>
          <p:nvPr/>
        </p:nvSpPr>
        <p:spPr>
          <a:xfrm>
            <a:off x="8092440" y="3794760"/>
            <a:ext cx="3566160" cy="960120"/>
          </a:xfrm>
          <a:prstGeom prst="roundRect">
            <a:avLst>
              <a:gd name="adj" fmla="val 7619"/>
            </a:avLst>
          </a:prstGeom>
          <a:solidFill>
            <a:srgbClr val="FFFFFF"/>
          </a:solidFill>
          <a:ln w="25400">
            <a:solidFill>
              <a:srgbClr val="7C3AED"/>
            </a:solidFill>
            <a:prstDash val="solid"/>
          </a:ln>
        </p:spPr>
      </p:sp>
      <p:sp>
        <p:nvSpPr>
          <p:cNvPr id="23" name="Text 21"/>
          <p:cNvSpPr/>
          <p:nvPr/>
        </p:nvSpPr>
        <p:spPr>
          <a:xfrm>
            <a:off x="8202168" y="3794760"/>
            <a:ext cx="3346704" cy="96012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Judge B: evaluation judge</a:t>
            </a:r>
            <a:endParaRPr lang="en-US" sz="1400" dirty="0"/>
          </a:p>
          <a:p>
            <a:pPr algn="ctr" indent="0" marL="0">
              <a:buNone/>
            </a:pPr>
            <a:r>
              <a:rPr lang="en-US" sz="1150" dirty="0">
                <a:solidFill>
                  <a:srgbClr val="334155"/>
                </a:solidFill>
                <a:latin typeface="Calibri" pitchFamily="34" charset="0"/>
                <a:ea typeface="Calibri" pitchFamily="34" charset="-122"/>
                <a:cs typeface="Calibri" pitchFamily="34" charset="-120"/>
              </a:rPr>
              <a:t>separate DistilBERT + LLM judge, never seen by the attacker</a:t>
            </a:r>
            <a:endParaRPr lang="en-US" sz="1400" dirty="0"/>
          </a:p>
        </p:txBody>
      </p:sp>
      <p:sp>
        <p:nvSpPr>
          <p:cNvPr id="24" name="Shape 22"/>
          <p:cNvSpPr/>
          <p:nvPr/>
        </p:nvSpPr>
        <p:spPr>
          <a:xfrm>
            <a:off x="6675120" y="2697480"/>
            <a:ext cx="0" cy="1572768"/>
          </a:xfrm>
          <a:prstGeom prst="line">
            <a:avLst/>
          </a:prstGeom>
          <a:noFill/>
          <a:ln w="25400">
            <a:solidFill>
              <a:srgbClr val="7C3AED"/>
            </a:solidFill>
            <a:prstDash val="solid"/>
          </a:ln>
        </p:spPr>
      </p:sp>
      <p:sp>
        <p:nvSpPr>
          <p:cNvPr id="25" name="Shape 23"/>
          <p:cNvSpPr/>
          <p:nvPr/>
        </p:nvSpPr>
        <p:spPr>
          <a:xfrm>
            <a:off x="6675120" y="4270248"/>
            <a:ext cx="1417320" cy="0"/>
          </a:xfrm>
          <a:prstGeom prst="line">
            <a:avLst/>
          </a:prstGeom>
          <a:noFill/>
          <a:ln w="25400">
            <a:solidFill>
              <a:srgbClr val="7C3AED"/>
            </a:solidFill>
            <a:prstDash val="solid"/>
            <a:tailEnd type="triangle"/>
          </a:ln>
        </p:spPr>
      </p:sp>
      <p:sp>
        <p:nvSpPr>
          <p:cNvPr id="26" name="Text 24"/>
          <p:cNvSpPr/>
          <p:nvPr/>
        </p:nvSpPr>
        <p:spPr>
          <a:xfrm>
            <a:off x="548640" y="3840480"/>
            <a:ext cx="6949440" cy="45720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Only 8.8M of 502.8M parameters are trained (under 2%): the LoRA adapters.</a:t>
            </a:r>
            <a:endParaRPr lang="en-US" sz="1400" dirty="0"/>
          </a:p>
        </p:txBody>
      </p:sp>
      <p:sp>
        <p:nvSpPr>
          <p:cNvPr id="27" name="Shape 25"/>
          <p:cNvSpPr/>
          <p:nvPr/>
        </p:nvSpPr>
        <p:spPr>
          <a:xfrm>
            <a:off x="548640" y="5074920"/>
            <a:ext cx="11109960" cy="1143000"/>
          </a:xfrm>
          <a:prstGeom prst="rect">
            <a:avLst/>
          </a:prstGeom>
          <a:solidFill>
            <a:srgbClr val="ECFDF5"/>
          </a:solidFill>
          <a:ln w="12700">
            <a:solidFill>
              <a:srgbClr val="ECFDF5"/>
            </a:solidFill>
            <a:prstDash val="solid"/>
          </a:ln>
        </p:spPr>
      </p:sp>
      <p:sp>
        <p:nvSpPr>
          <p:cNvPr id="28" name="Shape 26"/>
          <p:cNvSpPr/>
          <p:nvPr/>
        </p:nvSpPr>
        <p:spPr>
          <a:xfrm>
            <a:off x="548640" y="5074920"/>
            <a:ext cx="64008" cy="1143000"/>
          </a:xfrm>
          <a:prstGeom prst="rect">
            <a:avLst/>
          </a:prstGeom>
          <a:solidFill>
            <a:srgbClr val="0D9488"/>
          </a:solidFill>
          <a:ln w="12700">
            <a:solidFill>
              <a:srgbClr val="0D9488"/>
            </a:solidFill>
            <a:prstDash val="solid"/>
          </a:ln>
        </p:spPr>
      </p:sp>
      <p:sp>
        <p:nvSpPr>
          <p:cNvPr id="29" name="Text 27"/>
          <p:cNvSpPr/>
          <p:nvPr/>
        </p:nvSpPr>
        <p:spPr>
          <a:xfrm>
            <a:off x="749808" y="5074920"/>
            <a:ext cx="10789920" cy="114300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IN PLAIN WORDS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One model is trained to try to break another model's safety rules. Judge A tells it how well it did so it can improve. Judge B, which it never trains against, gives the final score, so the attacker cannot simply learn to fool the grader it practices 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RECAP: PBL-I (2 OF 3)</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Two datasets and two judges, kept deliberately separate</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7" name="Shape 5"/>
          <p:cNvSpPr/>
          <p:nvPr/>
        </p:nvSpPr>
        <p:spPr>
          <a:xfrm>
            <a:off x="548640" y="1554480"/>
            <a:ext cx="3566160" cy="2286000"/>
          </a:xfrm>
          <a:prstGeom prst="rect">
            <a:avLst/>
          </a:prstGeom>
          <a:solidFill>
            <a:srgbClr val="FFFFFF"/>
          </a:solidFill>
          <a:ln w="12700">
            <a:solidFill>
              <a:srgbClr val="E2E8F0"/>
            </a:solidFill>
            <a:prstDash val="solid"/>
          </a:ln>
        </p:spPr>
      </p:sp>
      <p:sp>
        <p:nvSpPr>
          <p:cNvPr id="8" name="Shape 6"/>
          <p:cNvSpPr/>
          <p:nvPr/>
        </p:nvSpPr>
        <p:spPr>
          <a:xfrm>
            <a:off x="548640" y="1554480"/>
            <a:ext cx="3566160" cy="64008"/>
          </a:xfrm>
          <a:prstGeom prst="rect">
            <a:avLst/>
          </a:prstGeom>
          <a:solidFill>
            <a:srgbClr val="2F6FED"/>
          </a:solidFill>
          <a:ln w="12700">
            <a:solidFill>
              <a:srgbClr val="2F6FED"/>
            </a:solidFill>
            <a:prstDash val="solid"/>
          </a:ln>
        </p:spPr>
      </p:sp>
      <p:sp>
        <p:nvSpPr>
          <p:cNvPr id="9" name="Text 7"/>
          <p:cNvSpPr/>
          <p:nvPr/>
        </p:nvSpPr>
        <p:spPr>
          <a:xfrm>
            <a:off x="731520" y="171907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Judge-training data</a:t>
            </a:r>
            <a:endParaRPr lang="en-US" sz="1600" dirty="0"/>
          </a:p>
        </p:txBody>
      </p:sp>
      <p:sp>
        <p:nvSpPr>
          <p:cNvPr id="10" name="Text 8"/>
          <p:cNvSpPr/>
          <p:nvPr/>
        </p:nvSpPr>
        <p:spPr>
          <a:xfrm>
            <a:off x="731520" y="2121408"/>
            <a:ext cx="3200400" cy="160020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Placeholder text only (markers like "PROCEDURAL STEP 1"): no real harmful content.</a:t>
            </a:r>
            <a:endParaRPr lang="en-US" sz="1400" dirty="0"/>
          </a:p>
          <a:p>
            <a:pPr indent="0" marL="0">
              <a:buNone/>
            </a:pPr>
            <a:r>
              <a:rPr lang="en-US" sz="1400" dirty="0">
                <a:solidFill>
                  <a:srgbClr val="334155"/>
                </a:solidFill>
                <a:latin typeface="Calibri" pitchFamily="34" charset="0"/>
                <a:ea typeface="Calibri" pitchFamily="34" charset="-122"/>
                <a:cs typeface="Calibri" pitchFamily="34" charset="-120"/>
              </a:rPr>
              <a:t>144 train + 36 validation rows, generated twice with different seeds (42 and 84).</a:t>
            </a:r>
            <a:endParaRPr lang="en-US" sz="1400" dirty="0"/>
          </a:p>
        </p:txBody>
      </p:sp>
      <p:sp>
        <p:nvSpPr>
          <p:cNvPr id="11" name="Shape 9"/>
          <p:cNvSpPr/>
          <p:nvPr/>
        </p:nvSpPr>
        <p:spPr>
          <a:xfrm>
            <a:off x="4315968" y="1554480"/>
            <a:ext cx="3566160" cy="2286000"/>
          </a:xfrm>
          <a:prstGeom prst="rect">
            <a:avLst/>
          </a:prstGeom>
          <a:solidFill>
            <a:srgbClr val="FFFFFF"/>
          </a:solidFill>
          <a:ln w="12700">
            <a:solidFill>
              <a:srgbClr val="E2E8F0"/>
            </a:solidFill>
            <a:prstDash val="solid"/>
          </a:ln>
        </p:spPr>
      </p:sp>
      <p:sp>
        <p:nvSpPr>
          <p:cNvPr id="12" name="Shape 10"/>
          <p:cNvSpPr/>
          <p:nvPr/>
        </p:nvSpPr>
        <p:spPr>
          <a:xfrm>
            <a:off x="4315968" y="1554480"/>
            <a:ext cx="3566160" cy="64008"/>
          </a:xfrm>
          <a:prstGeom prst="rect">
            <a:avLst/>
          </a:prstGeom>
          <a:solidFill>
            <a:srgbClr val="0D9488"/>
          </a:solidFill>
          <a:ln w="12700">
            <a:solidFill>
              <a:srgbClr val="0D9488"/>
            </a:solidFill>
            <a:prstDash val="solid"/>
          </a:ln>
        </p:spPr>
      </p:sp>
      <p:sp>
        <p:nvSpPr>
          <p:cNvPr id="13" name="Text 11"/>
          <p:cNvSpPr/>
          <p:nvPr/>
        </p:nvSpPr>
        <p:spPr>
          <a:xfrm>
            <a:off x="4498848" y="171907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Campaign data (PBL-II)</a:t>
            </a:r>
            <a:endParaRPr lang="en-US" sz="1600" dirty="0"/>
          </a:p>
        </p:txBody>
      </p:sp>
      <p:sp>
        <p:nvSpPr>
          <p:cNvPr id="14" name="Text 12"/>
          <p:cNvSpPr/>
          <p:nvPr/>
        </p:nvSpPr>
        <p:spPr>
          <a:xfrm>
            <a:off x="4498848" y="2121408"/>
            <a:ext cx="3200400" cy="160020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978 turns from 220 simulated multi-turn conversations. 3 target difficulties, 3 attack techniques, 3 hidden states. Every result in this deck uses it.</a:t>
            </a:r>
            <a:endParaRPr lang="en-US" sz="1400" dirty="0"/>
          </a:p>
        </p:txBody>
      </p:sp>
      <p:sp>
        <p:nvSpPr>
          <p:cNvPr id="15" name="Shape 13"/>
          <p:cNvSpPr/>
          <p:nvPr/>
        </p:nvSpPr>
        <p:spPr>
          <a:xfrm>
            <a:off x="8083296" y="1554480"/>
            <a:ext cx="3566160" cy="2286000"/>
          </a:xfrm>
          <a:prstGeom prst="rect">
            <a:avLst/>
          </a:prstGeom>
          <a:solidFill>
            <a:srgbClr val="FFFFFF"/>
          </a:solidFill>
          <a:ln w="12700">
            <a:solidFill>
              <a:srgbClr val="E2E8F0"/>
            </a:solidFill>
            <a:prstDash val="solid"/>
          </a:ln>
        </p:spPr>
      </p:sp>
      <p:sp>
        <p:nvSpPr>
          <p:cNvPr id="16" name="Shape 14"/>
          <p:cNvSpPr/>
          <p:nvPr/>
        </p:nvSpPr>
        <p:spPr>
          <a:xfrm>
            <a:off x="8083296" y="1554480"/>
            <a:ext cx="3566160" cy="64008"/>
          </a:xfrm>
          <a:prstGeom prst="rect">
            <a:avLst/>
          </a:prstGeom>
          <a:solidFill>
            <a:srgbClr val="F2A20C"/>
          </a:solidFill>
          <a:ln w="12700">
            <a:solidFill>
              <a:srgbClr val="F2A20C"/>
            </a:solidFill>
            <a:prstDash val="solid"/>
          </a:ln>
        </p:spPr>
      </p:sp>
      <p:sp>
        <p:nvSpPr>
          <p:cNvPr id="17" name="Text 15"/>
          <p:cNvSpPr/>
          <p:nvPr/>
        </p:nvSpPr>
        <p:spPr>
          <a:xfrm>
            <a:off x="8266176" y="171907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Why simulated?</a:t>
            </a:r>
            <a:endParaRPr lang="en-US" sz="1600" dirty="0"/>
          </a:p>
        </p:txBody>
      </p:sp>
      <p:sp>
        <p:nvSpPr>
          <p:cNvPr id="18" name="Text 16"/>
          <p:cNvSpPr/>
          <p:nvPr/>
        </p:nvSpPr>
        <p:spPr>
          <a:xfrm>
            <a:off x="8266176" y="2121408"/>
            <a:ext cx="3200400" cy="160020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 real attack campaign needs a GPU, a target model and approvals. A simulation has known hidden states, so every method can be checked against the truth.</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109960" cy="914400"/>
        </p:xfrm>
        <a:graphic>
          <a:graphicData uri="http://schemas.openxmlformats.org/drawingml/2006/table">
            <a:tbl>
              <a:tblPr/>
              <a:tblGrid>
                <a:gridCol w="1554480"/>
                <a:gridCol w="4480560"/>
                <a:gridCol w="5074920"/>
              </a:tblGrid>
              <a:tr h="384048">
                <a:tc>
                  <a:txBody>
                    <a:bodyPr/>
                    <a:lstStyle/>
                    <a:p>
                      <a:pPr indent="0" marL="0">
                        <a:buNone/>
                      </a:pP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Judge A: reward judge</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Judge B: evaluation judge</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384048">
                <a:tc>
                  <a:txBody>
                    <a:bodyPr/>
                    <a:lstStyle/>
                    <a:p>
                      <a:pPr indent="0" marL="0">
                        <a:buNone/>
                      </a:pPr>
                      <a:r>
                        <a:rPr lang="en-US" sz="1250" b="1" dirty="0">
                          <a:solidFill>
                            <a:srgbClr val="0F172A"/>
                          </a:solidFill>
                          <a:latin typeface="Calibri" pitchFamily="34" charset="0"/>
                          <a:ea typeface="Calibri" pitchFamily="34" charset="-122"/>
                          <a:cs typeface="Calibri" pitchFamily="34" charset="-120"/>
                        </a:rPr>
                        <a:t>Job</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Gives the PPO reward; ranks candidate messages</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Final scoring of finished conversations</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50" b="1" dirty="0">
                          <a:solidFill>
                            <a:srgbClr val="0F172A"/>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DistilBERT classifier (seed 42)</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Ensemble: DistilBERT (seed 84) averaged with an LLM judge</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50" b="1" dirty="0">
                          <a:solidFill>
                            <a:srgbClr val="0F172A"/>
                          </a:solidFill>
                          <a:latin typeface="Calibri" pitchFamily="34" charset="0"/>
                          <a:ea typeface="Calibri" pitchFamily="34" charset="-122"/>
                          <a:cs typeface="Calibri" pitchFamily="34" charset="-120"/>
                        </a:rPr>
                        <a:t>Safeguard</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Fast, runs on every message</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Flags a turn when the two parts differ by 0.35 or more</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20" name="Text 17"/>
          <p:cNvSpPr/>
          <p:nvPr/>
        </p:nvSpPr>
        <p:spPr>
          <a:xfrm>
            <a:off x="548640" y="5852160"/>
            <a:ext cx="11109960" cy="45720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Judge A's 100% validation accuracy comes from templated placeholder data. It shows the code runs; it says nothing about quality on real conversations.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RECAP: PBL-I (3 OF 3)</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PBL-I result: judge scores carry the signal, turn metadata alone does not</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7" name="Shape 5"/>
          <p:cNvSpPr/>
          <p:nvPr/>
        </p:nvSpPr>
        <p:spPr>
          <a:xfrm>
            <a:off x="548640" y="1600200"/>
            <a:ext cx="2651760" cy="1371600"/>
          </a:xfrm>
          <a:prstGeom prst="rect">
            <a:avLst/>
          </a:prstGeom>
          <a:solidFill>
            <a:srgbClr val="F1F5F9"/>
          </a:solidFill>
          <a:ln w="12700">
            <a:solidFill>
              <a:srgbClr val="F1F5F9"/>
            </a:solidFill>
            <a:prstDash val="solid"/>
          </a:ln>
        </p:spPr>
      </p:sp>
      <p:sp>
        <p:nvSpPr>
          <p:cNvPr id="8" name="Text 6"/>
          <p:cNvSpPr/>
          <p:nvPr/>
        </p:nvSpPr>
        <p:spPr>
          <a:xfrm>
            <a:off x="548640" y="1691640"/>
            <a:ext cx="2651760" cy="754380"/>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R² = 0.935</a:t>
            </a:r>
            <a:endParaRPr lang="en-US" sz="3000" dirty="0"/>
          </a:p>
        </p:txBody>
      </p:sp>
      <p:sp>
        <p:nvSpPr>
          <p:cNvPr id="9" name="Text 7"/>
          <p:cNvSpPr/>
          <p:nvPr/>
        </p:nvSpPr>
        <p:spPr>
          <a:xfrm>
            <a:off x="640080" y="2395728"/>
            <a:ext cx="2468880" cy="521208"/>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regression: predict Judge B from Judge A (random forest; linear 0.921)</a:t>
            </a:r>
            <a:endParaRPr lang="en-US" sz="1150" dirty="0"/>
          </a:p>
        </p:txBody>
      </p:sp>
      <p:sp>
        <p:nvSpPr>
          <p:cNvPr id="10" name="Shape 8"/>
          <p:cNvSpPr/>
          <p:nvPr/>
        </p:nvSpPr>
        <p:spPr>
          <a:xfrm>
            <a:off x="3383280" y="1600200"/>
            <a:ext cx="2651760" cy="1371600"/>
          </a:xfrm>
          <a:prstGeom prst="rect">
            <a:avLst/>
          </a:prstGeom>
          <a:solidFill>
            <a:srgbClr val="F1F5F9"/>
          </a:solidFill>
          <a:ln w="12700">
            <a:solidFill>
              <a:srgbClr val="F1F5F9"/>
            </a:solidFill>
            <a:prstDash val="solid"/>
          </a:ln>
        </p:spPr>
      </p:sp>
      <p:sp>
        <p:nvSpPr>
          <p:cNvPr id="11" name="Text 9"/>
          <p:cNvSpPr/>
          <p:nvPr/>
        </p:nvSpPr>
        <p:spPr>
          <a:xfrm>
            <a:off x="3383280" y="1691640"/>
            <a:ext cx="2651760" cy="754380"/>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55.9%</a:t>
            </a:r>
            <a:endParaRPr lang="en-US" sz="3000" dirty="0"/>
          </a:p>
        </p:txBody>
      </p:sp>
      <p:sp>
        <p:nvSpPr>
          <p:cNvPr id="12" name="Text 10"/>
          <p:cNvSpPr/>
          <p:nvPr/>
        </p:nvSpPr>
        <p:spPr>
          <a:xfrm>
            <a:off x="3474720" y="2395728"/>
            <a:ext cx="2468880" cy="521208"/>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classification without the judge score (SVM), macro-F1 0.51</a:t>
            </a:r>
            <a:endParaRPr lang="en-US" sz="1150" dirty="0"/>
          </a:p>
        </p:txBody>
      </p:sp>
      <p:sp>
        <p:nvSpPr>
          <p:cNvPr id="13" name="Shape 11"/>
          <p:cNvSpPr/>
          <p:nvPr/>
        </p:nvSpPr>
        <p:spPr>
          <a:xfrm>
            <a:off x="6217920" y="1600200"/>
            <a:ext cx="2651760" cy="1371600"/>
          </a:xfrm>
          <a:prstGeom prst="rect">
            <a:avLst/>
          </a:prstGeom>
          <a:solidFill>
            <a:srgbClr val="F1F5F9"/>
          </a:solidFill>
          <a:ln w="12700">
            <a:solidFill>
              <a:srgbClr val="F1F5F9"/>
            </a:solidFill>
            <a:prstDash val="solid"/>
          </a:ln>
        </p:spPr>
      </p:sp>
      <p:sp>
        <p:nvSpPr>
          <p:cNvPr id="14" name="Text 12"/>
          <p:cNvSpPr/>
          <p:nvPr/>
        </p:nvSpPr>
        <p:spPr>
          <a:xfrm>
            <a:off x="6217920" y="1691640"/>
            <a:ext cx="2651760" cy="754380"/>
          </a:xfrm>
          <a:prstGeom prst="rect">
            <a:avLst/>
          </a:prstGeom>
          <a:noFill/>
          <a:ln/>
        </p:spPr>
        <p:txBody>
          <a:bodyPr wrap="square" lIns="0" tIns="0" rIns="0" bIns="0" rtlCol="0" anchor="ctr"/>
          <a:lstStyle/>
          <a:p>
            <a:pPr algn="ctr" indent="0" marL="0">
              <a:buNone/>
            </a:pPr>
            <a:r>
              <a:rPr lang="en-US" sz="3000" b="1" dirty="0">
                <a:solidFill>
                  <a:srgbClr val="64748B"/>
                </a:solidFill>
                <a:latin typeface="Calibri" pitchFamily="34" charset="0"/>
                <a:ea typeface="Calibri" pitchFamily="34" charset="-122"/>
                <a:cs typeface="Calibri" pitchFamily="34" charset="-120"/>
              </a:rPr>
              <a:t>~53%</a:t>
            </a:r>
            <a:endParaRPr lang="en-US" sz="3000" dirty="0"/>
          </a:p>
        </p:txBody>
      </p:sp>
      <p:sp>
        <p:nvSpPr>
          <p:cNvPr id="15" name="Text 13"/>
          <p:cNvSpPr/>
          <p:nvPr/>
        </p:nvSpPr>
        <p:spPr>
          <a:xfrm>
            <a:off x="6309360" y="2395728"/>
            <a:ext cx="2468880" cy="521208"/>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of always guessing "refusal" (class imbalance 53/32/15)</a:t>
            </a:r>
            <a:endParaRPr lang="en-US" sz="1150" dirty="0"/>
          </a:p>
        </p:txBody>
      </p:sp>
      <p:sp>
        <p:nvSpPr>
          <p:cNvPr id="16" name="Shape 14"/>
          <p:cNvSpPr/>
          <p:nvPr/>
        </p:nvSpPr>
        <p:spPr>
          <a:xfrm>
            <a:off x="9052560" y="1600200"/>
            <a:ext cx="2606040" cy="1371600"/>
          </a:xfrm>
          <a:prstGeom prst="rect">
            <a:avLst/>
          </a:prstGeom>
          <a:solidFill>
            <a:srgbClr val="F1F5F9"/>
          </a:solidFill>
          <a:ln w="12700">
            <a:solidFill>
              <a:srgbClr val="F1F5F9"/>
            </a:solidFill>
            <a:prstDash val="solid"/>
          </a:ln>
        </p:spPr>
      </p:sp>
      <p:sp>
        <p:nvSpPr>
          <p:cNvPr id="17" name="Text 15"/>
          <p:cNvSpPr/>
          <p:nvPr/>
        </p:nvSpPr>
        <p:spPr>
          <a:xfrm>
            <a:off x="9052560" y="1691640"/>
            <a:ext cx="2606040" cy="754380"/>
          </a:xfrm>
          <a:prstGeom prst="rect">
            <a:avLst/>
          </a:prstGeom>
          <a:noFill/>
          <a:ln/>
        </p:spPr>
        <p:txBody>
          <a:bodyPr wrap="square" lIns="0" tIns="0" rIns="0" bIns="0" rtlCol="0" anchor="ctr"/>
          <a:lstStyle/>
          <a:p>
            <a:pPr algn="ctr" indent="0" marL="0">
              <a:buNone/>
            </a:pPr>
            <a:r>
              <a:rPr lang="en-US" sz="3000" b="1" dirty="0">
                <a:solidFill>
                  <a:srgbClr val="F2A20C"/>
                </a:solidFill>
                <a:latin typeface="Calibri" pitchFamily="34" charset="0"/>
                <a:ea typeface="Calibri" pitchFamily="34" charset="-122"/>
                <a:cs typeface="Calibri" pitchFamily="34" charset="-120"/>
              </a:rPr>
              <a:t>~62%</a:t>
            </a:r>
            <a:endParaRPr lang="en-US" sz="3000" dirty="0"/>
          </a:p>
        </p:txBody>
      </p:sp>
      <p:sp>
        <p:nvSpPr>
          <p:cNvPr id="18" name="Text 16"/>
          <p:cNvSpPr/>
          <p:nvPr/>
        </p:nvSpPr>
        <p:spPr>
          <a:xfrm>
            <a:off x="9144000" y="2395728"/>
            <a:ext cx="2423160" cy="521208"/>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ceiling for metadata + previous state (estimated)</a:t>
            </a:r>
            <a:endParaRPr lang="en-US" sz="1150" dirty="0"/>
          </a:p>
        </p:txBody>
      </p:sp>
      <p:sp>
        <p:nvSpPr>
          <p:cNvPr id="19" name="Text 17"/>
          <p:cNvSpPr/>
          <p:nvPr/>
        </p:nvSpPr>
        <p:spPr>
          <a:xfrm>
            <a:off x="548640" y="3337560"/>
            <a:ext cx="5486400"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What this told us</a:t>
            </a:r>
            <a:endParaRPr lang="en-US" sz="1800" dirty="0"/>
          </a:p>
        </p:txBody>
      </p:sp>
      <p:sp>
        <p:nvSpPr>
          <p:cNvPr id="20" name="Text 18"/>
          <p:cNvSpPr/>
          <p:nvPr/>
        </p:nvSpPr>
        <p:spPr>
          <a:xfrm>
            <a:off x="548640" y="3749040"/>
            <a:ext cx="65836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The two judges agree strongly (R² above 0.92), which supports the two-judge design.</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Without the judge score, turn number, technique, target and earlier states give only 52 to 56% accuracy: the information is simply not in the metadata.</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So the judge scores are where the signal lives. That raises the PBL-II question.</a:t>
            </a:r>
            <a:endParaRPr lang="en-US" sz="1500" dirty="0"/>
          </a:p>
        </p:txBody>
      </p:sp>
      <p:sp>
        <p:nvSpPr>
          <p:cNvPr id="21" name="Shape 19"/>
          <p:cNvSpPr/>
          <p:nvPr/>
        </p:nvSpPr>
        <p:spPr>
          <a:xfrm>
            <a:off x="7498080" y="3383280"/>
            <a:ext cx="4160520" cy="2651760"/>
          </a:xfrm>
          <a:prstGeom prst="rect">
            <a:avLst/>
          </a:prstGeom>
          <a:solidFill>
            <a:srgbClr val="ECFDF5"/>
          </a:solidFill>
          <a:ln w="12700">
            <a:solidFill>
              <a:srgbClr val="ECFDF5"/>
            </a:solidFill>
            <a:prstDash val="solid"/>
          </a:ln>
        </p:spPr>
      </p:sp>
      <p:sp>
        <p:nvSpPr>
          <p:cNvPr id="22" name="Shape 20"/>
          <p:cNvSpPr/>
          <p:nvPr/>
        </p:nvSpPr>
        <p:spPr>
          <a:xfrm>
            <a:off x="7498080" y="3383280"/>
            <a:ext cx="64008" cy="2651760"/>
          </a:xfrm>
          <a:prstGeom prst="rect">
            <a:avLst/>
          </a:prstGeom>
          <a:solidFill>
            <a:srgbClr val="0D9488"/>
          </a:solidFill>
          <a:ln w="12700">
            <a:solidFill>
              <a:srgbClr val="0D9488"/>
            </a:solidFill>
            <a:prstDash val="solid"/>
          </a:ln>
        </p:spPr>
      </p:sp>
      <p:sp>
        <p:nvSpPr>
          <p:cNvPr id="23" name="Text 21"/>
          <p:cNvSpPr/>
          <p:nvPr/>
        </p:nvSpPr>
        <p:spPr>
          <a:xfrm>
            <a:off x="7699248" y="3383280"/>
            <a:ext cx="3840480" cy="265176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NEXT QUESTION</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If the three judge scores already tell the story, can we find the three states from the scores alone, with no labels at all? Real red-team campaigns do not come with ground-truth labels, so this is the question that matters in practice.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PBL-II: THE QUESTION</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Can judge scores alone reveal the hidden compliance state?</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548640" y="1600200"/>
            <a:ext cx="3520440" cy="1325880"/>
          </a:xfrm>
          <a:prstGeom prst="roundRect">
            <a:avLst>
              <a:gd name="adj" fmla="val 5517"/>
            </a:avLst>
          </a:prstGeom>
          <a:solidFill>
            <a:srgbClr val="FFFFFF"/>
          </a:solidFill>
          <a:ln w="25400">
            <a:solidFill>
              <a:srgbClr val="2F6FED"/>
            </a:solidFill>
            <a:prstDash val="solid"/>
          </a:ln>
        </p:spPr>
      </p:sp>
      <p:sp>
        <p:nvSpPr>
          <p:cNvPr id="8" name="Text 6"/>
          <p:cNvSpPr/>
          <p:nvPr/>
        </p:nvSpPr>
        <p:spPr>
          <a:xfrm>
            <a:off x="640080" y="1600200"/>
            <a:ext cx="3337560" cy="132588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Per turn</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3 numbers from Judge A</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p(refusal), p(partial), p(full)</a:t>
            </a:r>
            <a:endParaRPr lang="en-US" sz="1600" dirty="0"/>
          </a:p>
        </p:txBody>
      </p:sp>
      <p:sp>
        <p:nvSpPr>
          <p:cNvPr id="9" name="Shape 7"/>
          <p:cNvSpPr/>
          <p:nvPr/>
        </p:nvSpPr>
        <p:spPr>
          <a:xfrm>
            <a:off x="4343400" y="1600200"/>
            <a:ext cx="3520440" cy="1325880"/>
          </a:xfrm>
          <a:prstGeom prst="roundRect">
            <a:avLst>
              <a:gd name="adj" fmla="val 5517"/>
            </a:avLst>
          </a:prstGeom>
          <a:solidFill>
            <a:srgbClr val="FFFFFF"/>
          </a:solidFill>
          <a:ln w="25400">
            <a:solidFill>
              <a:srgbClr val="0D9488"/>
            </a:solidFill>
            <a:prstDash val="solid"/>
          </a:ln>
        </p:spPr>
      </p:sp>
      <p:sp>
        <p:nvSpPr>
          <p:cNvPr id="10" name="Text 8"/>
          <p:cNvSpPr/>
          <p:nvPr/>
        </p:nvSpPr>
        <p:spPr>
          <a:xfrm>
            <a:off x="4434840" y="1600200"/>
            <a:ext cx="3337560" cy="132588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Unsupervised model</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PCA, K-means, GMM-EM,</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hierarchical, HMM: no labels</a:t>
            </a:r>
            <a:endParaRPr lang="en-US" sz="1600" dirty="0"/>
          </a:p>
        </p:txBody>
      </p:sp>
      <p:sp>
        <p:nvSpPr>
          <p:cNvPr id="11" name="Shape 9"/>
          <p:cNvSpPr/>
          <p:nvPr/>
        </p:nvSpPr>
        <p:spPr>
          <a:xfrm>
            <a:off x="8138160" y="1600200"/>
            <a:ext cx="3520440" cy="1325880"/>
          </a:xfrm>
          <a:prstGeom prst="roundRect">
            <a:avLst>
              <a:gd name="adj" fmla="val 5517"/>
            </a:avLst>
          </a:prstGeom>
          <a:solidFill>
            <a:srgbClr val="FFFFFF"/>
          </a:solidFill>
          <a:ln w="25400">
            <a:solidFill>
              <a:srgbClr val="F2A20C"/>
            </a:solidFill>
            <a:prstDash val="solid"/>
          </a:ln>
        </p:spPr>
      </p:sp>
      <p:sp>
        <p:nvSpPr>
          <p:cNvPr id="12" name="Text 10"/>
          <p:cNvSpPr/>
          <p:nvPr/>
        </p:nvSpPr>
        <p:spPr>
          <a:xfrm>
            <a:off x="8229600" y="1600200"/>
            <a:ext cx="3337560" cy="132588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Groups found</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cluster 0, 1, 2:</a:t>
            </a:r>
            <a:endParaRPr lang="en-US" sz="1600" dirty="0"/>
          </a:p>
          <a:p>
            <a:pPr algn="ctr" indent="0" marL="0">
              <a:buNone/>
            </a:pPr>
            <a:r>
              <a:rPr lang="en-US" sz="1300" dirty="0">
                <a:solidFill>
                  <a:srgbClr val="334155"/>
                </a:solidFill>
                <a:latin typeface="Calibri" pitchFamily="34" charset="0"/>
                <a:ea typeface="Calibri" pitchFamily="34" charset="-122"/>
                <a:cs typeface="Calibri" pitchFamily="34" charset="-120"/>
              </a:rPr>
              <a:t>unnamed groups of turns</a:t>
            </a:r>
            <a:endParaRPr lang="en-US" sz="1600" dirty="0"/>
          </a:p>
        </p:txBody>
      </p:sp>
      <p:sp>
        <p:nvSpPr>
          <p:cNvPr id="13" name="Shape 11"/>
          <p:cNvSpPr/>
          <p:nvPr/>
        </p:nvSpPr>
        <p:spPr>
          <a:xfrm>
            <a:off x="4069080" y="2267712"/>
            <a:ext cx="274320" cy="0"/>
          </a:xfrm>
          <a:prstGeom prst="line">
            <a:avLst/>
          </a:prstGeom>
          <a:noFill/>
          <a:ln w="31750">
            <a:solidFill>
              <a:srgbClr val="64748B"/>
            </a:solidFill>
            <a:prstDash val="solid"/>
            <a:tailEnd type="triangle"/>
          </a:ln>
        </p:spPr>
      </p:sp>
      <p:sp>
        <p:nvSpPr>
          <p:cNvPr id="14" name="Shape 12"/>
          <p:cNvSpPr/>
          <p:nvPr/>
        </p:nvSpPr>
        <p:spPr>
          <a:xfrm>
            <a:off x="7863840" y="2267712"/>
            <a:ext cx="274320" cy="0"/>
          </a:xfrm>
          <a:prstGeom prst="line">
            <a:avLst/>
          </a:prstGeom>
          <a:noFill/>
          <a:ln w="31750">
            <a:solidFill>
              <a:srgbClr val="64748B"/>
            </a:solidFill>
            <a:prstDash val="solid"/>
            <a:tailEnd type="triangle"/>
          </a:ln>
        </p:spPr>
      </p:sp>
      <p:sp>
        <p:nvSpPr>
          <p:cNvPr id="15" name="Shape 13"/>
          <p:cNvSpPr/>
          <p:nvPr/>
        </p:nvSpPr>
        <p:spPr>
          <a:xfrm>
            <a:off x="9875520" y="2926080"/>
            <a:ext cx="0" cy="502920"/>
          </a:xfrm>
          <a:prstGeom prst="line">
            <a:avLst/>
          </a:prstGeom>
          <a:noFill/>
          <a:ln w="25400">
            <a:solidFill>
              <a:srgbClr val="E5484D"/>
            </a:solidFill>
            <a:prstDash val="solid"/>
            <a:tailEnd type="triangle"/>
          </a:ln>
        </p:spPr>
      </p:sp>
      <p:sp>
        <p:nvSpPr>
          <p:cNvPr id="16" name="Shape 14"/>
          <p:cNvSpPr/>
          <p:nvPr/>
        </p:nvSpPr>
        <p:spPr>
          <a:xfrm>
            <a:off x="6766560" y="3429000"/>
            <a:ext cx="4892040" cy="731520"/>
          </a:xfrm>
          <a:prstGeom prst="roundRect">
            <a:avLst>
              <a:gd name="adj" fmla="val 10000"/>
            </a:avLst>
          </a:prstGeom>
          <a:solidFill>
            <a:srgbClr val="FEF2F2"/>
          </a:solidFill>
          <a:ln w="25400">
            <a:solidFill>
              <a:srgbClr val="E5484D"/>
            </a:solidFill>
            <a:prstDash val="solid"/>
          </a:ln>
        </p:spPr>
      </p:sp>
      <p:sp>
        <p:nvSpPr>
          <p:cNvPr id="17" name="Text 15"/>
          <p:cNvSpPr/>
          <p:nvPr/>
        </p:nvSpPr>
        <p:spPr>
          <a:xfrm>
            <a:off x="6858000" y="3429000"/>
            <a:ext cx="4709160" cy="7315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Hidden true state, used only AFTER fitting, to score the clusters</a:t>
            </a:r>
            <a:endParaRPr lang="en-US" sz="1300" dirty="0"/>
          </a:p>
        </p:txBody>
      </p:sp>
      <p:sp>
        <p:nvSpPr>
          <p:cNvPr id="18" name="Text 16"/>
          <p:cNvSpPr/>
          <p:nvPr/>
        </p:nvSpPr>
        <p:spPr>
          <a:xfrm>
            <a:off x="548640" y="3429000"/>
            <a:ext cx="594360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How we score without cheating</a:t>
            </a:r>
            <a:endParaRPr lang="en-US" sz="1700" dirty="0"/>
          </a:p>
        </p:txBody>
      </p:sp>
      <p:sp>
        <p:nvSpPr>
          <p:cNvPr id="19" name="Text 17"/>
          <p:cNvSpPr/>
          <p:nvPr/>
        </p:nvSpPr>
        <p:spPr>
          <a:xfrm>
            <a:off x="548640" y="3840480"/>
            <a:ext cx="59436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Cluster numbers are arbitrary, so we try all 6 ways of naming 3 clusters and keep the best: matched accuracy.</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ARI (adjusted Rand index) counts pairs of turns grouped together in both answers: 1 is perfect, 0 is random.</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Silhouette needs no labels: how much closer a turn is to its own cluster than to the next one.</a:t>
            </a:r>
            <a:endParaRPr lang="en-US" sz="1350" dirty="0"/>
          </a:p>
        </p:txBody>
      </p:sp>
      <p:sp>
        <p:nvSpPr>
          <p:cNvPr id="20" name="Shape 18"/>
          <p:cNvSpPr/>
          <p:nvPr/>
        </p:nvSpPr>
        <p:spPr>
          <a:xfrm>
            <a:off x="6766560" y="4434840"/>
            <a:ext cx="4892040" cy="1783080"/>
          </a:xfrm>
          <a:prstGeom prst="rect">
            <a:avLst/>
          </a:prstGeom>
          <a:solidFill>
            <a:srgbClr val="ECFDF5"/>
          </a:solidFill>
          <a:ln w="12700">
            <a:solidFill>
              <a:srgbClr val="ECFDF5"/>
            </a:solidFill>
            <a:prstDash val="solid"/>
          </a:ln>
        </p:spPr>
      </p:sp>
      <p:sp>
        <p:nvSpPr>
          <p:cNvPr id="21" name="Shape 19"/>
          <p:cNvSpPr/>
          <p:nvPr/>
        </p:nvSpPr>
        <p:spPr>
          <a:xfrm>
            <a:off x="6766560" y="4434840"/>
            <a:ext cx="64008" cy="1783080"/>
          </a:xfrm>
          <a:prstGeom prst="rect">
            <a:avLst/>
          </a:prstGeom>
          <a:solidFill>
            <a:srgbClr val="0D9488"/>
          </a:solidFill>
          <a:ln w="12700">
            <a:solidFill>
              <a:srgbClr val="0D9488"/>
            </a:solidFill>
            <a:prstDash val="solid"/>
          </a:ln>
        </p:spPr>
      </p:sp>
      <p:sp>
        <p:nvSpPr>
          <p:cNvPr id="22" name="Text 20"/>
          <p:cNvSpPr/>
          <p:nvPr/>
        </p:nvSpPr>
        <p:spPr>
          <a:xfrm>
            <a:off x="6967728" y="4434840"/>
            <a:ext cx="4572000" cy="178308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WHY THIS MATTERS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Unit 3 of the course (mixture models, EM, latent dimensions, clustering) gives the tools. Each is written from its equations in NumPy, with no sklearn, so every step is visible.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PBL-II: DATA</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The data: 978 turns, 220 conversations, three hidden states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graphicFrame>
        <p:nvGraphicFramePr>
          <p:cNvPr id="7" name="Chart 0" descr=""/>
          <p:cNvGraphicFramePr/>
          <p:nvPr/>
        </p:nvGraphicFramePr>
        <p:xfrm>
          <a:off x="548640" y="150876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4846320"/>
            <a:ext cx="4937760" cy="5486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53% / 32% / 15%: full violation is rare, so accuracy alone can look good by always guessing refusal.</a:t>
            </a:r>
            <a:endParaRPr lang="en-US" sz="1200" dirty="0"/>
          </a:p>
        </p:txBody>
      </p:sp>
      <p:sp>
        <p:nvSpPr>
          <p:cNvPr id="9" name="Text 6"/>
          <p:cNvSpPr/>
          <p:nvPr/>
        </p:nvSpPr>
        <p:spPr>
          <a:xfrm>
            <a:off x="5852160" y="1508760"/>
            <a:ext cx="548640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What each model is given</a:t>
            </a:r>
            <a:endParaRPr lang="en-US" sz="1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852160" y="1920240"/>
          <a:ext cx="5806440" cy="914400"/>
        </p:xfrm>
        <a:graphic>
          <a:graphicData uri="http://schemas.openxmlformats.org/drawingml/2006/table">
            <a:tbl>
              <a:tblPr/>
              <a:tblGrid>
                <a:gridCol w="1143000"/>
                <a:gridCol w="594360"/>
                <a:gridCol w="2423160"/>
                <a:gridCol w="1645920"/>
              </a:tblGrid>
              <a:tr h="3200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Rows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Used by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54864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Turn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978</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 Judge A scores, z-scored</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PCA, K-means, GMM-EM, HMM</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7724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Conversation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220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6: mean of each score, max p(full), number of turns, last p(full)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Hierarchical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11" name="Shape 7"/>
          <p:cNvSpPr/>
          <p:nvPr/>
        </p:nvSpPr>
        <p:spPr>
          <a:xfrm>
            <a:off x="5852160" y="3840480"/>
            <a:ext cx="5806440" cy="1097280"/>
          </a:xfrm>
          <a:prstGeom prst="rect">
            <a:avLst/>
          </a:prstGeom>
          <a:solidFill>
            <a:srgbClr val="ECFDF5"/>
          </a:solidFill>
          <a:ln w="12700">
            <a:solidFill>
              <a:srgbClr val="ECFDF5"/>
            </a:solidFill>
            <a:prstDash val="solid"/>
          </a:ln>
        </p:spPr>
      </p:sp>
      <p:sp>
        <p:nvSpPr>
          <p:cNvPr id="12" name="Shape 8"/>
          <p:cNvSpPr/>
          <p:nvPr/>
        </p:nvSpPr>
        <p:spPr>
          <a:xfrm>
            <a:off x="5852160" y="3840480"/>
            <a:ext cx="64008" cy="1097280"/>
          </a:xfrm>
          <a:prstGeom prst="rect">
            <a:avLst/>
          </a:prstGeom>
          <a:solidFill>
            <a:srgbClr val="0D9488"/>
          </a:solidFill>
          <a:ln w="12700">
            <a:solidFill>
              <a:srgbClr val="0D9488"/>
            </a:solidFill>
            <a:prstDash val="solid"/>
          </a:ln>
        </p:spPr>
      </p:sp>
      <p:sp>
        <p:nvSpPr>
          <p:cNvPr id="13" name="Text 9"/>
          <p:cNvSpPr/>
          <p:nvPr/>
        </p:nvSpPr>
        <p:spPr>
          <a:xfrm>
            <a:off x="6053328" y="3840480"/>
            <a:ext cx="5486400" cy="109728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A BUILT-IN PROPERTY</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The three probabilities always add up to 1. That means the third number is fully determined by the other two, so the data has only 2 real dimensions. PCA will prove this on the next slide.</a:t>
            </a:r>
            <a:endParaRPr lang="en-US" sz="1050" dirty="0"/>
          </a:p>
        </p:txBody>
      </p:sp>
      <p:sp>
        <p:nvSpPr>
          <p:cNvPr id="14" name="Text 10"/>
          <p:cNvSpPr/>
          <p:nvPr/>
        </p:nvSpPr>
        <p:spPr>
          <a:xfrm>
            <a:off x="5852160" y="5120640"/>
            <a:ext cx="580644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z-score: subtract the mean and divide by the standard deviation, so no score dominates only because of its scale.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PCA</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PCA: three judge scores really live in two dimensions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pic>
        <p:nvPicPr>
          <p:cNvPr id="7" name="Image 0" descr="/tmp/claude-0/deck/fig/pca.png">    </p:cNvPr>
          <p:cNvPicPr>
            <a:picLocks noChangeAspect="1"/>
          </p:cNvPicPr>
          <p:nvPr/>
        </p:nvPicPr>
        <p:blipFill>
          <a:blip r:embed="rId1"/>
          <a:stretch>
            <a:fillRect/>
          </a:stretch>
        </p:blipFill>
        <p:spPr>
          <a:xfrm>
            <a:off x="548640" y="1417320"/>
            <a:ext cx="6858000" cy="3502152"/>
          </a:xfrm>
          <a:prstGeom prst="rect">
            <a:avLst/>
          </a:prstGeom>
        </p:spPr>
      </p:pic>
      <p:sp>
        <p:nvSpPr>
          <p:cNvPr id="8" name="Text 5"/>
          <p:cNvSpPr/>
          <p:nvPr/>
        </p:nvSpPr>
        <p:spPr>
          <a:xfrm>
            <a:off x="7680960" y="1463040"/>
            <a:ext cx="3977640" cy="109728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Principal component analysis: find the directions in which the data varies most, then describe each point by its position along them.</a:t>
            </a:r>
            <a:endParaRPr lang="en-US" sz="1400" dirty="0"/>
          </a:p>
        </p:txBody>
      </p:sp>
      <p:sp>
        <p:nvSpPr>
          <p:cNvPr id="9" name="Shape 6"/>
          <p:cNvSpPr/>
          <p:nvPr/>
        </p:nvSpPr>
        <p:spPr>
          <a:xfrm>
            <a:off x="7680960" y="2697480"/>
            <a:ext cx="3977640" cy="1188720"/>
          </a:xfrm>
          <a:prstGeom prst="rect">
            <a:avLst/>
          </a:prstGeom>
          <a:solidFill>
            <a:srgbClr val="F1F5F9"/>
          </a:solidFill>
          <a:ln w="12700">
            <a:solidFill>
              <a:srgbClr val="F1F5F9"/>
            </a:solidFill>
            <a:prstDash val="solid"/>
          </a:ln>
        </p:spPr>
      </p:sp>
      <p:sp>
        <p:nvSpPr>
          <p:cNvPr id="10" name="Text 7"/>
          <p:cNvSpPr/>
          <p:nvPr/>
        </p:nvSpPr>
        <p:spPr>
          <a:xfrm>
            <a:off x="7772400" y="2697480"/>
            <a:ext cx="3794760" cy="777240"/>
          </a:xfrm>
          <a:prstGeom prst="rect">
            <a:avLst/>
          </a:prstGeom>
          <a:noFill/>
          <a:ln/>
        </p:spPr>
        <p:txBody>
          <a:bodyPr wrap="square" lIns="0" tIns="0" rIns="0" bIns="0" rtlCol="0" anchor="ctr"/>
          <a:lstStyle/>
          <a:p>
            <a:pPr algn="ctr" indent="0" marL="0">
              <a:buNone/>
            </a:pPr>
            <a:r>
              <a:rPr lang="en-US" sz="1600" dirty="0">
                <a:solidFill>
                  <a:srgbClr val="0F172A"/>
                </a:solidFill>
                <a:latin typeface="Consolas" pitchFamily="34" charset="0"/>
                <a:ea typeface="Consolas" pitchFamily="34" charset="-122"/>
                <a:cs typeface="Consolas" pitchFamily="34" charset="-120"/>
              </a:rPr>
              <a:t>S u = lambda u</a:t>
            </a:r>
            <a:endParaRPr lang="en-US" sz="1600" dirty="0"/>
          </a:p>
          <a:p>
            <a:pPr algn="ctr" indent="0" marL="0">
              <a:buNone/>
            </a:pPr>
            <a:r>
              <a:rPr lang="en-US" sz="1600" dirty="0">
                <a:solidFill>
                  <a:srgbClr val="0F172A"/>
                </a:solidFill>
                <a:latin typeface="Consolas" pitchFamily="34" charset="0"/>
                <a:ea typeface="Consolas" pitchFamily="34" charset="-122"/>
                <a:cs typeface="Consolas" pitchFamily="34" charset="-120"/>
              </a:rPr>
              <a:t>z = U^T (x - mean)</a:t>
            </a:r>
            <a:endParaRPr lang="en-US" sz="1600" dirty="0"/>
          </a:p>
        </p:txBody>
      </p:sp>
      <p:sp>
        <p:nvSpPr>
          <p:cNvPr id="11" name="Text 8"/>
          <p:cNvSpPr/>
          <p:nvPr/>
        </p:nvSpPr>
        <p:spPr>
          <a:xfrm>
            <a:off x="7772400" y="3456432"/>
            <a:ext cx="3794760" cy="36576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 = covariance, u = direction, lambda = variance along it</a:t>
            </a:r>
            <a:endParaRPr lang="en-US" sz="1100" dirty="0"/>
          </a:p>
        </p:txBody>
      </p:sp>
      <p:sp>
        <p:nvSpPr>
          <p:cNvPr id="12" name="Text 9"/>
          <p:cNvSpPr/>
          <p:nvPr/>
        </p:nvSpPr>
        <p:spPr>
          <a:xfrm>
            <a:off x="7680960" y="4023360"/>
            <a:ext cx="397764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Three steps</a:t>
            </a:r>
            <a:endParaRPr lang="en-US" sz="1400" dirty="0"/>
          </a:p>
        </p:txBody>
      </p:sp>
      <p:sp>
        <p:nvSpPr>
          <p:cNvPr id="13" name="Text 10"/>
          <p:cNvSpPr/>
          <p:nvPr/>
        </p:nvSpPr>
        <p:spPr>
          <a:xfrm>
            <a:off x="7680960" y="4315968"/>
            <a:ext cx="3977640" cy="1188720"/>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1. centre the data and compute its covariance</a:t>
            </a:r>
            <a:endParaRPr lang="en-US" sz="1250" dirty="0"/>
          </a:p>
          <a:p>
            <a:pPr indent="0" marL="0">
              <a:buNone/>
            </a:pPr>
            <a:r>
              <a:rPr lang="en-US" sz="1250" dirty="0">
                <a:solidFill>
                  <a:srgbClr val="334155"/>
                </a:solidFill>
                <a:latin typeface="Calibri" pitchFamily="34" charset="0"/>
                <a:ea typeface="Calibri" pitchFamily="34" charset="-122"/>
                <a:cs typeface="Calibri" pitchFamily="34" charset="-120"/>
              </a:rPr>
              <a:t>2. eigenvectors = directions, eigenvalues = how much variance each holds</a:t>
            </a:r>
            <a:endParaRPr lang="en-US" sz="1250" dirty="0"/>
          </a:p>
          <a:p>
            <a:pPr indent="0" marL="0">
              <a:buNone/>
            </a:pPr>
            <a:r>
              <a:rPr lang="en-US" sz="1250" dirty="0">
                <a:solidFill>
                  <a:srgbClr val="334155"/>
                </a:solidFill>
                <a:latin typeface="Calibri" pitchFamily="34" charset="0"/>
                <a:ea typeface="Calibri" pitchFamily="34" charset="-122"/>
                <a:cs typeface="Calibri" pitchFamily="34" charset="-120"/>
              </a:rPr>
              <a:t>3. keep the top directions, project onto them</a:t>
            </a:r>
            <a:endParaRPr lang="en-US" sz="1250" dirty="0"/>
          </a:p>
        </p:txBody>
      </p:sp>
      <p:sp>
        <p:nvSpPr>
          <p:cNvPr id="14" name="Shape 11"/>
          <p:cNvSpPr/>
          <p:nvPr/>
        </p:nvSpPr>
        <p:spPr>
          <a:xfrm>
            <a:off x="548640" y="5166360"/>
            <a:ext cx="6858000" cy="1097280"/>
          </a:xfrm>
          <a:prstGeom prst="rect">
            <a:avLst/>
          </a:prstGeom>
          <a:solidFill>
            <a:srgbClr val="ECFDF5"/>
          </a:solidFill>
          <a:ln w="12700">
            <a:solidFill>
              <a:srgbClr val="ECFDF5"/>
            </a:solidFill>
            <a:prstDash val="solid"/>
          </a:ln>
        </p:spPr>
      </p:sp>
      <p:sp>
        <p:nvSpPr>
          <p:cNvPr id="15" name="Shape 12"/>
          <p:cNvSpPr/>
          <p:nvPr/>
        </p:nvSpPr>
        <p:spPr>
          <a:xfrm>
            <a:off x="548640" y="5166360"/>
            <a:ext cx="64008" cy="1097280"/>
          </a:xfrm>
          <a:prstGeom prst="rect">
            <a:avLst/>
          </a:prstGeom>
          <a:solidFill>
            <a:srgbClr val="0D9488"/>
          </a:solidFill>
          <a:ln w="12700">
            <a:solidFill>
              <a:srgbClr val="0D9488"/>
            </a:solidFill>
            <a:prstDash val="solid"/>
          </a:ln>
        </p:spPr>
      </p:sp>
      <p:sp>
        <p:nvSpPr>
          <p:cNvPr id="16" name="Text 13"/>
          <p:cNvSpPr/>
          <p:nvPr/>
        </p:nvSpPr>
        <p:spPr>
          <a:xfrm>
            <a:off x="749808" y="5166360"/>
            <a:ext cx="6537960" cy="109728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IN PLAIN WORDS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Left: every turn is a point in 3-D, but because the scores sum to 1 they all sit on one flat sheet. PC1 and PC2 are two axes drawn on that sheet. Right: flattening onto them loses nothing.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PCA</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PCA in the code: one eigendecomposition</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7" name="Shape 5"/>
          <p:cNvSpPr/>
          <p:nvPr/>
        </p:nvSpPr>
        <p:spPr>
          <a:xfrm>
            <a:off x="548640" y="1508760"/>
            <a:ext cx="6675120" cy="3017520"/>
          </a:xfrm>
          <a:prstGeom prst="rect">
            <a:avLst/>
          </a:prstGeom>
          <a:solidFill>
            <a:srgbClr val="0F172A"/>
          </a:solidFill>
          <a:ln w="12700">
            <a:solidFill>
              <a:srgbClr val="0F172A"/>
            </a:solidFill>
            <a:prstDash val="solid"/>
          </a:ln>
        </p:spPr>
      </p:sp>
      <p:sp>
        <p:nvSpPr>
          <p:cNvPr id="8" name="Text 6"/>
          <p:cNvSpPr/>
          <p:nvPr/>
        </p:nvSpPr>
        <p:spPr>
          <a:xfrm>
            <a:off x="731520" y="1581912"/>
            <a:ext cx="630936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src/analysis/unsupervised.py (excerpt)</a:t>
            </a:r>
            <a:endParaRPr lang="en-US" sz="1050" dirty="0"/>
          </a:p>
        </p:txBody>
      </p:sp>
      <p:sp>
        <p:nvSpPr>
          <p:cNvPr id="9" name="Text 7"/>
          <p:cNvSpPr/>
          <p:nvPr/>
        </p:nvSpPr>
        <p:spPr>
          <a:xfrm>
            <a:off x="731520" y="1874520"/>
            <a:ext cx="6309360" cy="2560320"/>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def pca(X):</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mean = X.mean(axis=0)</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S = (X - mean).T @ (X - mean) / len(X)</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(1)</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eigvals, eigvecs = np.linalg.eigh(S)</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(2)</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order = np.argsort(eigvals)[::-1]</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(3)</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eigvals = np.maximum(eigvals[order], 0.0)</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eigvecs = eigvecs[:, order]</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return mean, eigvecs, eigvals / eigvals.sum()</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(4)</a:t>
            </a:r>
            <a:endParaRPr lang="en-US" sz="1250" dirty="0"/>
          </a:p>
          <a:p>
            <a:pPr indent="0" marL="0">
              <a:spcAft>
                <a:spcPts val="200"/>
              </a:spcAft>
              <a:buNone/>
            </a:pPr>
            <a:endParaRPr lang="en-US" sz="1250" dirty="0"/>
          </a:p>
          <a:p>
            <a:pPr indent="0" marL="0">
              <a:spcAft>
                <a:spcPts val="200"/>
              </a:spcAft>
              <a:buNone/>
            </a:pPr>
            <a:r>
              <a:rPr lang="en-US" sz="1250" dirty="0">
                <a:solidFill>
                  <a:srgbClr val="94A3B8"/>
                </a:solidFill>
                <a:latin typeface="Consolas" pitchFamily="34" charset="0"/>
                <a:ea typeface="Consolas" pitchFamily="34" charset="-122"/>
                <a:cs typeface="Consolas" pitchFamily="34" charset="-120"/>
              </a:rPr>
              <a:t># in main(): keep the 2-D principal subspace</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Z = (X - mean) @ U[:, :2]</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(5)</a:t>
            </a:r>
            <a:endParaRPr lang="en-US" sz="1250" dirty="0"/>
          </a:p>
        </p:txBody>
      </p:sp>
      <p:sp>
        <p:nvSpPr>
          <p:cNvPr id="10" name="Shape 8"/>
          <p:cNvSpPr/>
          <p:nvPr/>
        </p:nvSpPr>
        <p:spPr>
          <a:xfrm>
            <a:off x="7498080" y="1581912"/>
            <a:ext cx="274320" cy="274320"/>
          </a:xfrm>
          <a:prstGeom prst="ellipse">
            <a:avLst/>
          </a:prstGeom>
          <a:solidFill>
            <a:srgbClr val="F2A20C"/>
          </a:solidFill>
          <a:ln w="12700">
            <a:solidFill>
              <a:srgbClr val="F2A20C"/>
            </a:solidFill>
            <a:prstDash val="solid"/>
          </a:ln>
        </p:spPr>
      </p:sp>
      <p:sp>
        <p:nvSpPr>
          <p:cNvPr id="11" name="Text 9"/>
          <p:cNvSpPr/>
          <p:nvPr/>
        </p:nvSpPr>
        <p:spPr>
          <a:xfrm>
            <a:off x="7498080" y="158191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7863840" y="1554480"/>
            <a:ext cx="3794760" cy="58521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Covariance matrix S of the standardized scores (3 x 3).</a:t>
            </a:r>
            <a:endParaRPr lang="en-US" sz="1250" dirty="0"/>
          </a:p>
        </p:txBody>
      </p:sp>
      <p:sp>
        <p:nvSpPr>
          <p:cNvPr id="13" name="Shape 11"/>
          <p:cNvSpPr/>
          <p:nvPr/>
        </p:nvSpPr>
        <p:spPr>
          <a:xfrm>
            <a:off x="7498080" y="2203704"/>
            <a:ext cx="274320" cy="274320"/>
          </a:xfrm>
          <a:prstGeom prst="ellipse">
            <a:avLst/>
          </a:prstGeom>
          <a:solidFill>
            <a:srgbClr val="F2A20C"/>
          </a:solidFill>
          <a:ln w="12700">
            <a:solidFill>
              <a:srgbClr val="F2A20C"/>
            </a:solidFill>
            <a:prstDash val="solid"/>
          </a:ln>
        </p:spPr>
      </p:sp>
      <p:sp>
        <p:nvSpPr>
          <p:cNvPr id="14" name="Text 12"/>
          <p:cNvSpPr/>
          <p:nvPr/>
        </p:nvSpPr>
        <p:spPr>
          <a:xfrm>
            <a:off x="7498080" y="2203704"/>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7863840" y="2176272"/>
            <a:ext cx="3794760" cy="58521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eigh solves S u = lambda u; it suits symmetric matrices like S.</a:t>
            </a:r>
            <a:endParaRPr lang="en-US" sz="1250" dirty="0"/>
          </a:p>
        </p:txBody>
      </p:sp>
      <p:sp>
        <p:nvSpPr>
          <p:cNvPr id="16" name="Shape 14"/>
          <p:cNvSpPr/>
          <p:nvPr/>
        </p:nvSpPr>
        <p:spPr>
          <a:xfrm>
            <a:off x="7498080" y="2825496"/>
            <a:ext cx="274320" cy="274320"/>
          </a:xfrm>
          <a:prstGeom prst="ellipse">
            <a:avLst/>
          </a:prstGeom>
          <a:solidFill>
            <a:srgbClr val="F2A20C"/>
          </a:solidFill>
          <a:ln w="12700">
            <a:solidFill>
              <a:srgbClr val="F2A20C"/>
            </a:solidFill>
            <a:prstDash val="solid"/>
          </a:ln>
        </p:spPr>
      </p:sp>
      <p:sp>
        <p:nvSpPr>
          <p:cNvPr id="17" name="Text 15"/>
          <p:cNvSpPr/>
          <p:nvPr/>
        </p:nvSpPr>
        <p:spPr>
          <a:xfrm>
            <a:off x="7498080" y="2825496"/>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7863840" y="2798064"/>
            <a:ext cx="3794760" cy="58521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Sort directions from most variance to least.</a:t>
            </a:r>
            <a:endParaRPr lang="en-US" sz="1250" dirty="0"/>
          </a:p>
        </p:txBody>
      </p:sp>
      <p:sp>
        <p:nvSpPr>
          <p:cNvPr id="19" name="Shape 17"/>
          <p:cNvSpPr/>
          <p:nvPr/>
        </p:nvSpPr>
        <p:spPr>
          <a:xfrm>
            <a:off x="7498080" y="3447288"/>
            <a:ext cx="274320" cy="274320"/>
          </a:xfrm>
          <a:prstGeom prst="ellipse">
            <a:avLst/>
          </a:prstGeom>
          <a:solidFill>
            <a:srgbClr val="F2A20C"/>
          </a:solidFill>
          <a:ln w="12700">
            <a:solidFill>
              <a:srgbClr val="F2A20C"/>
            </a:solidFill>
            <a:prstDash val="solid"/>
          </a:ln>
        </p:spPr>
      </p:sp>
      <p:sp>
        <p:nvSpPr>
          <p:cNvPr id="20" name="Text 18"/>
          <p:cNvSpPr/>
          <p:nvPr/>
        </p:nvSpPr>
        <p:spPr>
          <a:xfrm>
            <a:off x="7498080" y="3447288"/>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7863840" y="3419856"/>
            <a:ext cx="3794760" cy="58521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Each eigenvalue as a share of the total: the explained-variance ratio.</a:t>
            </a:r>
            <a:endParaRPr lang="en-US" sz="1250" dirty="0"/>
          </a:p>
        </p:txBody>
      </p:sp>
      <p:sp>
        <p:nvSpPr>
          <p:cNvPr id="22" name="Shape 20"/>
          <p:cNvSpPr/>
          <p:nvPr/>
        </p:nvSpPr>
        <p:spPr>
          <a:xfrm>
            <a:off x="7498080" y="4069080"/>
            <a:ext cx="274320" cy="274320"/>
          </a:xfrm>
          <a:prstGeom prst="ellipse">
            <a:avLst/>
          </a:prstGeom>
          <a:solidFill>
            <a:srgbClr val="F2A20C"/>
          </a:solidFill>
          <a:ln w="12700">
            <a:solidFill>
              <a:srgbClr val="F2A20C"/>
            </a:solidFill>
            <a:prstDash val="solid"/>
          </a:ln>
        </p:spPr>
      </p:sp>
      <p:sp>
        <p:nvSpPr>
          <p:cNvPr id="23" name="Text 21"/>
          <p:cNvSpPr/>
          <p:nvPr/>
        </p:nvSpPr>
        <p:spPr>
          <a:xfrm>
            <a:off x="7498080" y="4069080"/>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7863840" y="4041648"/>
            <a:ext cx="3794760" cy="58521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Project every turn onto PC1 and PC2: these 2 numbers per turn feed K-means and GMM.</a:t>
            </a:r>
            <a:endParaRPr lang="en-US" sz="1250" dirty="0"/>
          </a:p>
        </p:txBody>
      </p:sp>
      <p:graphicFrame>
        <p:nvGraphicFramePr>
          <p:cNvPr id="25" name="Chart 0" descr=""/>
          <p:cNvGraphicFramePr/>
          <p:nvPr/>
        </p:nvGraphicFramePr>
        <p:xfrm>
          <a:off x="548640" y="4709160"/>
          <a:ext cx="3840480" cy="1645920"/>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4572000" y="4754880"/>
            <a:ext cx="7086600" cy="1508760"/>
          </a:xfrm>
          <a:prstGeom prst="rect">
            <a:avLst/>
          </a:prstGeom>
          <a:solidFill>
            <a:srgbClr val="ECFDF5"/>
          </a:solidFill>
          <a:ln w="12700">
            <a:solidFill>
              <a:srgbClr val="ECFDF5"/>
            </a:solidFill>
            <a:prstDash val="solid"/>
          </a:ln>
        </p:spPr>
      </p:sp>
      <p:sp>
        <p:nvSpPr>
          <p:cNvPr id="27" name="Shape 24"/>
          <p:cNvSpPr/>
          <p:nvPr/>
        </p:nvSpPr>
        <p:spPr>
          <a:xfrm>
            <a:off x="4572000" y="4754880"/>
            <a:ext cx="64008" cy="1508760"/>
          </a:xfrm>
          <a:prstGeom prst="rect">
            <a:avLst/>
          </a:prstGeom>
          <a:solidFill>
            <a:srgbClr val="0D9488"/>
          </a:solidFill>
          <a:ln w="12700">
            <a:solidFill>
              <a:srgbClr val="0D9488"/>
            </a:solidFill>
            <a:prstDash val="solid"/>
          </a:ln>
        </p:spPr>
      </p:sp>
      <p:sp>
        <p:nvSpPr>
          <p:cNvPr id="28" name="Text 25"/>
          <p:cNvSpPr/>
          <p:nvPr/>
        </p:nvSpPr>
        <p:spPr>
          <a:xfrm>
            <a:off x="4773168" y="4754880"/>
            <a:ext cx="6766560" cy="150876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RESULT</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PC1 holds 67.7% of the variance, PC2 holds 32.3%, and PC3 holds exactly 0, which confirms the scores sum to 1. So keeping 2 components loses no information at all.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K-MEANS</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K-means: alternate between assigning points and moving centres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pic>
        <p:nvPicPr>
          <p:cNvPr id="7" name="Image 0" descr="/tmp/claude-0/deck/fig/kmeans_steps.png">    </p:cNvPr>
          <p:cNvPicPr>
            <a:picLocks noChangeAspect="1"/>
          </p:cNvPicPr>
          <p:nvPr/>
        </p:nvPicPr>
        <p:blipFill>
          <a:blip r:embed="rId1"/>
          <a:stretch>
            <a:fillRect/>
          </a:stretch>
        </p:blipFill>
        <p:spPr>
          <a:xfrm>
            <a:off x="548640" y="1417320"/>
            <a:ext cx="11109960" cy="2825496"/>
          </a:xfrm>
          <a:prstGeom prst="rect">
            <a:avLst/>
          </a:prstGeom>
        </p:spPr>
      </p:pic>
      <p:sp>
        <p:nvSpPr>
          <p:cNvPr id="8" name="Text 5"/>
          <p:cNvSpPr/>
          <p:nvPr/>
        </p:nvSpPr>
        <p:spPr>
          <a:xfrm>
            <a:off x="548640" y="4343400"/>
            <a:ext cx="1110996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onsolas" pitchFamily="34" charset="0"/>
                <a:ea typeface="Consolas" pitchFamily="34" charset="-122"/>
                <a:cs typeface="Consolas" pitchFamily="34" charset="-120"/>
              </a:rPr>
              <a:t>Objective:  J = sum over turns of || x - centre of its cluster ||^2   (make each cluster as tight as possible)</a:t>
            </a:r>
            <a:endParaRPr lang="en-US" sz="1300" dirty="0"/>
          </a:p>
        </p:txBody>
      </p:sp>
      <p:sp>
        <p:nvSpPr>
          <p:cNvPr id="9" name="Shape 6"/>
          <p:cNvSpPr/>
          <p:nvPr/>
        </p:nvSpPr>
        <p:spPr>
          <a:xfrm>
            <a:off x="548640" y="4846320"/>
            <a:ext cx="3566160" cy="1463040"/>
          </a:xfrm>
          <a:prstGeom prst="rect">
            <a:avLst/>
          </a:prstGeom>
          <a:solidFill>
            <a:srgbClr val="FFFFFF"/>
          </a:solidFill>
          <a:ln w="12700">
            <a:solidFill>
              <a:srgbClr val="E2E8F0"/>
            </a:solidFill>
            <a:prstDash val="solid"/>
          </a:ln>
        </p:spPr>
      </p:sp>
      <p:sp>
        <p:nvSpPr>
          <p:cNvPr id="10" name="Shape 7"/>
          <p:cNvSpPr/>
          <p:nvPr/>
        </p:nvSpPr>
        <p:spPr>
          <a:xfrm>
            <a:off x="548640" y="4846320"/>
            <a:ext cx="3566160" cy="64008"/>
          </a:xfrm>
          <a:prstGeom prst="rect">
            <a:avLst/>
          </a:prstGeom>
          <a:solidFill>
            <a:srgbClr val="2F6FED"/>
          </a:solidFill>
          <a:ln w="12700">
            <a:solidFill>
              <a:srgbClr val="2F6FED"/>
            </a:solidFill>
            <a:prstDash val="solid"/>
          </a:ln>
        </p:spPr>
      </p:sp>
      <p:sp>
        <p:nvSpPr>
          <p:cNvPr id="11" name="Text 8"/>
          <p:cNvSpPr/>
          <p:nvPr/>
        </p:nvSpPr>
        <p:spPr>
          <a:xfrm>
            <a:off x="731520" y="501091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1. Assign</a:t>
            </a:r>
            <a:endParaRPr lang="en-US" sz="1600" dirty="0"/>
          </a:p>
        </p:txBody>
      </p:sp>
      <p:sp>
        <p:nvSpPr>
          <p:cNvPr id="12" name="Text 9"/>
          <p:cNvSpPr/>
          <p:nvPr/>
        </p:nvSpPr>
        <p:spPr>
          <a:xfrm>
            <a:off x="731520" y="5413248"/>
            <a:ext cx="320040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Every point joins the nearest centre. Centres start from k-means++, which spreads them apart.</a:t>
            </a:r>
            <a:endParaRPr lang="en-US" sz="1400" dirty="0"/>
          </a:p>
        </p:txBody>
      </p:sp>
      <p:sp>
        <p:nvSpPr>
          <p:cNvPr id="13" name="Shape 10"/>
          <p:cNvSpPr/>
          <p:nvPr/>
        </p:nvSpPr>
        <p:spPr>
          <a:xfrm>
            <a:off x="4315968" y="4846320"/>
            <a:ext cx="3566160" cy="1463040"/>
          </a:xfrm>
          <a:prstGeom prst="rect">
            <a:avLst/>
          </a:prstGeom>
          <a:solidFill>
            <a:srgbClr val="FFFFFF"/>
          </a:solidFill>
          <a:ln w="12700">
            <a:solidFill>
              <a:srgbClr val="E2E8F0"/>
            </a:solidFill>
            <a:prstDash val="solid"/>
          </a:ln>
        </p:spPr>
      </p:sp>
      <p:sp>
        <p:nvSpPr>
          <p:cNvPr id="14" name="Shape 11"/>
          <p:cNvSpPr/>
          <p:nvPr/>
        </p:nvSpPr>
        <p:spPr>
          <a:xfrm>
            <a:off x="4315968" y="4846320"/>
            <a:ext cx="3566160" cy="64008"/>
          </a:xfrm>
          <a:prstGeom prst="rect">
            <a:avLst/>
          </a:prstGeom>
          <a:solidFill>
            <a:srgbClr val="F2A20C"/>
          </a:solidFill>
          <a:ln w="12700">
            <a:solidFill>
              <a:srgbClr val="F2A20C"/>
            </a:solidFill>
            <a:prstDash val="solid"/>
          </a:ln>
        </p:spPr>
      </p:sp>
      <p:sp>
        <p:nvSpPr>
          <p:cNvPr id="15" name="Text 12"/>
          <p:cNvSpPr/>
          <p:nvPr/>
        </p:nvSpPr>
        <p:spPr>
          <a:xfrm>
            <a:off x="4498848" y="501091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2. Update</a:t>
            </a:r>
            <a:endParaRPr lang="en-US" sz="1600" dirty="0"/>
          </a:p>
        </p:txBody>
      </p:sp>
      <p:sp>
        <p:nvSpPr>
          <p:cNvPr id="16" name="Text 13"/>
          <p:cNvSpPr/>
          <p:nvPr/>
        </p:nvSpPr>
        <p:spPr>
          <a:xfrm>
            <a:off x="4498848" y="5413248"/>
            <a:ext cx="320040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Each centre moves to the average of the points that joined it.</a:t>
            </a:r>
            <a:endParaRPr lang="en-US" sz="1400" dirty="0"/>
          </a:p>
        </p:txBody>
      </p:sp>
      <p:sp>
        <p:nvSpPr>
          <p:cNvPr id="17" name="Shape 14"/>
          <p:cNvSpPr/>
          <p:nvPr/>
        </p:nvSpPr>
        <p:spPr>
          <a:xfrm>
            <a:off x="8083296" y="4846320"/>
            <a:ext cx="3566160" cy="1463040"/>
          </a:xfrm>
          <a:prstGeom prst="rect">
            <a:avLst/>
          </a:prstGeom>
          <a:solidFill>
            <a:srgbClr val="FFFFFF"/>
          </a:solidFill>
          <a:ln w="12700">
            <a:solidFill>
              <a:srgbClr val="E2E8F0"/>
            </a:solidFill>
            <a:prstDash val="solid"/>
          </a:ln>
        </p:spPr>
      </p:sp>
      <p:sp>
        <p:nvSpPr>
          <p:cNvPr id="18" name="Shape 15"/>
          <p:cNvSpPr/>
          <p:nvPr/>
        </p:nvSpPr>
        <p:spPr>
          <a:xfrm>
            <a:off x="8083296" y="4846320"/>
            <a:ext cx="3566160" cy="64008"/>
          </a:xfrm>
          <a:prstGeom prst="rect">
            <a:avLst/>
          </a:prstGeom>
          <a:solidFill>
            <a:srgbClr val="16A34A"/>
          </a:solidFill>
          <a:ln w="12700">
            <a:solidFill>
              <a:srgbClr val="16A34A"/>
            </a:solidFill>
            <a:prstDash val="solid"/>
          </a:ln>
        </p:spPr>
      </p:sp>
      <p:sp>
        <p:nvSpPr>
          <p:cNvPr id="19" name="Text 16"/>
          <p:cNvSpPr/>
          <p:nvPr/>
        </p:nvSpPr>
        <p:spPr>
          <a:xfrm>
            <a:off x="8266176" y="501091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3. Repeat</a:t>
            </a:r>
            <a:endParaRPr lang="en-US" sz="1600" dirty="0"/>
          </a:p>
        </p:txBody>
      </p:sp>
      <p:sp>
        <p:nvSpPr>
          <p:cNvPr id="20" name="Text 17"/>
          <p:cNvSpPr/>
          <p:nvPr/>
        </p:nvSpPr>
        <p:spPr>
          <a:xfrm>
            <a:off x="8266176" y="5413248"/>
            <a:ext cx="320040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Stop when nothing moves. Here it took 5 rounds. Run 10 random starts, keep the lowest J.</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K-MEANS</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K-means in the code: a short loop, no sklearn</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7" name="Shape 5"/>
          <p:cNvSpPr/>
          <p:nvPr/>
        </p:nvSpPr>
        <p:spPr>
          <a:xfrm>
            <a:off x="548640" y="1508760"/>
            <a:ext cx="6949440" cy="3611880"/>
          </a:xfrm>
          <a:prstGeom prst="rect">
            <a:avLst/>
          </a:prstGeom>
          <a:solidFill>
            <a:srgbClr val="0F172A"/>
          </a:solidFill>
          <a:ln w="12700">
            <a:solidFill>
              <a:srgbClr val="0F172A"/>
            </a:solidFill>
            <a:prstDash val="solid"/>
          </a:ln>
        </p:spPr>
      </p:sp>
      <p:sp>
        <p:nvSpPr>
          <p:cNvPr id="8" name="Text 6"/>
          <p:cNvSpPr/>
          <p:nvPr/>
        </p:nvSpPr>
        <p:spPr>
          <a:xfrm>
            <a:off x="731520" y="1581912"/>
            <a:ext cx="658368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src/analysis/unsupervised.py (excerpt, shortened)</a:t>
            </a:r>
            <a:endParaRPr lang="en-US" sz="1050" dirty="0"/>
          </a:p>
        </p:txBody>
      </p:sp>
      <p:sp>
        <p:nvSpPr>
          <p:cNvPr id="9" name="Text 7"/>
          <p:cNvSpPr/>
          <p:nvPr/>
        </p:nvSpPr>
        <p:spPr>
          <a:xfrm>
            <a:off x="731520" y="1874520"/>
            <a:ext cx="6583680" cy="3154680"/>
          </a:xfrm>
          <a:prstGeom prst="rect">
            <a:avLst/>
          </a:prstGeom>
          <a:noFill/>
          <a:ln/>
        </p:spPr>
        <p:txBody>
          <a:bodyPr wrap="square" lIns="0" tIns="0" rIns="0" bIns="0" rtlCol="0" anchor="t"/>
          <a:lstStyle/>
          <a:p>
            <a:pPr indent="0" marL="0">
              <a:spcAft>
                <a:spcPts val="200"/>
              </a:spcAft>
              <a:buNone/>
            </a:pPr>
            <a:r>
              <a:rPr lang="en-US" sz="1250" dirty="0">
                <a:solidFill>
                  <a:srgbClr val="94A3B8"/>
                </a:solidFill>
                <a:latin typeface="Consolas" pitchFamily="34" charset="0"/>
                <a:ea typeface="Consolas" pitchFamily="34" charset="-122"/>
                <a:cs typeface="Consolas" pitchFamily="34" charset="-120"/>
              </a:rPr>
              <a:t># k-means++ seeding: far-apart starting centres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mu = [X[rng.integers(len(X))]]</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for _ in range(1, k):</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d2 = sq_dists(X, np.array(mu)).min(axis=1)</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(1)</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mu.append(X[rng.choice(len(X), p=d2 / d2.sum())])</a:t>
            </a:r>
            <a:endParaRPr lang="en-US" sz="1250" dirty="0"/>
          </a:p>
          <a:p>
            <a:pPr indent="0" marL="0">
              <a:spcAft>
                <a:spcPts val="200"/>
              </a:spcAft>
              <a:buNone/>
            </a:pP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for _ in range(max_iter):</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labels = sq_dists(X, mu).argmin(axis=1)</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(2)</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new_mu = np.array([X[labels == j].mean(axis=0)</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(3)</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for j in range(k)])</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if np.allclose(new_mu, mu): break</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(4)</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mu = new_mu</a:t>
            </a:r>
            <a:endParaRPr lang="en-US" sz="1250" dirty="0"/>
          </a:p>
          <a:p>
            <a:pPr indent="0" marL="0">
              <a:spcAft>
                <a:spcPts val="200"/>
              </a:spcAft>
              <a:buNone/>
            </a:pP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J = d2[np.arange(len(X)), labels].sum()</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(5)</a:t>
            </a:r>
            <a:endParaRPr lang="en-US" sz="1250" dirty="0"/>
          </a:p>
        </p:txBody>
      </p:sp>
      <p:sp>
        <p:nvSpPr>
          <p:cNvPr id="10" name="Shape 8"/>
          <p:cNvSpPr/>
          <p:nvPr/>
        </p:nvSpPr>
        <p:spPr>
          <a:xfrm>
            <a:off x="7772400" y="1581912"/>
            <a:ext cx="274320" cy="274320"/>
          </a:xfrm>
          <a:prstGeom prst="ellipse">
            <a:avLst/>
          </a:prstGeom>
          <a:solidFill>
            <a:srgbClr val="F2A20C"/>
          </a:solidFill>
          <a:ln w="12700">
            <a:solidFill>
              <a:srgbClr val="F2A20C"/>
            </a:solidFill>
            <a:prstDash val="solid"/>
          </a:ln>
        </p:spPr>
      </p:sp>
      <p:sp>
        <p:nvSpPr>
          <p:cNvPr id="11" name="Text 9"/>
          <p:cNvSpPr/>
          <p:nvPr/>
        </p:nvSpPr>
        <p:spPr>
          <a:xfrm>
            <a:off x="7772400" y="158191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8138160" y="1554480"/>
            <a:ext cx="3520440" cy="67665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Squared distance from every point to the centres chosen so far; far points are likelier to be picked next.</a:t>
            </a:r>
            <a:endParaRPr lang="en-US" sz="1250" dirty="0"/>
          </a:p>
        </p:txBody>
      </p:sp>
      <p:sp>
        <p:nvSpPr>
          <p:cNvPr id="13" name="Shape 11"/>
          <p:cNvSpPr/>
          <p:nvPr/>
        </p:nvSpPr>
        <p:spPr>
          <a:xfrm>
            <a:off x="7772400" y="2295144"/>
            <a:ext cx="274320" cy="274320"/>
          </a:xfrm>
          <a:prstGeom prst="ellipse">
            <a:avLst/>
          </a:prstGeom>
          <a:solidFill>
            <a:srgbClr val="F2A20C"/>
          </a:solidFill>
          <a:ln w="12700">
            <a:solidFill>
              <a:srgbClr val="F2A20C"/>
            </a:solidFill>
            <a:prstDash val="solid"/>
          </a:ln>
        </p:spPr>
      </p:sp>
      <p:sp>
        <p:nvSpPr>
          <p:cNvPr id="14" name="Text 12"/>
          <p:cNvSpPr/>
          <p:nvPr/>
        </p:nvSpPr>
        <p:spPr>
          <a:xfrm>
            <a:off x="7772400" y="2295144"/>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8138160" y="2267712"/>
            <a:ext cx="3520440" cy="67665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Assignment: each point takes its nearest centre.</a:t>
            </a:r>
            <a:endParaRPr lang="en-US" sz="1250" dirty="0"/>
          </a:p>
        </p:txBody>
      </p:sp>
      <p:sp>
        <p:nvSpPr>
          <p:cNvPr id="16" name="Shape 14"/>
          <p:cNvSpPr/>
          <p:nvPr/>
        </p:nvSpPr>
        <p:spPr>
          <a:xfrm>
            <a:off x="7772400" y="3008376"/>
            <a:ext cx="274320" cy="274320"/>
          </a:xfrm>
          <a:prstGeom prst="ellipse">
            <a:avLst/>
          </a:prstGeom>
          <a:solidFill>
            <a:srgbClr val="F2A20C"/>
          </a:solidFill>
          <a:ln w="12700">
            <a:solidFill>
              <a:srgbClr val="F2A20C"/>
            </a:solidFill>
            <a:prstDash val="solid"/>
          </a:ln>
        </p:spPr>
      </p:sp>
      <p:sp>
        <p:nvSpPr>
          <p:cNvPr id="17" name="Text 15"/>
          <p:cNvSpPr/>
          <p:nvPr/>
        </p:nvSpPr>
        <p:spPr>
          <a:xfrm>
            <a:off x="7772400" y="3008376"/>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8138160" y="2980944"/>
            <a:ext cx="3520440" cy="67665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Update: each centre becomes the mean of its points.</a:t>
            </a:r>
            <a:endParaRPr lang="en-US" sz="1250" dirty="0"/>
          </a:p>
        </p:txBody>
      </p:sp>
      <p:sp>
        <p:nvSpPr>
          <p:cNvPr id="19" name="Shape 17"/>
          <p:cNvSpPr/>
          <p:nvPr/>
        </p:nvSpPr>
        <p:spPr>
          <a:xfrm>
            <a:off x="7772400" y="3721608"/>
            <a:ext cx="274320" cy="274320"/>
          </a:xfrm>
          <a:prstGeom prst="ellipse">
            <a:avLst/>
          </a:prstGeom>
          <a:solidFill>
            <a:srgbClr val="F2A20C"/>
          </a:solidFill>
          <a:ln w="12700">
            <a:solidFill>
              <a:srgbClr val="F2A20C"/>
            </a:solidFill>
            <a:prstDash val="solid"/>
          </a:ln>
        </p:spPr>
      </p:sp>
      <p:sp>
        <p:nvSpPr>
          <p:cNvPr id="20" name="Text 18"/>
          <p:cNvSpPr/>
          <p:nvPr/>
        </p:nvSpPr>
        <p:spPr>
          <a:xfrm>
            <a:off x="7772400" y="3721608"/>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138160" y="3694176"/>
            <a:ext cx="3520440" cy="67665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Converged when the centres stop moving.</a:t>
            </a:r>
            <a:endParaRPr lang="en-US" sz="1250" dirty="0"/>
          </a:p>
        </p:txBody>
      </p:sp>
      <p:sp>
        <p:nvSpPr>
          <p:cNvPr id="22" name="Shape 20"/>
          <p:cNvSpPr/>
          <p:nvPr/>
        </p:nvSpPr>
        <p:spPr>
          <a:xfrm>
            <a:off x="7772400" y="4434840"/>
            <a:ext cx="274320" cy="274320"/>
          </a:xfrm>
          <a:prstGeom prst="ellipse">
            <a:avLst/>
          </a:prstGeom>
          <a:solidFill>
            <a:srgbClr val="F2A20C"/>
          </a:solidFill>
          <a:ln w="12700">
            <a:solidFill>
              <a:srgbClr val="F2A20C"/>
            </a:solidFill>
            <a:prstDash val="solid"/>
          </a:ln>
        </p:spPr>
      </p:sp>
      <p:sp>
        <p:nvSpPr>
          <p:cNvPr id="23" name="Text 21"/>
          <p:cNvSpPr/>
          <p:nvPr/>
        </p:nvSpPr>
        <p:spPr>
          <a:xfrm>
            <a:off x="7772400" y="4434840"/>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8138160" y="4407408"/>
            <a:ext cx="3520440" cy="676656"/>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Distortion J: the score for one run; the best of 10 runs wins.</a:t>
            </a:r>
            <a:endParaRPr lang="en-US" sz="1250" dirty="0"/>
          </a:p>
        </p:txBody>
      </p:sp>
      <p:sp>
        <p:nvSpPr>
          <p:cNvPr id="25" name="Shape 23"/>
          <p:cNvSpPr/>
          <p:nvPr/>
        </p:nvSpPr>
        <p:spPr>
          <a:xfrm>
            <a:off x="548640" y="5303520"/>
            <a:ext cx="2377440" cy="960120"/>
          </a:xfrm>
          <a:prstGeom prst="rect">
            <a:avLst/>
          </a:prstGeom>
          <a:solidFill>
            <a:srgbClr val="F1F5F9"/>
          </a:solidFill>
          <a:ln w="12700">
            <a:solidFill>
              <a:srgbClr val="F1F5F9"/>
            </a:solidFill>
            <a:prstDash val="solid"/>
          </a:ln>
        </p:spPr>
      </p:sp>
      <p:sp>
        <p:nvSpPr>
          <p:cNvPr id="26" name="Text 24"/>
          <p:cNvSpPr/>
          <p:nvPr/>
        </p:nvSpPr>
        <p:spPr>
          <a:xfrm>
            <a:off x="548640" y="5394960"/>
            <a:ext cx="2377440" cy="52806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0.924</a:t>
            </a:r>
            <a:endParaRPr lang="en-US" sz="3000" dirty="0"/>
          </a:p>
        </p:txBody>
      </p:sp>
      <p:sp>
        <p:nvSpPr>
          <p:cNvPr id="27" name="Text 25"/>
          <p:cNvSpPr/>
          <p:nvPr/>
        </p:nvSpPr>
        <p:spPr>
          <a:xfrm>
            <a:off x="640080" y="5860390"/>
            <a:ext cx="2194560" cy="364846"/>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ARI vs true state</a:t>
            </a:r>
            <a:endParaRPr lang="en-US" sz="1150" dirty="0"/>
          </a:p>
        </p:txBody>
      </p:sp>
      <p:sp>
        <p:nvSpPr>
          <p:cNvPr id="28" name="Shape 26"/>
          <p:cNvSpPr/>
          <p:nvPr/>
        </p:nvSpPr>
        <p:spPr>
          <a:xfrm>
            <a:off x="3108960" y="5303520"/>
            <a:ext cx="2377440" cy="960120"/>
          </a:xfrm>
          <a:prstGeom prst="rect">
            <a:avLst/>
          </a:prstGeom>
          <a:solidFill>
            <a:srgbClr val="F1F5F9"/>
          </a:solidFill>
          <a:ln w="12700">
            <a:solidFill>
              <a:srgbClr val="F1F5F9"/>
            </a:solidFill>
            <a:prstDash val="solid"/>
          </a:ln>
        </p:spPr>
      </p:sp>
      <p:sp>
        <p:nvSpPr>
          <p:cNvPr id="29" name="Text 27"/>
          <p:cNvSpPr/>
          <p:nvPr/>
        </p:nvSpPr>
        <p:spPr>
          <a:xfrm>
            <a:off x="3108960" y="5394960"/>
            <a:ext cx="2377440" cy="52806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96.9%</a:t>
            </a:r>
            <a:endParaRPr lang="en-US" sz="3000" dirty="0"/>
          </a:p>
        </p:txBody>
      </p:sp>
      <p:sp>
        <p:nvSpPr>
          <p:cNvPr id="30" name="Text 28"/>
          <p:cNvSpPr/>
          <p:nvPr/>
        </p:nvSpPr>
        <p:spPr>
          <a:xfrm>
            <a:off x="3200400" y="5860390"/>
            <a:ext cx="2194560" cy="364846"/>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after matching</a:t>
            </a:r>
            <a:endParaRPr lang="en-US" sz="1150" dirty="0"/>
          </a:p>
        </p:txBody>
      </p:sp>
      <p:sp>
        <p:nvSpPr>
          <p:cNvPr id="31" name="Shape 29"/>
          <p:cNvSpPr/>
          <p:nvPr/>
        </p:nvSpPr>
        <p:spPr>
          <a:xfrm>
            <a:off x="5669280" y="5303520"/>
            <a:ext cx="1828800" cy="960120"/>
          </a:xfrm>
          <a:prstGeom prst="rect">
            <a:avLst/>
          </a:prstGeom>
          <a:solidFill>
            <a:srgbClr val="F1F5F9"/>
          </a:solidFill>
          <a:ln w="12700">
            <a:solidFill>
              <a:srgbClr val="F1F5F9"/>
            </a:solidFill>
            <a:prstDash val="solid"/>
          </a:ln>
        </p:spPr>
      </p:sp>
      <p:sp>
        <p:nvSpPr>
          <p:cNvPr id="32" name="Text 30"/>
          <p:cNvSpPr/>
          <p:nvPr/>
        </p:nvSpPr>
        <p:spPr>
          <a:xfrm>
            <a:off x="5669280" y="5394960"/>
            <a:ext cx="1828800" cy="52806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0.684</a:t>
            </a:r>
            <a:endParaRPr lang="en-US" sz="3000" dirty="0"/>
          </a:p>
        </p:txBody>
      </p:sp>
      <p:sp>
        <p:nvSpPr>
          <p:cNvPr id="33" name="Text 31"/>
          <p:cNvSpPr/>
          <p:nvPr/>
        </p:nvSpPr>
        <p:spPr>
          <a:xfrm>
            <a:off x="5760720" y="5860390"/>
            <a:ext cx="1645920" cy="364846"/>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silhouette</a:t>
            </a:r>
            <a:endParaRPr lang="en-US" sz="1150" dirty="0"/>
          </a:p>
        </p:txBody>
      </p:sp>
      <p:sp>
        <p:nvSpPr>
          <p:cNvPr id="34" name="Text 32"/>
          <p:cNvSpPr/>
          <p:nvPr/>
        </p:nvSpPr>
        <p:spPr>
          <a:xfrm>
            <a:off x="7772400" y="5349240"/>
            <a:ext cx="3886200" cy="91440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 same ARI (0.924) as sklearn's KMeans, so the NumPy version is correct.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K-MEANS</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Choosing k: the silhouette peaks at exactly 3</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graphicFrame>
        <p:nvGraphicFramePr>
          <p:cNvPr id="7" name="Chart 0" descr=""/>
          <p:cNvGraphicFramePr/>
          <p:nvPr/>
        </p:nvGraphicFramePr>
        <p:xfrm>
          <a:off x="548640" y="1508760"/>
          <a:ext cx="54864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6172200" y="1508760"/>
          <a:ext cx="5486400" cy="329184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548640" y="4983480"/>
            <a:ext cx="11109960" cy="1280160"/>
          </a:xfrm>
          <a:prstGeom prst="rect">
            <a:avLst/>
          </a:prstGeom>
          <a:solidFill>
            <a:srgbClr val="ECFDF5"/>
          </a:solidFill>
          <a:ln w="12700">
            <a:solidFill>
              <a:srgbClr val="ECFDF5"/>
            </a:solidFill>
            <a:prstDash val="solid"/>
          </a:ln>
        </p:spPr>
      </p:sp>
      <p:sp>
        <p:nvSpPr>
          <p:cNvPr id="10" name="Shape 6"/>
          <p:cNvSpPr/>
          <p:nvPr/>
        </p:nvSpPr>
        <p:spPr>
          <a:xfrm>
            <a:off x="548640" y="4983480"/>
            <a:ext cx="64008" cy="1280160"/>
          </a:xfrm>
          <a:prstGeom prst="rect">
            <a:avLst/>
          </a:prstGeom>
          <a:solidFill>
            <a:srgbClr val="0D9488"/>
          </a:solidFill>
          <a:ln w="12700">
            <a:solidFill>
              <a:srgbClr val="0D9488"/>
            </a:solidFill>
            <a:prstDash val="solid"/>
          </a:ln>
        </p:spPr>
      </p:sp>
      <p:sp>
        <p:nvSpPr>
          <p:cNvPr id="11" name="Text 7"/>
          <p:cNvSpPr/>
          <p:nvPr/>
        </p:nvSpPr>
        <p:spPr>
          <a:xfrm>
            <a:off x="749808" y="4983480"/>
            <a:ext cx="10789920" cy="128016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READING THE CHARTS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More clusters always lower J, so J alone cannot choose k. The elbow at k = 3 (J drops from 1133 to 415, then only by about 100 per step) and the silhouette peak at k = 3 (0.684) agree. That also matches the 3 states we know exist, but the choice does not depend on knowing them.</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GAUSSIAN MIXTURES AND EM</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Gaussian mixtures: clusters with soft membership, fitted by EM</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pic>
        <p:nvPicPr>
          <p:cNvPr id="7" name="Image 0" descr="/tmp/claude-0/deck/fig/gmm.png">    </p:cNvPr>
          <p:cNvPicPr>
            <a:picLocks noChangeAspect="1"/>
          </p:cNvPicPr>
          <p:nvPr/>
        </p:nvPicPr>
        <p:blipFill>
          <a:blip r:embed="rId1"/>
          <a:stretch>
            <a:fillRect/>
          </a:stretch>
        </p:blipFill>
        <p:spPr>
          <a:xfrm>
            <a:off x="548640" y="1417320"/>
            <a:ext cx="6949440" cy="2752344"/>
          </a:xfrm>
          <a:prstGeom prst="rect">
            <a:avLst/>
          </a:prstGeom>
        </p:spPr>
      </p:pic>
      <p:sp>
        <p:nvSpPr>
          <p:cNvPr id="8" name="Text 5"/>
          <p:cNvSpPr/>
          <p:nvPr/>
        </p:nvSpPr>
        <p:spPr>
          <a:xfrm>
            <a:off x="7772400" y="1463040"/>
            <a:ext cx="3886200" cy="457200"/>
          </a:xfrm>
          <a:prstGeom prst="rect">
            <a:avLst/>
          </a:prstGeom>
          <a:noFill/>
          <a:ln/>
        </p:spPr>
        <p:txBody>
          <a:bodyPr wrap="square" lIns="0" tIns="0" rIns="0" bIns="0" rtlCol="0" anchor="ctr"/>
          <a:lstStyle/>
          <a:p>
            <a:pPr indent="0" marL="0">
              <a:buNone/>
            </a:pPr>
            <a:r>
              <a:rPr lang="en-US" sz="1150" dirty="0">
                <a:solidFill>
                  <a:srgbClr val="0F172A"/>
                </a:solidFill>
                <a:latin typeface="Consolas" pitchFamily="34" charset="0"/>
                <a:ea typeface="Consolas" pitchFamily="34" charset="-122"/>
                <a:cs typeface="Consolas" pitchFamily="34" charset="-120"/>
              </a:rPr>
              <a:t>p(x) = sum over k of  pi_k  N(x | mu_k, Sigma_k)</a:t>
            </a:r>
            <a:endParaRPr lang="en-US" sz="1150" dirty="0"/>
          </a:p>
        </p:txBody>
      </p:sp>
      <p:sp>
        <p:nvSpPr>
          <p:cNvPr id="9" name="Text 6"/>
          <p:cNvSpPr/>
          <p:nvPr/>
        </p:nvSpPr>
        <p:spPr>
          <a:xfrm>
            <a:off x="7772400" y="1965960"/>
            <a:ext cx="3886200" cy="128016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Each cluster is a Gaussian blob with its own centre mu, shape Sigma and weight pi. A point is not forced into one cluster: it gets a probability for each.</a:t>
            </a:r>
            <a:endParaRPr lang="en-US" sz="1300" dirty="0"/>
          </a:p>
        </p:txBody>
      </p:sp>
      <p:sp>
        <p:nvSpPr>
          <p:cNvPr id="10" name="Shape 7"/>
          <p:cNvSpPr/>
          <p:nvPr/>
        </p:nvSpPr>
        <p:spPr>
          <a:xfrm>
            <a:off x="548640" y="4343400"/>
            <a:ext cx="3657600" cy="1965960"/>
          </a:xfrm>
          <a:prstGeom prst="rect">
            <a:avLst/>
          </a:prstGeom>
          <a:solidFill>
            <a:srgbClr val="FFFFFF"/>
          </a:solidFill>
          <a:ln w="12700">
            <a:solidFill>
              <a:srgbClr val="E2E8F0"/>
            </a:solidFill>
            <a:prstDash val="solid"/>
          </a:ln>
        </p:spPr>
      </p:sp>
      <p:sp>
        <p:nvSpPr>
          <p:cNvPr id="11" name="Shape 8"/>
          <p:cNvSpPr/>
          <p:nvPr/>
        </p:nvSpPr>
        <p:spPr>
          <a:xfrm>
            <a:off x="548640" y="4343400"/>
            <a:ext cx="3657600" cy="64008"/>
          </a:xfrm>
          <a:prstGeom prst="rect">
            <a:avLst/>
          </a:prstGeom>
          <a:solidFill>
            <a:srgbClr val="2F6FED"/>
          </a:solidFill>
          <a:ln w="12700">
            <a:solidFill>
              <a:srgbClr val="2F6FED"/>
            </a:solidFill>
            <a:prstDash val="solid"/>
          </a:ln>
        </p:spPr>
      </p:sp>
      <p:sp>
        <p:nvSpPr>
          <p:cNvPr id="12" name="Text 9"/>
          <p:cNvSpPr/>
          <p:nvPr/>
        </p:nvSpPr>
        <p:spPr>
          <a:xfrm>
            <a:off x="731520" y="4507992"/>
            <a:ext cx="329184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E-step: guess</a:t>
            </a:r>
            <a:endParaRPr lang="en-US" sz="1600" dirty="0"/>
          </a:p>
        </p:txBody>
      </p:sp>
      <p:sp>
        <p:nvSpPr>
          <p:cNvPr id="13" name="Text 10"/>
          <p:cNvSpPr/>
          <p:nvPr/>
        </p:nvSpPr>
        <p:spPr>
          <a:xfrm>
            <a:off x="731520" y="4910328"/>
            <a:ext cx="3291840" cy="12801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For each point, compute the responsibility: how likely each blob is to have produced it, from the current centres and shapes.</a:t>
            </a:r>
            <a:endParaRPr lang="en-US" sz="1400" dirty="0"/>
          </a:p>
        </p:txBody>
      </p:sp>
      <p:sp>
        <p:nvSpPr>
          <p:cNvPr id="14" name="Shape 11"/>
          <p:cNvSpPr/>
          <p:nvPr/>
        </p:nvSpPr>
        <p:spPr>
          <a:xfrm>
            <a:off x="4315968" y="4343400"/>
            <a:ext cx="3657600" cy="1965960"/>
          </a:xfrm>
          <a:prstGeom prst="rect">
            <a:avLst/>
          </a:prstGeom>
          <a:solidFill>
            <a:srgbClr val="FFFFFF"/>
          </a:solidFill>
          <a:ln w="12700">
            <a:solidFill>
              <a:srgbClr val="E2E8F0"/>
            </a:solidFill>
            <a:prstDash val="solid"/>
          </a:ln>
        </p:spPr>
      </p:sp>
      <p:sp>
        <p:nvSpPr>
          <p:cNvPr id="15" name="Shape 12"/>
          <p:cNvSpPr/>
          <p:nvPr/>
        </p:nvSpPr>
        <p:spPr>
          <a:xfrm>
            <a:off x="4315968" y="4343400"/>
            <a:ext cx="3657600" cy="64008"/>
          </a:xfrm>
          <a:prstGeom prst="rect">
            <a:avLst/>
          </a:prstGeom>
          <a:solidFill>
            <a:srgbClr val="F2A20C"/>
          </a:solidFill>
          <a:ln w="12700">
            <a:solidFill>
              <a:srgbClr val="F2A20C"/>
            </a:solidFill>
            <a:prstDash val="solid"/>
          </a:ln>
        </p:spPr>
      </p:sp>
      <p:sp>
        <p:nvSpPr>
          <p:cNvPr id="16" name="Text 13"/>
          <p:cNvSpPr/>
          <p:nvPr/>
        </p:nvSpPr>
        <p:spPr>
          <a:xfrm>
            <a:off x="4498848" y="4507992"/>
            <a:ext cx="329184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M-step: refit</a:t>
            </a:r>
            <a:endParaRPr lang="en-US" sz="1600" dirty="0"/>
          </a:p>
        </p:txBody>
      </p:sp>
      <p:sp>
        <p:nvSpPr>
          <p:cNvPr id="17" name="Text 14"/>
          <p:cNvSpPr/>
          <p:nvPr/>
        </p:nvSpPr>
        <p:spPr>
          <a:xfrm>
            <a:off x="4498848" y="4910328"/>
            <a:ext cx="3291840" cy="12801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Re-estimate each blob's weight, centre and covariance, counting every point in proportion to its responsibility.</a:t>
            </a:r>
            <a:endParaRPr lang="en-US" sz="1400" dirty="0"/>
          </a:p>
        </p:txBody>
      </p:sp>
      <p:sp>
        <p:nvSpPr>
          <p:cNvPr id="18" name="Shape 15"/>
          <p:cNvSpPr/>
          <p:nvPr/>
        </p:nvSpPr>
        <p:spPr>
          <a:xfrm>
            <a:off x="8083296" y="4343400"/>
            <a:ext cx="3575304" cy="1965960"/>
          </a:xfrm>
          <a:prstGeom prst="rect">
            <a:avLst/>
          </a:prstGeom>
          <a:solidFill>
            <a:srgbClr val="ECFDF5"/>
          </a:solidFill>
          <a:ln w="12700">
            <a:solidFill>
              <a:srgbClr val="ECFDF5"/>
            </a:solidFill>
            <a:prstDash val="solid"/>
          </a:ln>
        </p:spPr>
      </p:sp>
      <p:sp>
        <p:nvSpPr>
          <p:cNvPr id="19" name="Shape 16"/>
          <p:cNvSpPr/>
          <p:nvPr/>
        </p:nvSpPr>
        <p:spPr>
          <a:xfrm>
            <a:off x="8083296" y="4343400"/>
            <a:ext cx="64008" cy="1965960"/>
          </a:xfrm>
          <a:prstGeom prst="rect">
            <a:avLst/>
          </a:prstGeom>
          <a:solidFill>
            <a:srgbClr val="0D9488"/>
          </a:solidFill>
          <a:ln w="12700">
            <a:solidFill>
              <a:srgbClr val="0D9488"/>
            </a:solidFill>
            <a:prstDash val="solid"/>
          </a:ln>
        </p:spPr>
      </p:sp>
      <p:sp>
        <p:nvSpPr>
          <p:cNvPr id="20" name="Text 17"/>
          <p:cNvSpPr/>
          <p:nvPr/>
        </p:nvSpPr>
        <p:spPr>
          <a:xfrm>
            <a:off x="8284464" y="4343400"/>
            <a:ext cx="3255264" cy="196596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VERSUS K-MEANS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Alternate until the fit stops improving. Unlike K-means, blobs can be stretched or tilted, and 43 borderline turns (right panel) are flagged as uncertain instead of being forced.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GAUSSIAN MIXTURES AND EM</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GMM-EM in the code: the M-step and E-step as matrix algebra</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
        <p:nvSpPr>
          <p:cNvPr id="7" name="Shape 5"/>
          <p:cNvSpPr/>
          <p:nvPr/>
        </p:nvSpPr>
        <p:spPr>
          <a:xfrm>
            <a:off x="548640" y="1508760"/>
            <a:ext cx="7223760" cy="3429000"/>
          </a:xfrm>
          <a:prstGeom prst="rect">
            <a:avLst/>
          </a:prstGeom>
          <a:solidFill>
            <a:srgbClr val="0F172A"/>
          </a:solidFill>
          <a:ln w="12700">
            <a:solidFill>
              <a:srgbClr val="0F172A"/>
            </a:solidFill>
            <a:prstDash val="solid"/>
          </a:ln>
        </p:spPr>
      </p:sp>
      <p:sp>
        <p:nvSpPr>
          <p:cNvPr id="8" name="Text 6"/>
          <p:cNvSpPr/>
          <p:nvPr/>
        </p:nvSpPr>
        <p:spPr>
          <a:xfrm>
            <a:off x="731520" y="1581912"/>
            <a:ext cx="685800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src/analysis/unsupervised.py (excerpt, line breaks added)</a:t>
            </a:r>
            <a:endParaRPr lang="en-US" sz="1050" dirty="0"/>
          </a:p>
        </p:txBody>
      </p:sp>
      <p:sp>
        <p:nvSpPr>
          <p:cNvPr id="9" name="Text 7"/>
          <p:cNvSpPr/>
          <p:nvPr/>
        </p:nvSpPr>
        <p:spPr>
          <a:xfrm>
            <a:off x="731520" y="1874520"/>
            <a:ext cx="6858000" cy="2971800"/>
          </a:xfrm>
          <a:prstGeom prst="rect">
            <a:avLst/>
          </a:prstGeom>
          <a:noFill/>
          <a:ln/>
        </p:spPr>
        <p:txBody>
          <a:bodyPr wrap="square" lIns="0" tIns="0" rIns="0" bIns="0" rtlCol="0" anchor="t"/>
          <a:lstStyle/>
          <a:p>
            <a:pPr indent="0" marL="0">
              <a:spcAft>
                <a:spcPts val="200"/>
              </a:spcAft>
              <a:buNone/>
            </a:pPr>
            <a:r>
              <a:rPr lang="en-US" sz="1250" dirty="0">
                <a:solidFill>
                  <a:srgbClr val="94A3B8"/>
                </a:solidFill>
                <a:latin typeface="Consolas" pitchFamily="34" charset="0"/>
                <a:ea typeface="Consolas" pitchFamily="34" charset="-122"/>
                <a:cs typeface="Consolas" pitchFamily="34" charset="-120"/>
              </a:rPr>
              <a:t># start from K-means labels, one-hot</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R = np.eye(k)[kmeans(X, k, seed=seed)[0]]</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for _ in range(max_iter):</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Nk = R.sum(axis=0) + 1e-12</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(1)</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pi, mu = Nk / N, (R.T @ X) / Nk[:, None]</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(2)</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cov = np.array([(R[:, j, None] * (X - mu[j])).T</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(3)</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 (X - mu[j]) / Nk[j] + reg * np.eye(D)</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for j in range(k)])</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log_joint = np.column_stack([np.log(pi[j])</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(4)</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 log_gauss(X, mu[j], cov[j]) for j in range(k)])</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R = np.exp(log_joint - log_norm[:, None])</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(5)</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lls.append(float(log_norm.sum()))</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(6)</a:t>
            </a:r>
            <a:endParaRPr lang="en-US" sz="1250" dirty="0"/>
          </a:p>
        </p:txBody>
      </p:sp>
      <p:sp>
        <p:nvSpPr>
          <p:cNvPr id="10" name="Shape 8"/>
          <p:cNvSpPr/>
          <p:nvPr/>
        </p:nvSpPr>
        <p:spPr>
          <a:xfrm>
            <a:off x="8046720" y="1581912"/>
            <a:ext cx="274320" cy="274320"/>
          </a:xfrm>
          <a:prstGeom prst="ellipse">
            <a:avLst/>
          </a:prstGeom>
          <a:solidFill>
            <a:srgbClr val="F2A20C"/>
          </a:solidFill>
          <a:ln w="12700">
            <a:solidFill>
              <a:srgbClr val="F2A20C"/>
            </a:solidFill>
            <a:prstDash val="solid"/>
          </a:ln>
        </p:spPr>
      </p:sp>
      <p:sp>
        <p:nvSpPr>
          <p:cNvPr id="11" name="Text 9"/>
          <p:cNvSpPr/>
          <p:nvPr/>
        </p:nvSpPr>
        <p:spPr>
          <a:xfrm>
            <a:off x="8046720" y="158191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8412480" y="1554480"/>
            <a:ext cx="3246120" cy="512064"/>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Effective number of points in each blob.</a:t>
            </a:r>
            <a:endParaRPr lang="en-US" sz="1200" dirty="0"/>
          </a:p>
        </p:txBody>
      </p:sp>
      <p:sp>
        <p:nvSpPr>
          <p:cNvPr id="13" name="Shape 11"/>
          <p:cNvSpPr/>
          <p:nvPr/>
        </p:nvSpPr>
        <p:spPr>
          <a:xfrm>
            <a:off x="8046720" y="2130552"/>
            <a:ext cx="274320" cy="274320"/>
          </a:xfrm>
          <a:prstGeom prst="ellipse">
            <a:avLst/>
          </a:prstGeom>
          <a:solidFill>
            <a:srgbClr val="F2A20C"/>
          </a:solidFill>
          <a:ln w="12700">
            <a:solidFill>
              <a:srgbClr val="F2A20C"/>
            </a:solidFill>
            <a:prstDash val="solid"/>
          </a:ln>
        </p:spPr>
      </p:sp>
      <p:sp>
        <p:nvSpPr>
          <p:cNvPr id="14" name="Text 12"/>
          <p:cNvSpPr/>
          <p:nvPr/>
        </p:nvSpPr>
        <p:spPr>
          <a:xfrm>
            <a:off x="8046720" y="213055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8412480" y="2103120"/>
            <a:ext cx="3246120" cy="512064"/>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New weight pi and new centre mu: responsibility-weighted averages.</a:t>
            </a:r>
            <a:endParaRPr lang="en-US" sz="1200" dirty="0"/>
          </a:p>
        </p:txBody>
      </p:sp>
      <p:sp>
        <p:nvSpPr>
          <p:cNvPr id="16" name="Shape 14"/>
          <p:cNvSpPr/>
          <p:nvPr/>
        </p:nvSpPr>
        <p:spPr>
          <a:xfrm>
            <a:off x="8046720" y="2679192"/>
            <a:ext cx="274320" cy="274320"/>
          </a:xfrm>
          <a:prstGeom prst="ellipse">
            <a:avLst/>
          </a:prstGeom>
          <a:solidFill>
            <a:srgbClr val="F2A20C"/>
          </a:solidFill>
          <a:ln w="12700">
            <a:solidFill>
              <a:srgbClr val="F2A20C"/>
            </a:solidFill>
            <a:prstDash val="solid"/>
          </a:ln>
        </p:spPr>
      </p:sp>
      <p:sp>
        <p:nvSpPr>
          <p:cNvPr id="17" name="Text 15"/>
          <p:cNvSpPr/>
          <p:nvPr/>
        </p:nvSpPr>
        <p:spPr>
          <a:xfrm>
            <a:off x="8046720" y="267919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8412480" y="2651760"/>
            <a:ext cx="3246120" cy="512064"/>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New covariance: how spread out and tilted the blob is.</a:t>
            </a:r>
            <a:endParaRPr lang="en-US" sz="1200" dirty="0"/>
          </a:p>
        </p:txBody>
      </p:sp>
      <p:sp>
        <p:nvSpPr>
          <p:cNvPr id="19" name="Shape 17"/>
          <p:cNvSpPr/>
          <p:nvPr/>
        </p:nvSpPr>
        <p:spPr>
          <a:xfrm>
            <a:off x="8046720" y="3227832"/>
            <a:ext cx="274320" cy="274320"/>
          </a:xfrm>
          <a:prstGeom prst="ellipse">
            <a:avLst/>
          </a:prstGeom>
          <a:solidFill>
            <a:srgbClr val="F2A20C"/>
          </a:solidFill>
          <a:ln w="12700">
            <a:solidFill>
              <a:srgbClr val="F2A20C"/>
            </a:solidFill>
            <a:prstDash val="solid"/>
          </a:ln>
        </p:spPr>
      </p:sp>
      <p:sp>
        <p:nvSpPr>
          <p:cNvPr id="20" name="Text 18"/>
          <p:cNvSpPr/>
          <p:nvPr/>
        </p:nvSpPr>
        <p:spPr>
          <a:xfrm>
            <a:off x="8046720" y="322783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412480" y="3200400"/>
            <a:ext cx="3246120" cy="512064"/>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log of pi times the Gaussian density, per blob.</a:t>
            </a:r>
            <a:endParaRPr lang="en-US" sz="1200" dirty="0"/>
          </a:p>
        </p:txBody>
      </p:sp>
      <p:sp>
        <p:nvSpPr>
          <p:cNvPr id="22" name="Shape 20"/>
          <p:cNvSpPr/>
          <p:nvPr/>
        </p:nvSpPr>
        <p:spPr>
          <a:xfrm>
            <a:off x="8046720" y="3776472"/>
            <a:ext cx="274320" cy="274320"/>
          </a:xfrm>
          <a:prstGeom prst="ellipse">
            <a:avLst/>
          </a:prstGeom>
          <a:solidFill>
            <a:srgbClr val="F2A20C"/>
          </a:solidFill>
          <a:ln w="12700">
            <a:solidFill>
              <a:srgbClr val="F2A20C"/>
            </a:solidFill>
            <a:prstDash val="solid"/>
          </a:ln>
        </p:spPr>
      </p:sp>
      <p:sp>
        <p:nvSpPr>
          <p:cNvPr id="23" name="Text 21"/>
          <p:cNvSpPr/>
          <p:nvPr/>
        </p:nvSpPr>
        <p:spPr>
          <a:xfrm>
            <a:off x="8046720" y="377647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8412480" y="3749040"/>
            <a:ext cx="3246120" cy="512064"/>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Responsibilities: each row sums to 1.</a:t>
            </a:r>
            <a:endParaRPr lang="en-US" sz="1200" dirty="0"/>
          </a:p>
        </p:txBody>
      </p:sp>
      <p:sp>
        <p:nvSpPr>
          <p:cNvPr id="25" name="Shape 23"/>
          <p:cNvSpPr/>
          <p:nvPr/>
        </p:nvSpPr>
        <p:spPr>
          <a:xfrm>
            <a:off x="8046720" y="4325112"/>
            <a:ext cx="274320" cy="274320"/>
          </a:xfrm>
          <a:prstGeom prst="ellipse">
            <a:avLst/>
          </a:prstGeom>
          <a:solidFill>
            <a:srgbClr val="F2A20C"/>
          </a:solidFill>
          <a:ln w="12700">
            <a:solidFill>
              <a:srgbClr val="F2A20C"/>
            </a:solidFill>
            <a:prstDash val="solid"/>
          </a:ln>
        </p:spPr>
      </p:sp>
      <p:sp>
        <p:nvSpPr>
          <p:cNvPr id="26" name="Text 24"/>
          <p:cNvSpPr/>
          <p:nvPr/>
        </p:nvSpPr>
        <p:spPr>
          <a:xfrm>
            <a:off x="8046720" y="432511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6</a:t>
            </a:r>
            <a:endParaRPr lang="en-US" sz="1100" dirty="0"/>
          </a:p>
        </p:txBody>
      </p:sp>
      <p:sp>
        <p:nvSpPr>
          <p:cNvPr id="27" name="Text 25"/>
          <p:cNvSpPr/>
          <p:nvPr/>
        </p:nvSpPr>
        <p:spPr>
          <a:xfrm>
            <a:off x="8412480" y="4297680"/>
            <a:ext cx="3246120" cy="512064"/>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Log-likelihood: the quantity EM must never decrease.</a:t>
            </a:r>
            <a:endParaRPr lang="en-US" sz="1200" dirty="0"/>
          </a:p>
        </p:txBody>
      </p:sp>
      <p:graphicFrame>
        <p:nvGraphicFramePr>
          <p:cNvPr id="28" name="Chart 0" descr=""/>
          <p:cNvGraphicFramePr/>
          <p:nvPr/>
        </p:nvGraphicFramePr>
        <p:xfrm>
          <a:off x="548640" y="5029200"/>
          <a:ext cx="4206240" cy="1371600"/>
        </p:xfrm>
        <a:graphic xmlns:a="http://schemas.openxmlformats.org/drawingml/2006/main">
          <a:graphicData uri="http://schemas.openxmlformats.org/drawingml/2006/chart">
            <c:chart xmlns:c="http://schemas.openxmlformats.org/drawingml/2006/chart" r:id="rId1"/>
          </a:graphicData>
        </a:graphic>
      </p:graphicFrame>
      <p:sp>
        <p:nvSpPr>
          <p:cNvPr id="29" name="Shape 26"/>
          <p:cNvSpPr/>
          <p:nvPr/>
        </p:nvSpPr>
        <p:spPr>
          <a:xfrm>
            <a:off x="4937760" y="5074920"/>
            <a:ext cx="2011680" cy="1234440"/>
          </a:xfrm>
          <a:prstGeom prst="rect">
            <a:avLst/>
          </a:prstGeom>
          <a:solidFill>
            <a:srgbClr val="F1F5F9"/>
          </a:solidFill>
          <a:ln w="12700">
            <a:solidFill>
              <a:srgbClr val="F1F5F9"/>
            </a:solidFill>
            <a:prstDash val="solid"/>
          </a:ln>
        </p:spPr>
      </p:sp>
      <p:sp>
        <p:nvSpPr>
          <p:cNvPr id="30" name="Text 27"/>
          <p:cNvSpPr/>
          <p:nvPr/>
        </p:nvSpPr>
        <p:spPr>
          <a:xfrm>
            <a:off x="4937760" y="5166360"/>
            <a:ext cx="2011680" cy="678942"/>
          </a:xfrm>
          <a:prstGeom prst="rect">
            <a:avLst/>
          </a:prstGeom>
          <a:noFill/>
          <a:ln/>
        </p:spPr>
        <p:txBody>
          <a:bodyPr wrap="square" lIns="0" tIns="0" rIns="0" bIns="0" rtlCol="0" anchor="ctr"/>
          <a:lstStyle/>
          <a:p>
            <a:pPr algn="ctr" indent="0" marL="0">
              <a:buNone/>
            </a:pPr>
            <a:r>
              <a:rPr lang="en-US" sz="3000" b="1" dirty="0">
                <a:solidFill>
                  <a:srgbClr val="16A34A"/>
                </a:solidFill>
                <a:latin typeface="Calibri" pitchFamily="34" charset="0"/>
                <a:ea typeface="Calibri" pitchFamily="34" charset="-122"/>
                <a:cs typeface="Calibri" pitchFamily="34" charset="-120"/>
              </a:rPr>
              <a:t>0.865</a:t>
            </a:r>
            <a:endParaRPr lang="en-US" sz="3000" dirty="0"/>
          </a:p>
        </p:txBody>
      </p:sp>
      <p:sp>
        <p:nvSpPr>
          <p:cNvPr id="31" name="Text 28"/>
          <p:cNvSpPr/>
          <p:nvPr/>
        </p:nvSpPr>
        <p:spPr>
          <a:xfrm>
            <a:off x="5029200" y="5790895"/>
            <a:ext cx="1828800" cy="46908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ARI vs true state</a:t>
            </a:r>
            <a:endParaRPr lang="en-US" sz="1150" dirty="0"/>
          </a:p>
        </p:txBody>
      </p:sp>
      <p:sp>
        <p:nvSpPr>
          <p:cNvPr id="32" name="Shape 29"/>
          <p:cNvSpPr/>
          <p:nvPr/>
        </p:nvSpPr>
        <p:spPr>
          <a:xfrm>
            <a:off x="7086600" y="5074920"/>
            <a:ext cx="2103120" cy="1234440"/>
          </a:xfrm>
          <a:prstGeom prst="rect">
            <a:avLst/>
          </a:prstGeom>
          <a:solidFill>
            <a:srgbClr val="F1F5F9"/>
          </a:solidFill>
          <a:ln w="12700">
            <a:solidFill>
              <a:srgbClr val="F1F5F9"/>
            </a:solidFill>
            <a:prstDash val="solid"/>
          </a:ln>
        </p:spPr>
      </p:sp>
      <p:sp>
        <p:nvSpPr>
          <p:cNvPr id="33" name="Text 30"/>
          <p:cNvSpPr/>
          <p:nvPr/>
        </p:nvSpPr>
        <p:spPr>
          <a:xfrm>
            <a:off x="7086600" y="5166360"/>
            <a:ext cx="2103120" cy="678942"/>
          </a:xfrm>
          <a:prstGeom prst="rect">
            <a:avLst/>
          </a:prstGeom>
          <a:noFill/>
          <a:ln/>
        </p:spPr>
        <p:txBody>
          <a:bodyPr wrap="square" lIns="0" tIns="0" rIns="0" bIns="0" rtlCol="0" anchor="ctr"/>
          <a:lstStyle/>
          <a:p>
            <a:pPr algn="ctr" indent="0" marL="0">
              <a:buNone/>
            </a:pPr>
            <a:r>
              <a:rPr lang="en-US" sz="3000" b="1" dirty="0">
                <a:solidFill>
                  <a:srgbClr val="16A34A"/>
                </a:solidFill>
                <a:latin typeface="Calibri" pitchFamily="34" charset="0"/>
                <a:ea typeface="Calibri" pitchFamily="34" charset="-122"/>
                <a:cs typeface="Calibri" pitchFamily="34" charset="-120"/>
              </a:rPr>
              <a:t>95.1%</a:t>
            </a:r>
            <a:endParaRPr lang="en-US" sz="3000" dirty="0"/>
          </a:p>
        </p:txBody>
      </p:sp>
      <p:sp>
        <p:nvSpPr>
          <p:cNvPr id="34" name="Text 31"/>
          <p:cNvSpPr/>
          <p:nvPr/>
        </p:nvSpPr>
        <p:spPr>
          <a:xfrm>
            <a:off x="7178040" y="5790895"/>
            <a:ext cx="1920240" cy="46908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after matching</a:t>
            </a:r>
            <a:endParaRPr lang="en-US" sz="1150" dirty="0"/>
          </a:p>
        </p:txBody>
      </p:sp>
      <p:sp>
        <p:nvSpPr>
          <p:cNvPr id="35" name="Shape 32"/>
          <p:cNvSpPr/>
          <p:nvPr/>
        </p:nvSpPr>
        <p:spPr>
          <a:xfrm>
            <a:off x="9326880" y="5074920"/>
            <a:ext cx="2331720" cy="1234440"/>
          </a:xfrm>
          <a:prstGeom prst="rect">
            <a:avLst/>
          </a:prstGeom>
          <a:solidFill>
            <a:srgbClr val="F1F5F9"/>
          </a:solidFill>
          <a:ln w="12700">
            <a:solidFill>
              <a:srgbClr val="F1F5F9"/>
            </a:solidFill>
            <a:prstDash val="solid"/>
          </a:ln>
        </p:spPr>
      </p:sp>
      <p:sp>
        <p:nvSpPr>
          <p:cNvPr id="36" name="Text 33"/>
          <p:cNvSpPr/>
          <p:nvPr/>
        </p:nvSpPr>
        <p:spPr>
          <a:xfrm>
            <a:off x="9326880" y="5166360"/>
            <a:ext cx="2331720" cy="678942"/>
          </a:xfrm>
          <a:prstGeom prst="rect">
            <a:avLst/>
          </a:prstGeom>
          <a:noFill/>
          <a:ln/>
        </p:spPr>
        <p:txBody>
          <a:bodyPr wrap="square" lIns="0" tIns="0" rIns="0" bIns="0" rtlCol="0" anchor="ctr"/>
          <a:lstStyle/>
          <a:p>
            <a:pPr algn="ctr" indent="0" marL="0">
              <a:buNone/>
            </a:pPr>
            <a:r>
              <a:rPr lang="en-US" sz="3000" b="1" dirty="0">
                <a:solidFill>
                  <a:srgbClr val="16A34A"/>
                </a:solidFill>
                <a:latin typeface="Calibri" pitchFamily="34" charset="0"/>
                <a:ea typeface="Calibri" pitchFamily="34" charset="-122"/>
                <a:cs typeface="Calibri" pitchFamily="34" charset="-120"/>
              </a:rPr>
              <a:t>0.652</a:t>
            </a:r>
            <a:endParaRPr lang="en-US" sz="3000" dirty="0"/>
          </a:p>
        </p:txBody>
      </p:sp>
      <p:sp>
        <p:nvSpPr>
          <p:cNvPr id="37" name="Text 34"/>
          <p:cNvSpPr/>
          <p:nvPr/>
        </p:nvSpPr>
        <p:spPr>
          <a:xfrm>
            <a:off x="9418320" y="5790895"/>
            <a:ext cx="2148840" cy="469087"/>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silhouette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HIERARCHICAL CLUSTERING</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Hierarchical clustering: build a tree of merges, then cut it</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pic>
        <p:nvPicPr>
          <p:cNvPr id="7" name="Image 0" descr="/tmp/claude-0/deck/fig/hier.png">    </p:cNvPr>
          <p:cNvPicPr>
            <a:picLocks noChangeAspect="1"/>
          </p:cNvPicPr>
          <p:nvPr/>
        </p:nvPicPr>
        <p:blipFill>
          <a:blip r:embed="rId1"/>
          <a:stretch>
            <a:fillRect/>
          </a:stretch>
        </p:blipFill>
        <p:spPr>
          <a:xfrm>
            <a:off x="548640" y="1417320"/>
            <a:ext cx="7680960" cy="2724912"/>
          </a:xfrm>
          <a:prstGeom prst="rect">
            <a:avLst/>
          </a:prstGeom>
        </p:spPr>
      </p:pic>
      <p:sp>
        <p:nvSpPr>
          <p:cNvPr id="8" name="Text 5"/>
          <p:cNvSpPr/>
          <p:nvPr/>
        </p:nvSpPr>
        <p:spPr>
          <a:xfrm>
            <a:off x="8503920" y="1463040"/>
            <a:ext cx="3154680" cy="265176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Agglomerative: start with every conversation as its own cluster, repeatedly merge the two closest, stop when 3 remain. We cluster whole conversations (220 rows, 6 features), not single turns.</a:t>
            </a:r>
            <a:endParaRPr lang="en-US" sz="1300" dirty="0"/>
          </a:p>
        </p:txBody>
      </p:sp>
      <p:sp>
        <p:nvSpPr>
          <p:cNvPr id="9" name="Shape 6"/>
          <p:cNvSpPr/>
          <p:nvPr/>
        </p:nvSpPr>
        <p:spPr>
          <a:xfrm>
            <a:off x="548640" y="4343400"/>
            <a:ext cx="3566160" cy="1965960"/>
          </a:xfrm>
          <a:prstGeom prst="rect">
            <a:avLst/>
          </a:prstGeom>
          <a:solidFill>
            <a:srgbClr val="FFFFFF"/>
          </a:solidFill>
          <a:ln w="12700">
            <a:solidFill>
              <a:srgbClr val="E2E8F0"/>
            </a:solidFill>
            <a:prstDash val="solid"/>
          </a:ln>
        </p:spPr>
      </p:sp>
      <p:sp>
        <p:nvSpPr>
          <p:cNvPr id="10" name="Shape 7"/>
          <p:cNvSpPr/>
          <p:nvPr/>
        </p:nvSpPr>
        <p:spPr>
          <a:xfrm>
            <a:off x="548640" y="4343400"/>
            <a:ext cx="3566160" cy="64008"/>
          </a:xfrm>
          <a:prstGeom prst="rect">
            <a:avLst/>
          </a:prstGeom>
          <a:solidFill>
            <a:srgbClr val="7C3AED"/>
          </a:solidFill>
          <a:ln w="12700">
            <a:solidFill>
              <a:srgbClr val="7C3AED"/>
            </a:solidFill>
            <a:prstDash val="solid"/>
          </a:ln>
        </p:spPr>
      </p:sp>
      <p:sp>
        <p:nvSpPr>
          <p:cNvPr id="11" name="Text 8"/>
          <p:cNvSpPr/>
          <p:nvPr/>
        </p:nvSpPr>
        <p:spPr>
          <a:xfrm>
            <a:off x="731520" y="450799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The only design choice</a:t>
            </a:r>
            <a:endParaRPr lang="en-US" sz="1600" dirty="0"/>
          </a:p>
        </p:txBody>
      </p:sp>
      <p:sp>
        <p:nvSpPr>
          <p:cNvPr id="12" name="Text 9"/>
          <p:cNvSpPr/>
          <p:nvPr/>
        </p:nvSpPr>
        <p:spPr>
          <a:xfrm>
            <a:off x="731520" y="4910328"/>
            <a:ext cx="3200400" cy="12801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How far apart are two clusters? Single uses the closest pair, complete the farthest pair, average the mean of all pairs, ward the increase in spread.</a:t>
            </a:r>
            <a:endParaRPr lang="en-US" sz="1400" dirty="0"/>
          </a:p>
        </p:txBody>
      </p:sp>
      <p:sp>
        <p:nvSpPr>
          <p:cNvPr id="13" name="Shape 10"/>
          <p:cNvSpPr/>
          <p:nvPr/>
        </p:nvSpPr>
        <p:spPr>
          <a:xfrm>
            <a:off x="4315968" y="4343400"/>
            <a:ext cx="3566160" cy="1965960"/>
          </a:xfrm>
          <a:prstGeom prst="rect">
            <a:avLst/>
          </a:prstGeom>
          <a:solidFill>
            <a:srgbClr val="FFFFFF"/>
          </a:solidFill>
          <a:ln w="12700">
            <a:solidFill>
              <a:srgbClr val="E2E8F0"/>
            </a:solidFill>
            <a:prstDash val="solid"/>
          </a:ln>
        </p:spPr>
      </p:sp>
      <p:sp>
        <p:nvSpPr>
          <p:cNvPr id="14" name="Shape 11"/>
          <p:cNvSpPr/>
          <p:nvPr/>
        </p:nvSpPr>
        <p:spPr>
          <a:xfrm>
            <a:off x="4315968" y="4343400"/>
            <a:ext cx="3566160" cy="64008"/>
          </a:xfrm>
          <a:prstGeom prst="rect">
            <a:avLst/>
          </a:prstGeom>
          <a:solidFill>
            <a:srgbClr val="7C3AED"/>
          </a:solidFill>
          <a:ln w="12700">
            <a:solidFill>
              <a:srgbClr val="7C3AED"/>
            </a:solidFill>
            <a:prstDash val="solid"/>
          </a:ln>
        </p:spPr>
      </p:sp>
      <p:sp>
        <p:nvSpPr>
          <p:cNvPr id="15" name="Text 12"/>
          <p:cNvSpPr/>
          <p:nvPr/>
        </p:nvSpPr>
        <p:spPr>
          <a:xfrm>
            <a:off x="4498848" y="4507992"/>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The tree is the output</a:t>
            </a:r>
            <a:endParaRPr lang="en-US" sz="1600" dirty="0"/>
          </a:p>
        </p:txBody>
      </p:sp>
      <p:sp>
        <p:nvSpPr>
          <p:cNvPr id="16" name="Text 13"/>
          <p:cNvSpPr/>
          <p:nvPr/>
        </p:nvSpPr>
        <p:spPr>
          <a:xfrm>
            <a:off x="4498848" y="4910328"/>
            <a:ext cx="3200400" cy="12801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Cutting the dendrogram at a height gives a clustering. A tall gap before a merge means two groups were far apart: a natural place to cut.</a:t>
            </a:r>
            <a:endParaRPr lang="en-US" sz="1400" dirty="0"/>
          </a:p>
        </p:txBody>
      </p:sp>
      <p:sp>
        <p:nvSpPr>
          <p:cNvPr id="17" name="Shape 14"/>
          <p:cNvSpPr/>
          <p:nvPr/>
        </p:nvSpPr>
        <p:spPr>
          <a:xfrm>
            <a:off x="8083296" y="4343400"/>
            <a:ext cx="3575304" cy="1965960"/>
          </a:xfrm>
          <a:prstGeom prst="rect">
            <a:avLst/>
          </a:prstGeom>
          <a:solidFill>
            <a:srgbClr val="ECFDF5"/>
          </a:solidFill>
          <a:ln w="12700">
            <a:solidFill>
              <a:srgbClr val="ECFDF5"/>
            </a:solidFill>
            <a:prstDash val="solid"/>
          </a:ln>
        </p:spPr>
      </p:sp>
      <p:sp>
        <p:nvSpPr>
          <p:cNvPr id="18" name="Shape 15"/>
          <p:cNvSpPr/>
          <p:nvPr/>
        </p:nvSpPr>
        <p:spPr>
          <a:xfrm>
            <a:off x="8083296" y="4343400"/>
            <a:ext cx="64008" cy="1965960"/>
          </a:xfrm>
          <a:prstGeom prst="rect">
            <a:avLst/>
          </a:prstGeom>
          <a:solidFill>
            <a:srgbClr val="0D9488"/>
          </a:solidFill>
          <a:ln w="12700">
            <a:solidFill>
              <a:srgbClr val="0D9488"/>
            </a:solidFill>
            <a:prstDash val="solid"/>
          </a:ln>
        </p:spPr>
      </p:sp>
      <p:sp>
        <p:nvSpPr>
          <p:cNvPr id="19" name="Text 16"/>
          <p:cNvSpPr/>
          <p:nvPr/>
        </p:nvSpPr>
        <p:spPr>
          <a:xfrm>
            <a:off x="8284464" y="4343400"/>
            <a:ext cx="3255264" cy="196596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TRADE-OFF</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Unlike K-means it needs no starting centres and always gives the same answer. The cost is memory and time that grow with the square of the number of points, fine for 220 conversations.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UNIT 3: HIERARCHICAL CLUSTERING</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Hierarchical in the code: linkage is one Lance-Williams update</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548640" y="1508760"/>
            <a:ext cx="6766560" cy="3566160"/>
          </a:xfrm>
          <a:prstGeom prst="rect">
            <a:avLst/>
          </a:prstGeom>
          <a:solidFill>
            <a:srgbClr val="0F172A"/>
          </a:solidFill>
          <a:ln w="12700">
            <a:solidFill>
              <a:srgbClr val="0F172A"/>
            </a:solidFill>
            <a:prstDash val="solid"/>
          </a:ln>
        </p:spPr>
      </p:sp>
      <p:sp>
        <p:nvSpPr>
          <p:cNvPr id="8" name="Text 6"/>
          <p:cNvSpPr/>
          <p:nvPr/>
        </p:nvSpPr>
        <p:spPr>
          <a:xfrm>
            <a:off x="731520" y="1581912"/>
            <a:ext cx="640080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src/analysis/unsupervised.py (excerpt, shortened)</a:t>
            </a:r>
            <a:endParaRPr lang="en-US" sz="1050" dirty="0"/>
          </a:p>
        </p:txBody>
      </p:sp>
      <p:sp>
        <p:nvSpPr>
          <p:cNvPr id="9" name="Text 7"/>
          <p:cNvSpPr/>
          <p:nvPr/>
        </p:nvSpPr>
        <p:spPr>
          <a:xfrm>
            <a:off x="731520" y="1874520"/>
            <a:ext cx="6400800" cy="3108960"/>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for _ in range(N - n_clusters):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a, b = np.unravel_index(np.argmin(D), D.shape)</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(1)</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dac, dbc = D[a, o], D[b, o]</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if linkage == "single":</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new = np.minimum(dac, dbc)</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(2)</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elif linkage == "complete":</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new = np.maximum(dac, dbc)</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elif linkage == "average":</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new = (na * dac + nb * dbc) / (na + nb)</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else:  # ward</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new = np.sqrt(...)</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D[a, o] = D[o, a] = new</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(3)</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D[b, :] = D[:, b] = np.inf</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(4)</a:t>
            </a:r>
            <a:endParaRPr lang="en-US" sz="1250" dirty="0"/>
          </a:p>
        </p:txBody>
      </p:sp>
      <p:sp>
        <p:nvSpPr>
          <p:cNvPr id="10" name="Shape 8"/>
          <p:cNvSpPr/>
          <p:nvPr/>
        </p:nvSpPr>
        <p:spPr>
          <a:xfrm>
            <a:off x="7589520" y="1581912"/>
            <a:ext cx="274320" cy="274320"/>
          </a:xfrm>
          <a:prstGeom prst="ellipse">
            <a:avLst/>
          </a:prstGeom>
          <a:solidFill>
            <a:srgbClr val="F2A20C"/>
          </a:solidFill>
          <a:ln w="12700">
            <a:solidFill>
              <a:srgbClr val="F2A20C"/>
            </a:solidFill>
            <a:prstDash val="solid"/>
          </a:ln>
        </p:spPr>
      </p:sp>
      <p:sp>
        <p:nvSpPr>
          <p:cNvPr id="11" name="Text 9"/>
          <p:cNvSpPr/>
          <p:nvPr/>
        </p:nvSpPr>
        <p:spPr>
          <a:xfrm>
            <a:off x="7589520" y="158191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7955280" y="1554480"/>
            <a:ext cx="3703320" cy="786384"/>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Find the two closest clusters in the distance matrix D.</a:t>
            </a:r>
            <a:endParaRPr lang="en-US" sz="1250" dirty="0"/>
          </a:p>
        </p:txBody>
      </p:sp>
      <p:sp>
        <p:nvSpPr>
          <p:cNvPr id="13" name="Shape 11"/>
          <p:cNvSpPr/>
          <p:nvPr/>
        </p:nvSpPr>
        <p:spPr>
          <a:xfrm>
            <a:off x="7589520" y="2404872"/>
            <a:ext cx="274320" cy="274320"/>
          </a:xfrm>
          <a:prstGeom prst="ellipse">
            <a:avLst/>
          </a:prstGeom>
          <a:solidFill>
            <a:srgbClr val="F2A20C"/>
          </a:solidFill>
          <a:ln w="12700">
            <a:solidFill>
              <a:srgbClr val="F2A20C"/>
            </a:solidFill>
            <a:prstDash val="solid"/>
          </a:ln>
        </p:spPr>
      </p:sp>
      <p:sp>
        <p:nvSpPr>
          <p:cNvPr id="14" name="Text 12"/>
          <p:cNvSpPr/>
          <p:nvPr/>
        </p:nvSpPr>
        <p:spPr>
          <a:xfrm>
            <a:off x="7589520" y="240487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7955280" y="2377440"/>
            <a:ext cx="3703320" cy="786384"/>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Distance from the merged cluster to every other cluster is computed from the two old distances: no need to revisit the raw points.</a:t>
            </a:r>
            <a:endParaRPr lang="en-US" sz="1250" dirty="0"/>
          </a:p>
        </p:txBody>
      </p:sp>
      <p:sp>
        <p:nvSpPr>
          <p:cNvPr id="16" name="Shape 14"/>
          <p:cNvSpPr/>
          <p:nvPr/>
        </p:nvSpPr>
        <p:spPr>
          <a:xfrm>
            <a:off x="7589520" y="3227832"/>
            <a:ext cx="274320" cy="274320"/>
          </a:xfrm>
          <a:prstGeom prst="ellipse">
            <a:avLst/>
          </a:prstGeom>
          <a:solidFill>
            <a:srgbClr val="F2A20C"/>
          </a:solidFill>
          <a:ln w="12700">
            <a:solidFill>
              <a:srgbClr val="F2A20C"/>
            </a:solidFill>
            <a:prstDash val="solid"/>
          </a:ln>
        </p:spPr>
      </p:sp>
      <p:sp>
        <p:nvSpPr>
          <p:cNvPr id="17" name="Text 15"/>
          <p:cNvSpPr/>
          <p:nvPr/>
        </p:nvSpPr>
        <p:spPr>
          <a:xfrm>
            <a:off x="7589520" y="322783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7955280" y="3200400"/>
            <a:ext cx="3703320" cy="786384"/>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Write the new distances into row and column a.</a:t>
            </a:r>
            <a:endParaRPr lang="en-US" sz="1250" dirty="0"/>
          </a:p>
        </p:txBody>
      </p:sp>
      <p:sp>
        <p:nvSpPr>
          <p:cNvPr id="19" name="Shape 17"/>
          <p:cNvSpPr/>
          <p:nvPr/>
        </p:nvSpPr>
        <p:spPr>
          <a:xfrm>
            <a:off x="7589520" y="4050792"/>
            <a:ext cx="274320" cy="274320"/>
          </a:xfrm>
          <a:prstGeom prst="ellipse">
            <a:avLst/>
          </a:prstGeom>
          <a:solidFill>
            <a:srgbClr val="F2A20C"/>
          </a:solidFill>
          <a:ln w="12700">
            <a:solidFill>
              <a:srgbClr val="F2A20C"/>
            </a:solidFill>
            <a:prstDash val="solid"/>
          </a:ln>
        </p:spPr>
      </p:sp>
      <p:sp>
        <p:nvSpPr>
          <p:cNvPr id="20" name="Text 18"/>
          <p:cNvSpPr/>
          <p:nvPr/>
        </p:nvSpPr>
        <p:spPr>
          <a:xfrm>
            <a:off x="7589520" y="405079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7955280" y="4023360"/>
            <a:ext cx="3703320" cy="786384"/>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Retire cluster b by setting its distances to infinity.</a:t>
            </a:r>
            <a:endParaRPr lang="en-US" sz="1250" dirty="0"/>
          </a:p>
        </p:txBody>
      </p:sp>
      <p:graphicFrame>
        <p:nvGraphicFramePr>
          <p:cNvPr id="22" name="Chart 0" descr=""/>
          <p:cNvGraphicFramePr/>
          <p:nvPr/>
        </p:nvGraphicFramePr>
        <p:xfrm>
          <a:off x="7589520" y="4297680"/>
          <a:ext cx="4069080" cy="2011680"/>
        </p:xfrm>
        <a:graphic xmlns:a="http://schemas.openxmlformats.org/drawingml/2006/main">
          <a:graphicData uri="http://schemas.openxmlformats.org/drawingml/2006/chart">
            <c:chart xmlns:c="http://schemas.openxmlformats.org/drawingml/2006/chart" r:id="rId1"/>
          </a:graphicData>
        </a:graphic>
      </p:graphicFrame>
      <p:sp>
        <p:nvSpPr>
          <p:cNvPr id="23" name="Shape 20"/>
          <p:cNvSpPr/>
          <p:nvPr/>
        </p:nvSpPr>
        <p:spPr>
          <a:xfrm>
            <a:off x="548640" y="5257800"/>
            <a:ext cx="2103120" cy="1051560"/>
          </a:xfrm>
          <a:prstGeom prst="rect">
            <a:avLst/>
          </a:prstGeom>
          <a:solidFill>
            <a:srgbClr val="F1F5F9"/>
          </a:solidFill>
          <a:ln w="12700">
            <a:solidFill>
              <a:srgbClr val="F1F5F9"/>
            </a:solidFill>
            <a:prstDash val="solid"/>
          </a:ln>
        </p:spPr>
      </p:sp>
      <p:sp>
        <p:nvSpPr>
          <p:cNvPr id="24" name="Text 21"/>
          <p:cNvSpPr/>
          <p:nvPr/>
        </p:nvSpPr>
        <p:spPr>
          <a:xfrm>
            <a:off x="548640" y="5349240"/>
            <a:ext cx="2103120" cy="578358"/>
          </a:xfrm>
          <a:prstGeom prst="rect">
            <a:avLst/>
          </a:prstGeom>
          <a:noFill/>
          <a:ln/>
        </p:spPr>
        <p:txBody>
          <a:bodyPr wrap="square" lIns="0" tIns="0" rIns="0" bIns="0" rtlCol="0" anchor="ctr"/>
          <a:lstStyle/>
          <a:p>
            <a:pPr algn="ctr" indent="0" marL="0">
              <a:buNone/>
            </a:pPr>
            <a:r>
              <a:rPr lang="en-US" sz="3000" b="1" dirty="0">
                <a:solidFill>
                  <a:srgbClr val="7C3AED"/>
                </a:solidFill>
                <a:latin typeface="Calibri" pitchFamily="34" charset="0"/>
                <a:ea typeface="Calibri" pitchFamily="34" charset="-122"/>
                <a:cs typeface="Calibri" pitchFamily="34" charset="-120"/>
              </a:rPr>
              <a:t>0.692</a:t>
            </a:r>
            <a:endParaRPr lang="en-US" sz="3000" dirty="0"/>
          </a:p>
        </p:txBody>
      </p:sp>
      <p:sp>
        <p:nvSpPr>
          <p:cNvPr id="25" name="Text 22"/>
          <p:cNvSpPr/>
          <p:nvPr/>
        </p:nvSpPr>
        <p:spPr>
          <a:xfrm>
            <a:off x="640080" y="5867705"/>
            <a:ext cx="1920240" cy="399593"/>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ARI (complete)</a:t>
            </a:r>
            <a:endParaRPr lang="en-US" sz="1150" dirty="0"/>
          </a:p>
        </p:txBody>
      </p:sp>
      <p:sp>
        <p:nvSpPr>
          <p:cNvPr id="26" name="Shape 23"/>
          <p:cNvSpPr/>
          <p:nvPr/>
        </p:nvSpPr>
        <p:spPr>
          <a:xfrm>
            <a:off x="2788920" y="5257800"/>
            <a:ext cx="2194560" cy="1051560"/>
          </a:xfrm>
          <a:prstGeom prst="rect">
            <a:avLst/>
          </a:prstGeom>
          <a:solidFill>
            <a:srgbClr val="F1F5F9"/>
          </a:solidFill>
          <a:ln w="12700">
            <a:solidFill>
              <a:srgbClr val="F1F5F9"/>
            </a:solidFill>
            <a:prstDash val="solid"/>
          </a:ln>
        </p:spPr>
      </p:sp>
      <p:sp>
        <p:nvSpPr>
          <p:cNvPr id="27" name="Text 24"/>
          <p:cNvSpPr/>
          <p:nvPr/>
        </p:nvSpPr>
        <p:spPr>
          <a:xfrm>
            <a:off x="2788920" y="5349240"/>
            <a:ext cx="2194560" cy="578358"/>
          </a:xfrm>
          <a:prstGeom prst="rect">
            <a:avLst/>
          </a:prstGeom>
          <a:noFill/>
          <a:ln/>
        </p:spPr>
        <p:txBody>
          <a:bodyPr wrap="square" lIns="0" tIns="0" rIns="0" bIns="0" rtlCol="0" anchor="ctr"/>
          <a:lstStyle/>
          <a:p>
            <a:pPr algn="ctr" indent="0" marL="0">
              <a:buNone/>
            </a:pPr>
            <a:r>
              <a:rPr lang="en-US" sz="3000" b="1" dirty="0">
                <a:solidFill>
                  <a:srgbClr val="7C3AED"/>
                </a:solidFill>
                <a:latin typeface="Calibri" pitchFamily="34" charset="0"/>
                <a:ea typeface="Calibri" pitchFamily="34" charset="-122"/>
                <a:cs typeface="Calibri" pitchFamily="34" charset="-120"/>
              </a:rPr>
              <a:t>80.5%</a:t>
            </a:r>
            <a:endParaRPr lang="en-US" sz="3000" dirty="0"/>
          </a:p>
        </p:txBody>
      </p:sp>
      <p:sp>
        <p:nvSpPr>
          <p:cNvPr id="28" name="Text 25"/>
          <p:cNvSpPr/>
          <p:nvPr/>
        </p:nvSpPr>
        <p:spPr>
          <a:xfrm>
            <a:off x="2880360" y="5867705"/>
            <a:ext cx="2011680" cy="399593"/>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after matching</a:t>
            </a:r>
            <a:endParaRPr lang="en-US" sz="1150" dirty="0"/>
          </a:p>
        </p:txBody>
      </p:sp>
      <p:sp>
        <p:nvSpPr>
          <p:cNvPr id="29" name="Shape 26"/>
          <p:cNvSpPr/>
          <p:nvPr/>
        </p:nvSpPr>
        <p:spPr>
          <a:xfrm>
            <a:off x="5120640" y="5257800"/>
            <a:ext cx="2194560" cy="1051560"/>
          </a:xfrm>
          <a:prstGeom prst="rect">
            <a:avLst/>
          </a:prstGeom>
          <a:solidFill>
            <a:srgbClr val="F1F5F9"/>
          </a:solidFill>
          <a:ln w="12700">
            <a:solidFill>
              <a:srgbClr val="F1F5F9"/>
            </a:solidFill>
            <a:prstDash val="solid"/>
          </a:ln>
        </p:spPr>
      </p:sp>
      <p:sp>
        <p:nvSpPr>
          <p:cNvPr id="30" name="Text 27"/>
          <p:cNvSpPr/>
          <p:nvPr/>
        </p:nvSpPr>
        <p:spPr>
          <a:xfrm>
            <a:off x="5120640" y="5349240"/>
            <a:ext cx="2194560" cy="578358"/>
          </a:xfrm>
          <a:prstGeom prst="rect">
            <a:avLst/>
          </a:prstGeom>
          <a:noFill/>
          <a:ln/>
        </p:spPr>
        <p:txBody>
          <a:bodyPr wrap="square" lIns="0" tIns="0" rIns="0" bIns="0" rtlCol="0" anchor="ctr"/>
          <a:lstStyle/>
          <a:p>
            <a:pPr algn="ctr" indent="0" marL="0">
              <a:buNone/>
            </a:pPr>
            <a:r>
              <a:rPr lang="en-US" sz="3000" b="1" dirty="0">
                <a:solidFill>
                  <a:srgbClr val="7C3AED"/>
                </a:solidFill>
                <a:latin typeface="Calibri" pitchFamily="34" charset="0"/>
                <a:ea typeface="Calibri" pitchFamily="34" charset="-122"/>
                <a:cs typeface="Calibri" pitchFamily="34" charset="-120"/>
              </a:rPr>
              <a:t>0.423</a:t>
            </a:r>
            <a:endParaRPr lang="en-US" sz="3000" dirty="0"/>
          </a:p>
        </p:txBody>
      </p:sp>
      <p:sp>
        <p:nvSpPr>
          <p:cNvPr id="31" name="Text 28"/>
          <p:cNvSpPr/>
          <p:nvPr/>
        </p:nvSpPr>
        <p:spPr>
          <a:xfrm>
            <a:off x="5212080" y="5867705"/>
            <a:ext cx="2011680" cy="399593"/>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silhouette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BEYOND UNIT 3: HMM</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HMM: now use the order of turns, not just the scores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pic>
        <p:nvPicPr>
          <p:cNvPr id="7" name="Image 0" descr="/tmp/claude-0/deck/fig/hmm.png">    </p:cNvPr>
          <p:cNvPicPr>
            <a:picLocks noChangeAspect="1"/>
          </p:cNvPicPr>
          <p:nvPr/>
        </p:nvPicPr>
        <p:blipFill>
          <a:blip r:embed="rId1"/>
          <a:stretch>
            <a:fillRect/>
          </a:stretch>
        </p:blipFill>
        <p:spPr>
          <a:xfrm>
            <a:off x="548640" y="1417320"/>
            <a:ext cx="6766560" cy="3218688"/>
          </a:xfrm>
          <a:prstGeom prst="rect">
            <a:avLst/>
          </a:prstGeom>
        </p:spPr>
      </p:pic>
      <p:sp>
        <p:nvSpPr>
          <p:cNvPr id="8" name="Text 5"/>
          <p:cNvSpPr/>
          <p:nvPr/>
        </p:nvSpPr>
        <p:spPr>
          <a:xfrm>
            <a:off x="7589520" y="1463040"/>
            <a:ext cx="4069080" cy="1188720"/>
          </a:xfrm>
          <a:prstGeom prst="rect">
            <a:avLst/>
          </a:prstGeom>
          <a:noFill/>
          <a:ln/>
        </p:spPr>
        <p:txBody>
          <a:bodyPr wrap="square" lIns="0" tIns="0" rIns="0" bIns="0" rtlCol="0" anchor="t"/>
          <a:lstStyle/>
          <a:p>
            <a:pPr indent="0" marL="0">
              <a:buNone/>
            </a:pPr>
            <a:r>
              <a:rPr lang="en-US" sz="1350" dirty="0">
                <a:solidFill>
                  <a:srgbClr val="334155"/>
                </a:solidFill>
                <a:latin typeface="Calibri" pitchFamily="34" charset="0"/>
                <a:ea typeface="Calibri" pitchFamily="34" charset="-122"/>
                <a:cs typeface="Calibri" pitchFamily="34" charset="-120"/>
              </a:rPr>
              <a:t>A hidden Markov model assumes a conversation moves through hidden states, one per turn, and each state emits scores like the ones we see.</a:t>
            </a:r>
            <a:endParaRPr lang="en-US" sz="1350" dirty="0"/>
          </a:p>
        </p:txBody>
      </p:sp>
      <p:sp>
        <p:nvSpPr>
          <p:cNvPr id="9" name="Text 6"/>
          <p:cNvSpPr/>
          <p:nvPr/>
        </p:nvSpPr>
        <p:spPr>
          <a:xfrm>
            <a:off x="7589520" y="2697480"/>
            <a:ext cx="406908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Learned from the data (no labels):</a:t>
            </a:r>
            <a:endParaRPr lang="en-US" sz="1300" dirty="0"/>
          </a:p>
        </p:txBody>
      </p:sp>
      <p:sp>
        <p:nvSpPr>
          <p:cNvPr id="10" name="Text 7"/>
          <p:cNvSpPr/>
          <p:nvPr/>
        </p:nvSpPr>
        <p:spPr>
          <a:xfrm>
            <a:off x="7589520" y="3017520"/>
            <a:ext cx="4069080" cy="16459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Transitions: the arrows and stay-probabilities on the left.</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Emissions: a Gaussian over the 3 scores per state. Mean p(refusal) in the first state is 0.82; mean p(full) in the last is 0.78.</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Decoding: the most likely state path for each conversation.</a:t>
            </a:r>
            <a:endParaRPr lang="en-US" sz="1250" dirty="0"/>
          </a:p>
        </p:txBody>
      </p:sp>
      <p:sp>
        <p:nvSpPr>
          <p:cNvPr id="11" name="Shape 8"/>
          <p:cNvSpPr/>
          <p:nvPr/>
        </p:nvSpPr>
        <p:spPr>
          <a:xfrm>
            <a:off x="548640" y="4846320"/>
            <a:ext cx="11109960" cy="1417320"/>
          </a:xfrm>
          <a:prstGeom prst="rect">
            <a:avLst/>
          </a:prstGeom>
          <a:solidFill>
            <a:srgbClr val="ECFDF5"/>
          </a:solidFill>
          <a:ln w="12700">
            <a:solidFill>
              <a:srgbClr val="ECFDF5"/>
            </a:solidFill>
            <a:prstDash val="solid"/>
          </a:ln>
        </p:spPr>
      </p:sp>
      <p:sp>
        <p:nvSpPr>
          <p:cNvPr id="12" name="Shape 9"/>
          <p:cNvSpPr/>
          <p:nvPr/>
        </p:nvSpPr>
        <p:spPr>
          <a:xfrm>
            <a:off x="548640" y="4846320"/>
            <a:ext cx="64008" cy="1417320"/>
          </a:xfrm>
          <a:prstGeom prst="rect">
            <a:avLst/>
          </a:prstGeom>
          <a:solidFill>
            <a:srgbClr val="0D9488"/>
          </a:solidFill>
          <a:ln w="12700">
            <a:solidFill>
              <a:srgbClr val="0D9488"/>
            </a:solidFill>
            <a:prstDash val="solid"/>
          </a:ln>
        </p:spPr>
      </p:sp>
      <p:sp>
        <p:nvSpPr>
          <p:cNvPr id="13" name="Text 10"/>
          <p:cNvSpPr/>
          <p:nvPr/>
        </p:nvSpPr>
        <p:spPr>
          <a:xfrm>
            <a:off x="749808" y="4846320"/>
            <a:ext cx="10789920" cy="141732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IN PLAIN WORDS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K-means and GMM look at one turn at a time. An HMM also knows that a refusal is often followed by another refusal, and that once a conversation reaches full violation it ends there. The "full violation" stay-probability of 0.99 is a stopping-rule artefact: simulated conversations stop at the first success, so no turn follows it.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BEYOND UNIT 3: HMM</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HMM in the code: hmmlearn runs EM, we do the scoring</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
        <p:nvSpPr>
          <p:cNvPr id="7" name="Shape 5"/>
          <p:cNvSpPr/>
          <p:nvPr/>
        </p:nvSpPr>
        <p:spPr>
          <a:xfrm>
            <a:off x="548640" y="1508760"/>
            <a:ext cx="6949440" cy="3200400"/>
          </a:xfrm>
          <a:prstGeom prst="rect">
            <a:avLst/>
          </a:prstGeom>
          <a:solidFill>
            <a:srgbClr val="0F172A"/>
          </a:solidFill>
          <a:ln w="12700">
            <a:solidFill>
              <a:srgbClr val="0F172A"/>
            </a:solidFill>
            <a:prstDash val="solid"/>
          </a:ln>
        </p:spPr>
      </p:sp>
      <p:sp>
        <p:nvSpPr>
          <p:cNvPr id="8" name="Text 6"/>
          <p:cNvSpPr/>
          <p:nvPr/>
        </p:nvSpPr>
        <p:spPr>
          <a:xfrm>
            <a:off x="731520" y="1581912"/>
            <a:ext cx="658368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src/analysis/compliance_hmm.py (excerpt)</a:t>
            </a:r>
            <a:endParaRPr lang="en-US" sz="1050" dirty="0"/>
          </a:p>
        </p:txBody>
      </p:sp>
      <p:sp>
        <p:nvSpPr>
          <p:cNvPr id="9" name="Text 7"/>
          <p:cNvSpPr/>
          <p:nvPr/>
        </p:nvSpPr>
        <p:spPr>
          <a:xfrm>
            <a:off x="731520" y="1874520"/>
            <a:ext cx="6583680" cy="2743200"/>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model = GaussianHMM(n_components=3,</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covariance_type="diag",</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n_iter=200, random_state=42)</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model.fit(X, lengths)</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(1)</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decoded_states = model.predict(X, lengths)</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(2)</a:t>
            </a:r>
            <a:endParaRPr lang="en-US" sz="1250" dirty="0"/>
          </a:p>
          <a:p>
            <a:pPr indent="0" marL="0">
              <a:spcAft>
                <a:spcPts val="200"/>
              </a:spcAft>
              <a:buNone/>
            </a:pPr>
            <a:endParaRPr lang="en-US" sz="1250" dirty="0"/>
          </a:p>
          <a:p>
            <a:pPr indent="0" marL="0">
              <a:spcAft>
                <a:spcPts val="200"/>
              </a:spcAft>
              <a:buNone/>
            </a:pPr>
            <a:r>
              <a:rPr lang="en-US" sz="1250" dirty="0">
                <a:solidFill>
                  <a:srgbClr val="94A3B8"/>
                </a:solidFill>
                <a:latin typeface="Consolas" pitchFamily="34" charset="0"/>
                <a:ea typeface="Consolas" pitchFamily="34" charset="-122"/>
                <a:cs typeface="Consolas" pitchFamily="34" charset="-120"/>
              </a:rPr>
              <a:t># decoded state ids are arbitrary: align to truth</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cm = confusion_matrix(true_codes, decoded_states)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row_ind, col_ind = linear_sum_assignment(-cm)</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(3)</a:t>
            </a:r>
            <a:endParaRPr lang="en-US" sz="1250" dirty="0"/>
          </a:p>
        </p:txBody>
      </p:sp>
      <p:sp>
        <p:nvSpPr>
          <p:cNvPr id="10" name="Shape 8"/>
          <p:cNvSpPr/>
          <p:nvPr/>
        </p:nvSpPr>
        <p:spPr>
          <a:xfrm>
            <a:off x="7772400" y="1581912"/>
            <a:ext cx="274320" cy="274320"/>
          </a:xfrm>
          <a:prstGeom prst="ellipse">
            <a:avLst/>
          </a:prstGeom>
          <a:solidFill>
            <a:srgbClr val="F2A20C"/>
          </a:solidFill>
          <a:ln w="12700">
            <a:solidFill>
              <a:srgbClr val="F2A20C"/>
            </a:solidFill>
            <a:prstDash val="solid"/>
          </a:ln>
        </p:spPr>
      </p:sp>
      <p:sp>
        <p:nvSpPr>
          <p:cNvPr id="11" name="Text 9"/>
          <p:cNvSpPr/>
          <p:nvPr/>
        </p:nvSpPr>
        <p:spPr>
          <a:xfrm>
            <a:off x="7772400" y="158191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8138160" y="1554480"/>
            <a:ext cx="3520440" cy="923544"/>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lengths tells the model where one conversation ends and the next begins, so transitions never cross conversations.</a:t>
            </a:r>
            <a:endParaRPr lang="en-US" sz="1250" dirty="0"/>
          </a:p>
        </p:txBody>
      </p:sp>
      <p:sp>
        <p:nvSpPr>
          <p:cNvPr id="13" name="Shape 11"/>
          <p:cNvSpPr/>
          <p:nvPr/>
        </p:nvSpPr>
        <p:spPr>
          <a:xfrm>
            <a:off x="7772400" y="2542032"/>
            <a:ext cx="274320" cy="274320"/>
          </a:xfrm>
          <a:prstGeom prst="ellipse">
            <a:avLst/>
          </a:prstGeom>
          <a:solidFill>
            <a:srgbClr val="F2A20C"/>
          </a:solidFill>
          <a:ln w="12700">
            <a:solidFill>
              <a:srgbClr val="F2A20C"/>
            </a:solidFill>
            <a:prstDash val="solid"/>
          </a:ln>
        </p:spPr>
      </p:sp>
      <p:sp>
        <p:nvSpPr>
          <p:cNvPr id="14" name="Text 12"/>
          <p:cNvSpPr/>
          <p:nvPr/>
        </p:nvSpPr>
        <p:spPr>
          <a:xfrm>
            <a:off x="7772400" y="254203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8138160" y="2514600"/>
            <a:ext cx="3520440" cy="923544"/>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Viterbi decoding: the single most likely state path.</a:t>
            </a:r>
            <a:endParaRPr lang="en-US" sz="1250" dirty="0"/>
          </a:p>
        </p:txBody>
      </p:sp>
      <p:sp>
        <p:nvSpPr>
          <p:cNvPr id="16" name="Shape 14"/>
          <p:cNvSpPr/>
          <p:nvPr/>
        </p:nvSpPr>
        <p:spPr>
          <a:xfrm>
            <a:off x="7772400" y="3502152"/>
            <a:ext cx="274320" cy="274320"/>
          </a:xfrm>
          <a:prstGeom prst="ellipse">
            <a:avLst/>
          </a:prstGeom>
          <a:solidFill>
            <a:srgbClr val="F2A20C"/>
          </a:solidFill>
          <a:ln w="12700">
            <a:solidFill>
              <a:srgbClr val="F2A20C"/>
            </a:solidFill>
            <a:prstDash val="solid"/>
          </a:ln>
        </p:spPr>
      </p:sp>
      <p:sp>
        <p:nvSpPr>
          <p:cNvPr id="17" name="Text 15"/>
          <p:cNvSpPr/>
          <p:nvPr/>
        </p:nvSpPr>
        <p:spPr>
          <a:xfrm>
            <a:off x="7772400" y="350215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8138160" y="3474720"/>
            <a:ext cx="3520440" cy="923544"/>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Hungarian algorithm: the best one-to-one naming of states, found without trying every permutation.</a:t>
            </a:r>
            <a:endParaRPr lang="en-US" sz="1250" dirty="0"/>
          </a:p>
        </p:txBody>
      </p:sp>
      <p:sp>
        <p:nvSpPr>
          <p:cNvPr id="19" name="Shape 17"/>
          <p:cNvSpPr/>
          <p:nvPr/>
        </p:nvSpPr>
        <p:spPr>
          <a:xfrm>
            <a:off x="548640" y="4892040"/>
            <a:ext cx="2194560" cy="1371600"/>
          </a:xfrm>
          <a:prstGeom prst="rect">
            <a:avLst/>
          </a:prstGeom>
          <a:solidFill>
            <a:srgbClr val="F1F5F9"/>
          </a:solidFill>
          <a:ln w="12700">
            <a:solidFill>
              <a:srgbClr val="F1F5F9"/>
            </a:solidFill>
            <a:prstDash val="solid"/>
          </a:ln>
        </p:spPr>
      </p:sp>
      <p:sp>
        <p:nvSpPr>
          <p:cNvPr id="20" name="Text 18"/>
          <p:cNvSpPr/>
          <p:nvPr/>
        </p:nvSpPr>
        <p:spPr>
          <a:xfrm>
            <a:off x="548640" y="4983480"/>
            <a:ext cx="2194560" cy="754380"/>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95.1%</a:t>
            </a:r>
            <a:endParaRPr lang="en-US" sz="3000" dirty="0"/>
          </a:p>
        </p:txBody>
      </p:sp>
      <p:sp>
        <p:nvSpPr>
          <p:cNvPr id="21" name="Text 19"/>
          <p:cNvSpPr/>
          <p:nvPr/>
        </p:nvSpPr>
        <p:spPr>
          <a:xfrm>
            <a:off x="640080" y="5687568"/>
            <a:ext cx="2011680" cy="521208"/>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accuracy after matching</a:t>
            </a:r>
            <a:endParaRPr lang="en-US" sz="1150" dirty="0"/>
          </a:p>
        </p:txBody>
      </p:sp>
      <p:sp>
        <p:nvSpPr>
          <p:cNvPr id="22" name="Shape 20"/>
          <p:cNvSpPr/>
          <p:nvPr/>
        </p:nvSpPr>
        <p:spPr>
          <a:xfrm>
            <a:off x="2880360" y="4892040"/>
            <a:ext cx="2194560" cy="1371600"/>
          </a:xfrm>
          <a:prstGeom prst="rect">
            <a:avLst/>
          </a:prstGeom>
          <a:solidFill>
            <a:srgbClr val="F1F5F9"/>
          </a:solidFill>
          <a:ln w="12700">
            <a:solidFill>
              <a:srgbClr val="F1F5F9"/>
            </a:solidFill>
            <a:prstDash val="solid"/>
          </a:ln>
        </p:spPr>
      </p:sp>
      <p:sp>
        <p:nvSpPr>
          <p:cNvPr id="23" name="Text 21"/>
          <p:cNvSpPr/>
          <p:nvPr/>
        </p:nvSpPr>
        <p:spPr>
          <a:xfrm>
            <a:off x="2880360" y="4983480"/>
            <a:ext cx="2194560" cy="754380"/>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0.868</a:t>
            </a:r>
            <a:endParaRPr lang="en-US" sz="3000" dirty="0"/>
          </a:p>
        </p:txBody>
      </p:sp>
      <p:sp>
        <p:nvSpPr>
          <p:cNvPr id="24" name="Text 22"/>
          <p:cNvSpPr/>
          <p:nvPr/>
        </p:nvSpPr>
        <p:spPr>
          <a:xfrm>
            <a:off x="2971800" y="5687568"/>
            <a:ext cx="2011680" cy="521208"/>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ARI vs true state</a:t>
            </a:r>
            <a:endParaRPr lang="en-US" sz="1150" dirty="0"/>
          </a:p>
        </p:txBody>
      </p:sp>
      <p:sp>
        <p:nvSpPr>
          <p:cNvPr id="25" name="Shape 23"/>
          <p:cNvSpPr/>
          <p:nvPr/>
        </p:nvSpPr>
        <p:spPr>
          <a:xfrm>
            <a:off x="5212080" y="4892040"/>
            <a:ext cx="2286000" cy="1371600"/>
          </a:xfrm>
          <a:prstGeom prst="rect">
            <a:avLst/>
          </a:prstGeom>
          <a:solidFill>
            <a:srgbClr val="F1F5F9"/>
          </a:solidFill>
          <a:ln w="12700">
            <a:solidFill>
              <a:srgbClr val="F1F5F9"/>
            </a:solidFill>
            <a:prstDash val="solid"/>
          </a:ln>
        </p:spPr>
      </p:sp>
      <p:sp>
        <p:nvSpPr>
          <p:cNvPr id="26" name="Text 24"/>
          <p:cNvSpPr/>
          <p:nvPr/>
        </p:nvSpPr>
        <p:spPr>
          <a:xfrm>
            <a:off x="5212080" y="4983480"/>
            <a:ext cx="2286000" cy="754380"/>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1819</a:t>
            </a:r>
            <a:endParaRPr lang="en-US" sz="3000" dirty="0"/>
          </a:p>
        </p:txBody>
      </p:sp>
      <p:sp>
        <p:nvSpPr>
          <p:cNvPr id="27" name="Text 25"/>
          <p:cNvSpPr/>
          <p:nvPr/>
        </p:nvSpPr>
        <p:spPr>
          <a:xfrm>
            <a:off x="5303520" y="5687568"/>
            <a:ext cx="2103120" cy="521208"/>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log-likelihood</a:t>
            </a:r>
            <a:endParaRPr lang="en-US" sz="1150" dirty="0"/>
          </a:p>
        </p:txBody>
      </p:sp>
      <p:sp>
        <p:nvSpPr>
          <p:cNvPr id="28" name="Shape 26"/>
          <p:cNvSpPr/>
          <p:nvPr/>
        </p:nvSpPr>
        <p:spPr>
          <a:xfrm>
            <a:off x="7772400" y="4892040"/>
            <a:ext cx="3886200" cy="1371600"/>
          </a:xfrm>
          <a:prstGeom prst="rect">
            <a:avLst/>
          </a:prstGeom>
          <a:solidFill>
            <a:srgbClr val="ECFDF5"/>
          </a:solidFill>
          <a:ln w="12700">
            <a:solidFill>
              <a:srgbClr val="ECFDF5"/>
            </a:solidFill>
            <a:prstDash val="solid"/>
          </a:ln>
        </p:spPr>
      </p:sp>
      <p:sp>
        <p:nvSpPr>
          <p:cNvPr id="29" name="Shape 27"/>
          <p:cNvSpPr/>
          <p:nvPr/>
        </p:nvSpPr>
        <p:spPr>
          <a:xfrm>
            <a:off x="7772400" y="4892040"/>
            <a:ext cx="64008" cy="1371600"/>
          </a:xfrm>
          <a:prstGeom prst="rect">
            <a:avLst/>
          </a:prstGeom>
          <a:solidFill>
            <a:srgbClr val="0D9488"/>
          </a:solidFill>
          <a:ln w="12700">
            <a:solidFill>
              <a:srgbClr val="0D9488"/>
            </a:solidFill>
            <a:prstDash val="solid"/>
          </a:ln>
        </p:spPr>
      </p:sp>
      <p:sp>
        <p:nvSpPr>
          <p:cNvPr id="30" name="Text 28"/>
          <p:cNvSpPr/>
          <p:nvPr/>
        </p:nvSpPr>
        <p:spPr>
          <a:xfrm>
            <a:off x="7973568" y="4892040"/>
            <a:ext cx="3566160" cy="137160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HONEST NOTE</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This part uses the hmmlearn library; the NumPy-from-scratch models are PCA, K-means, GMM-EM and hierarchical.</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REVIEW 2 DELIVERABLE</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K-means with only Python built-ins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
        <p:nvSpPr>
          <p:cNvPr id="7" name="Shape 5"/>
          <p:cNvSpPr/>
          <p:nvPr/>
        </p:nvSpPr>
        <p:spPr>
          <a:xfrm>
            <a:off x="548640" y="1508760"/>
            <a:ext cx="6858000" cy="3657600"/>
          </a:xfrm>
          <a:prstGeom prst="rect">
            <a:avLst/>
          </a:prstGeom>
          <a:solidFill>
            <a:srgbClr val="0F172A"/>
          </a:solidFill>
          <a:ln w="12700">
            <a:solidFill>
              <a:srgbClr val="0F172A"/>
            </a:solidFill>
            <a:prstDash val="solid"/>
          </a:ln>
        </p:spPr>
      </p:sp>
      <p:sp>
        <p:nvSpPr>
          <p:cNvPr id="8" name="Text 6"/>
          <p:cNvSpPr/>
          <p:nvPr/>
        </p:nvSpPr>
        <p:spPr>
          <a:xfrm>
            <a:off x="731520" y="1581912"/>
            <a:ext cx="649224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review2_kmeans_pure_python.py (excerpt)</a:t>
            </a:r>
            <a:endParaRPr lang="en-US" sz="1050" dirty="0"/>
          </a:p>
        </p:txBody>
      </p:sp>
      <p:sp>
        <p:nvSpPr>
          <p:cNvPr id="9" name="Text 7"/>
          <p:cNvSpPr/>
          <p:nvPr/>
        </p:nvSpPr>
        <p:spPr>
          <a:xfrm>
            <a:off x="731520" y="1874520"/>
            <a:ext cx="6492240" cy="3200400"/>
          </a:xfrm>
          <a:prstGeom prst="rect">
            <a:avLst/>
          </a:prstGeom>
          <a:noFill/>
          <a:ln/>
        </p:spPr>
        <p:txBody>
          <a:bodyPr wrap="square" lIns="0" tIns="0" rIns="0" bIns="0" rtlCol="0" anchor="t"/>
          <a:lstStyle/>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def squared_distance(a, b):</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return sum((a[j] - b[j]) ** 2 for j in range(len(a)))</a:t>
            </a:r>
            <a:endParaRPr lang="en-US" sz="1250" dirty="0"/>
          </a:p>
          <a:p>
            <a:pPr indent="0" marL="0">
              <a:spcAft>
                <a:spcPts val="200"/>
              </a:spcAft>
              <a:buNone/>
            </a:pPr>
            <a:endParaRPr lang="en-US" sz="1250" dirty="0"/>
          </a:p>
          <a:p>
            <a:pPr indent="0" marL="0">
              <a:spcAft>
                <a:spcPts val="200"/>
              </a:spcAft>
              <a:buNone/>
            </a:pPr>
            <a:r>
              <a:rPr lang="en-US" sz="1250" dirty="0">
                <a:solidFill>
                  <a:srgbClr val="94A3B8"/>
                </a:solidFill>
                <a:latin typeface="Consolas" pitchFamily="34" charset="0"/>
                <a:ea typeface="Consolas" pitchFamily="34" charset="-122"/>
                <a:cs typeface="Consolas" pitchFamily="34" charset="-120"/>
              </a:rPr>
              <a:t># deterministic farthest-first initialization</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centers = [rows[0][:]]</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while len(centers) &lt; k:</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chosen = max(rows, key=lambda row: min(</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(1)</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squared_distance(row, c) for c in centers))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centers.append(chosen[:])</a:t>
            </a:r>
            <a:endParaRPr lang="en-US" sz="1250" dirty="0"/>
          </a:p>
          <a:p>
            <a:pPr indent="0" marL="0">
              <a:spcAft>
                <a:spcPts val="200"/>
              </a:spcAft>
              <a:buNone/>
            </a:pP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for iteration in range(max_iterations):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new_labels = [min(range(k), key=lambda j:</a:t>
            </a:r>
            <a:pPr indent="0" marL="0">
              <a:spcAft>
                <a:spcPts val="200"/>
              </a:spcAft>
              <a:buNone/>
            </a:pPr>
            <a:r>
              <a:rPr lang="en-US" sz="1250" b="1" dirty="0">
                <a:solidFill>
                  <a:srgbClr val="F2A20C"/>
                </a:solidFill>
                <a:latin typeface="Consolas" pitchFamily="34" charset="0"/>
                <a:ea typeface="Consolas" pitchFamily="34" charset="-122"/>
                <a:cs typeface="Consolas" pitchFamily="34" charset="-120"/>
              </a:rPr>
              <a:t>  (2)</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squared_distance(row, centers[j])) for row in rows]</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if new_labels == labels: break</a:t>
            </a:r>
            <a:endParaRPr lang="en-US" sz="1250" dirty="0"/>
          </a:p>
        </p:txBody>
      </p:sp>
      <p:sp>
        <p:nvSpPr>
          <p:cNvPr id="10" name="Shape 8"/>
          <p:cNvSpPr/>
          <p:nvPr/>
        </p:nvSpPr>
        <p:spPr>
          <a:xfrm>
            <a:off x="7680960" y="1581912"/>
            <a:ext cx="274320" cy="274320"/>
          </a:xfrm>
          <a:prstGeom prst="ellipse">
            <a:avLst/>
          </a:prstGeom>
          <a:solidFill>
            <a:srgbClr val="F2A20C"/>
          </a:solidFill>
          <a:ln w="12700">
            <a:solidFill>
              <a:srgbClr val="F2A20C"/>
            </a:solidFill>
            <a:prstDash val="solid"/>
          </a:ln>
        </p:spPr>
      </p:sp>
      <p:sp>
        <p:nvSpPr>
          <p:cNvPr id="11" name="Text 9"/>
          <p:cNvSpPr/>
          <p:nvPr/>
        </p:nvSpPr>
        <p:spPr>
          <a:xfrm>
            <a:off x="7680960" y="158191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8046720" y="1554480"/>
            <a:ext cx="3611880" cy="1197864"/>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No imports at all: the next centre is the point farthest from all current centres, so the run needs no random numbers and is repeatable.</a:t>
            </a:r>
            <a:endParaRPr lang="en-US" sz="1250" dirty="0"/>
          </a:p>
        </p:txBody>
      </p:sp>
      <p:sp>
        <p:nvSpPr>
          <p:cNvPr id="13" name="Shape 11"/>
          <p:cNvSpPr/>
          <p:nvPr/>
        </p:nvSpPr>
        <p:spPr>
          <a:xfrm>
            <a:off x="7680960" y="2816352"/>
            <a:ext cx="274320" cy="274320"/>
          </a:xfrm>
          <a:prstGeom prst="ellipse">
            <a:avLst/>
          </a:prstGeom>
          <a:solidFill>
            <a:srgbClr val="F2A20C"/>
          </a:solidFill>
          <a:ln w="12700">
            <a:solidFill>
              <a:srgbClr val="F2A20C"/>
            </a:solidFill>
            <a:prstDash val="solid"/>
          </a:ln>
        </p:spPr>
      </p:sp>
      <p:sp>
        <p:nvSpPr>
          <p:cNvPr id="14" name="Text 12"/>
          <p:cNvSpPr/>
          <p:nvPr/>
        </p:nvSpPr>
        <p:spPr>
          <a:xfrm>
            <a:off x="7680960" y="2816352"/>
            <a:ext cx="27432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8046720" y="2788920"/>
            <a:ext cx="3611880" cy="1197864"/>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Assignment loop written with min() and lambda instead of NumPy.</a:t>
            </a:r>
            <a:endParaRPr lang="en-US" sz="1250" dirty="0"/>
          </a:p>
        </p:txBody>
      </p:sp>
      <p:sp>
        <p:nvSpPr>
          <p:cNvPr id="16" name="Shape 14"/>
          <p:cNvSpPr/>
          <p:nvPr/>
        </p:nvSpPr>
        <p:spPr>
          <a:xfrm>
            <a:off x="548640" y="5349240"/>
            <a:ext cx="2286000" cy="960120"/>
          </a:xfrm>
          <a:prstGeom prst="rect">
            <a:avLst/>
          </a:prstGeom>
          <a:solidFill>
            <a:srgbClr val="F1F5F9"/>
          </a:solidFill>
          <a:ln w="12700">
            <a:solidFill>
              <a:srgbClr val="F1F5F9"/>
            </a:solidFill>
            <a:prstDash val="solid"/>
          </a:ln>
        </p:spPr>
      </p:sp>
      <p:sp>
        <p:nvSpPr>
          <p:cNvPr id="17" name="Text 15"/>
          <p:cNvSpPr/>
          <p:nvPr/>
        </p:nvSpPr>
        <p:spPr>
          <a:xfrm>
            <a:off x="548640" y="5440680"/>
            <a:ext cx="2286000" cy="52806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5</a:t>
            </a:r>
            <a:endParaRPr lang="en-US" sz="3000" dirty="0"/>
          </a:p>
        </p:txBody>
      </p:sp>
      <p:sp>
        <p:nvSpPr>
          <p:cNvPr id="18" name="Text 16"/>
          <p:cNvSpPr/>
          <p:nvPr/>
        </p:nvSpPr>
        <p:spPr>
          <a:xfrm>
            <a:off x="640080" y="5906110"/>
            <a:ext cx="2103120" cy="364846"/>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iterations to converge</a:t>
            </a:r>
            <a:endParaRPr lang="en-US" sz="1150" dirty="0"/>
          </a:p>
        </p:txBody>
      </p:sp>
      <p:sp>
        <p:nvSpPr>
          <p:cNvPr id="19" name="Shape 17"/>
          <p:cNvSpPr/>
          <p:nvPr/>
        </p:nvSpPr>
        <p:spPr>
          <a:xfrm>
            <a:off x="2971800" y="5349240"/>
            <a:ext cx="2286000" cy="960120"/>
          </a:xfrm>
          <a:prstGeom prst="rect">
            <a:avLst/>
          </a:prstGeom>
          <a:solidFill>
            <a:srgbClr val="F1F5F9"/>
          </a:solidFill>
          <a:ln w="12700">
            <a:solidFill>
              <a:srgbClr val="F1F5F9"/>
            </a:solidFill>
            <a:prstDash val="solid"/>
          </a:ln>
        </p:spPr>
      </p:sp>
      <p:sp>
        <p:nvSpPr>
          <p:cNvPr id="20" name="Text 18"/>
          <p:cNvSpPr/>
          <p:nvPr/>
        </p:nvSpPr>
        <p:spPr>
          <a:xfrm>
            <a:off x="2971800" y="5440680"/>
            <a:ext cx="2286000" cy="52806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415.197</a:t>
            </a:r>
            <a:endParaRPr lang="en-US" sz="3000" dirty="0"/>
          </a:p>
        </p:txBody>
      </p:sp>
      <p:sp>
        <p:nvSpPr>
          <p:cNvPr id="21" name="Text 19"/>
          <p:cNvSpPr/>
          <p:nvPr/>
        </p:nvSpPr>
        <p:spPr>
          <a:xfrm>
            <a:off x="3063240" y="5906110"/>
            <a:ext cx="2103120" cy="364846"/>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distortion J</a:t>
            </a:r>
            <a:endParaRPr lang="en-US" sz="1150" dirty="0"/>
          </a:p>
        </p:txBody>
      </p:sp>
      <p:sp>
        <p:nvSpPr>
          <p:cNvPr id="22" name="Shape 20"/>
          <p:cNvSpPr/>
          <p:nvPr/>
        </p:nvSpPr>
        <p:spPr>
          <a:xfrm>
            <a:off x="5394960" y="5349240"/>
            <a:ext cx="2011680" cy="960120"/>
          </a:xfrm>
          <a:prstGeom prst="rect">
            <a:avLst/>
          </a:prstGeom>
          <a:solidFill>
            <a:srgbClr val="F1F5F9"/>
          </a:solidFill>
          <a:ln w="12700">
            <a:solidFill>
              <a:srgbClr val="F1F5F9"/>
            </a:solidFill>
            <a:prstDash val="solid"/>
          </a:ln>
        </p:spPr>
      </p:sp>
      <p:sp>
        <p:nvSpPr>
          <p:cNvPr id="23" name="Text 21"/>
          <p:cNvSpPr/>
          <p:nvPr/>
        </p:nvSpPr>
        <p:spPr>
          <a:xfrm>
            <a:off x="5394960" y="5440680"/>
            <a:ext cx="2011680" cy="528066"/>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96.9%</a:t>
            </a:r>
            <a:endParaRPr lang="en-US" sz="3000" dirty="0"/>
          </a:p>
        </p:txBody>
      </p:sp>
      <p:sp>
        <p:nvSpPr>
          <p:cNvPr id="24" name="Text 22"/>
          <p:cNvSpPr/>
          <p:nvPr/>
        </p:nvSpPr>
        <p:spPr>
          <a:xfrm>
            <a:off x="5486400" y="5906110"/>
            <a:ext cx="1828800" cy="364846"/>
          </a:xfrm>
          <a:prstGeom prst="rect">
            <a:avLst/>
          </a:prstGeom>
          <a:noFill/>
          <a:ln/>
        </p:spPr>
        <p:txBody>
          <a:bodyPr wrap="square" lIns="0" tIns="0" rIns="0" bIns="0" rtlCol="0" anchor="t"/>
          <a:lstStyle/>
          <a:p>
            <a:pPr algn="ctr" indent="0" marL="0">
              <a:buNone/>
            </a:pPr>
            <a:r>
              <a:rPr lang="en-US" sz="1150" dirty="0">
                <a:solidFill>
                  <a:srgbClr val="334155"/>
                </a:solidFill>
                <a:latin typeface="Calibri" pitchFamily="34" charset="0"/>
                <a:ea typeface="Calibri" pitchFamily="34" charset="-122"/>
                <a:cs typeface="Calibri" pitchFamily="34" charset="-120"/>
              </a:rPr>
              <a:t>matched accuracy</a:t>
            </a:r>
            <a:endParaRPr lang="en-US" sz="1150" dirty="0"/>
          </a:p>
        </p:txBody>
      </p:sp>
      <p:sp>
        <p:nvSpPr>
          <p:cNvPr id="25" name="Shape 23"/>
          <p:cNvSpPr/>
          <p:nvPr/>
        </p:nvSpPr>
        <p:spPr>
          <a:xfrm>
            <a:off x="7680960" y="4160520"/>
            <a:ext cx="3977640" cy="2148840"/>
          </a:xfrm>
          <a:prstGeom prst="rect">
            <a:avLst/>
          </a:prstGeom>
          <a:solidFill>
            <a:srgbClr val="ECFDF5"/>
          </a:solidFill>
          <a:ln w="12700">
            <a:solidFill>
              <a:srgbClr val="ECFDF5"/>
            </a:solidFill>
            <a:prstDash val="solid"/>
          </a:ln>
        </p:spPr>
      </p:sp>
      <p:sp>
        <p:nvSpPr>
          <p:cNvPr id="26" name="Shape 24"/>
          <p:cNvSpPr/>
          <p:nvPr/>
        </p:nvSpPr>
        <p:spPr>
          <a:xfrm>
            <a:off x="7680960" y="4160520"/>
            <a:ext cx="64008" cy="2148840"/>
          </a:xfrm>
          <a:prstGeom prst="rect">
            <a:avLst/>
          </a:prstGeom>
          <a:solidFill>
            <a:srgbClr val="0D9488"/>
          </a:solidFill>
          <a:ln w="12700">
            <a:solidFill>
              <a:srgbClr val="0D9488"/>
            </a:solidFill>
            <a:prstDash val="solid"/>
          </a:ln>
        </p:spPr>
      </p:sp>
      <p:sp>
        <p:nvSpPr>
          <p:cNvPr id="27" name="Text 25"/>
          <p:cNvSpPr/>
          <p:nvPr/>
        </p:nvSpPr>
        <p:spPr>
          <a:xfrm>
            <a:off x="7882128" y="4160520"/>
            <a:ext cx="3657600" cy="214884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WHAT IT SHOWS</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It reads data/review2_judge_scores.csv (978 rows), uses only the three score columns to fit, and looks at the true state only afterwards. It reaches the same 96.9% as the NumPy version, from three independent implementations in total.</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RESULTS</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Without labels, 95-97% of states are recovered; metadata alone, 56%</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graphicFrame>
        <p:nvGraphicFramePr>
          <p:cNvPr id="7" name="Chart 0" descr=""/>
          <p:cNvGraphicFramePr/>
          <p:nvPr/>
        </p:nvGraphicFramePr>
        <p:xfrm>
          <a:off x="548640" y="1463040"/>
          <a:ext cx="603504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0" y="1554480"/>
          <a:ext cx="4800600" cy="914400"/>
        </p:xfrm>
        <a:graphic>
          <a:graphicData uri="http://schemas.openxmlformats.org/drawingml/2006/table">
            <a:tbl>
              <a:tblPr/>
              <a:tblGrid>
                <a:gridCol w="1783080"/>
                <a:gridCol w="914400"/>
                <a:gridCol w="1188720"/>
                <a:gridCol w="91440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ARI</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Silh.</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365760">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K-means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0.924</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0.969</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0.684</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GMM-EM</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0.865</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0.951</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0.652</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Hierarchical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0.692</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0.805</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0.423</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HMM</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0.868</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0.951</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DBSCAN (PBL-I)</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0.883</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0.725</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9" name="Text 5"/>
          <p:cNvSpPr/>
          <p:nvPr/>
        </p:nvSpPr>
        <p:spPr>
          <a:xfrm>
            <a:off x="6858000" y="3840480"/>
            <a:ext cx="4800600" cy="54864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Hierarchical works on 220 conversations, the others on 978 turns, so its row is not a like-for-like comparison.</a:t>
            </a:r>
            <a:endParaRPr lang="en-US" sz="1150" dirty="0"/>
          </a:p>
        </p:txBody>
      </p:sp>
      <p:sp>
        <p:nvSpPr>
          <p:cNvPr id="10" name="Shape 6"/>
          <p:cNvSpPr/>
          <p:nvPr/>
        </p:nvSpPr>
        <p:spPr>
          <a:xfrm>
            <a:off x="6858000" y="4526280"/>
            <a:ext cx="4800600" cy="1783080"/>
          </a:xfrm>
          <a:prstGeom prst="rect">
            <a:avLst/>
          </a:prstGeom>
          <a:solidFill>
            <a:srgbClr val="ECFDF5"/>
          </a:solidFill>
          <a:ln w="12700">
            <a:solidFill>
              <a:srgbClr val="ECFDF5"/>
            </a:solidFill>
            <a:prstDash val="solid"/>
          </a:ln>
        </p:spPr>
      </p:sp>
      <p:sp>
        <p:nvSpPr>
          <p:cNvPr id="11" name="Shape 7"/>
          <p:cNvSpPr/>
          <p:nvPr/>
        </p:nvSpPr>
        <p:spPr>
          <a:xfrm>
            <a:off x="6858000" y="4526280"/>
            <a:ext cx="64008" cy="1783080"/>
          </a:xfrm>
          <a:prstGeom prst="rect">
            <a:avLst/>
          </a:prstGeom>
          <a:solidFill>
            <a:srgbClr val="0D9488"/>
          </a:solidFill>
          <a:ln w="12700">
            <a:solidFill>
              <a:srgbClr val="0D9488"/>
            </a:solidFill>
            <a:prstDash val="solid"/>
          </a:ln>
        </p:spPr>
      </p:sp>
      <p:sp>
        <p:nvSpPr>
          <p:cNvPr id="12" name="Text 8"/>
          <p:cNvSpPr/>
          <p:nvPr/>
        </p:nvSpPr>
        <p:spPr>
          <a:xfrm>
            <a:off x="7059168" y="4526280"/>
            <a:ext cx="4480560" cy="178308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TAKEAWAY</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Adding judge scores lifts recovery from 56% to about 95 to 97%. The judge score is the information; clustering finds it without anyone labelling a single turn.</a:t>
            </a:r>
            <a:endParaRPr lang="en-US" sz="1050" dirty="0"/>
          </a:p>
        </p:txBody>
      </p:sp>
      <p:sp>
        <p:nvSpPr>
          <p:cNvPr id="13" name="Text 9"/>
          <p:cNvSpPr/>
          <p:nvPr/>
        </p:nvSpPr>
        <p:spPr>
          <a:xfrm>
            <a:off x="548640" y="5486400"/>
            <a:ext cx="60350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The 56% bar is a supervised classifier with no scores; the others use scores and no labels.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INTERPRETATION</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Reading the results honestly</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
        <p:nvSpPr>
          <p:cNvPr id="7" name="Shape 5"/>
          <p:cNvSpPr/>
          <p:nvPr/>
        </p:nvSpPr>
        <p:spPr>
          <a:xfrm>
            <a:off x="548640" y="1508760"/>
            <a:ext cx="5394960" cy="4023360"/>
          </a:xfrm>
          <a:prstGeom prst="rect">
            <a:avLst/>
          </a:prstGeom>
          <a:solidFill>
            <a:srgbClr val="ECFDF5"/>
          </a:solidFill>
          <a:ln w="12700">
            <a:solidFill>
              <a:srgbClr val="ECFDF5"/>
            </a:solidFill>
            <a:prstDash val="solid"/>
          </a:ln>
        </p:spPr>
      </p:sp>
      <p:sp>
        <p:nvSpPr>
          <p:cNvPr id="8" name="Text 6"/>
          <p:cNvSpPr/>
          <p:nvPr/>
        </p:nvSpPr>
        <p:spPr>
          <a:xfrm>
            <a:off x="777240" y="1645920"/>
            <a:ext cx="4937760" cy="365760"/>
          </a:xfrm>
          <a:prstGeom prst="rect">
            <a:avLst/>
          </a:prstGeom>
          <a:noFill/>
          <a:ln/>
        </p:spPr>
        <p:txBody>
          <a:bodyPr wrap="square" lIns="0" tIns="0" rIns="0" bIns="0"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What the results support</a:t>
            </a:r>
            <a:endParaRPr lang="en-US" sz="1700" dirty="0"/>
          </a:p>
        </p:txBody>
      </p:sp>
      <p:sp>
        <p:nvSpPr>
          <p:cNvPr id="9" name="Text 7"/>
          <p:cNvSpPr/>
          <p:nvPr/>
        </p:nvSpPr>
        <p:spPr>
          <a:xfrm>
            <a:off x="777240" y="2103120"/>
            <a:ext cx="4937760" cy="347472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0F172A"/>
                </a:solidFill>
                <a:latin typeface="Calibri" pitchFamily="34" charset="0"/>
                <a:ea typeface="Calibri" pitchFamily="34" charset="-122"/>
                <a:cs typeface="Calibri" pitchFamily="34" charset="-120"/>
              </a:rPr>
              <a:t>The method works end to end: three states emerge from the scores with no labels (silhouette 0.684 at k = 3).</a:t>
            </a:r>
            <a:endParaRPr lang="en-US" sz="1550" dirty="0"/>
          </a:p>
          <a:p>
            <a:pPr marL="342900" indent="-342900">
              <a:spcAft>
                <a:spcPts val="1200"/>
              </a:spcAft>
              <a:buSzPct val="100000"/>
              <a:buChar char="•"/>
            </a:pPr>
            <a:r>
              <a:rPr lang="en-US" sz="1550" dirty="0">
                <a:solidFill>
                  <a:srgbClr val="0F172A"/>
                </a:solidFill>
                <a:latin typeface="Calibri" pitchFamily="34" charset="0"/>
                <a:ea typeface="Calibri" pitchFamily="34" charset="-122"/>
                <a:cs typeface="Calibri" pitchFamily="34" charset="-120"/>
              </a:rPr>
              <a:t>The NumPy implementations are correct: K-means matches sklearn (ARI 0.924) and the pure-Python version (96.9%).</a:t>
            </a:r>
            <a:endParaRPr lang="en-US" sz="1550" dirty="0"/>
          </a:p>
          <a:p>
            <a:pPr marL="342900" indent="-342900">
              <a:spcAft>
                <a:spcPts val="1200"/>
              </a:spcAft>
              <a:buSzPct val="100000"/>
              <a:buChar char="•"/>
            </a:pPr>
            <a:r>
              <a:rPr lang="en-US" sz="1550" dirty="0">
                <a:solidFill>
                  <a:srgbClr val="0F172A"/>
                </a:solidFill>
                <a:latin typeface="Calibri" pitchFamily="34" charset="0"/>
                <a:ea typeface="Calibri" pitchFamily="34" charset="-122"/>
                <a:cs typeface="Calibri" pitchFamily="34" charset="-120"/>
              </a:rPr>
              <a:t>PCA exposes the structure: 2 real dimensions behind 3 scores.</a:t>
            </a:r>
            <a:endParaRPr lang="en-US" sz="1550" dirty="0"/>
          </a:p>
        </p:txBody>
      </p:sp>
      <p:sp>
        <p:nvSpPr>
          <p:cNvPr id="10" name="Shape 8"/>
          <p:cNvSpPr/>
          <p:nvPr/>
        </p:nvSpPr>
        <p:spPr>
          <a:xfrm>
            <a:off x="6263640" y="1508760"/>
            <a:ext cx="5394960" cy="4023360"/>
          </a:xfrm>
          <a:prstGeom prst="rect">
            <a:avLst/>
          </a:prstGeom>
          <a:solidFill>
            <a:srgbClr val="FEF2F2"/>
          </a:solidFill>
          <a:ln w="12700">
            <a:solidFill>
              <a:srgbClr val="FEF2F2"/>
            </a:solidFill>
            <a:prstDash val="solid"/>
          </a:ln>
        </p:spPr>
      </p:sp>
      <p:sp>
        <p:nvSpPr>
          <p:cNvPr id="11" name="Text 9"/>
          <p:cNvSpPr/>
          <p:nvPr/>
        </p:nvSpPr>
        <p:spPr>
          <a:xfrm>
            <a:off x="6492240" y="1645920"/>
            <a:ext cx="4937760" cy="365760"/>
          </a:xfrm>
          <a:prstGeom prst="rect">
            <a:avLst/>
          </a:prstGeom>
          <a:noFill/>
          <a:ln/>
        </p:spPr>
        <p:txBody>
          <a:bodyPr wrap="square" lIns="0" tIns="0" rIns="0" bIns="0" rtlCol="0" anchor="ctr"/>
          <a:lstStyle/>
          <a:p>
            <a:pPr indent="0" marL="0">
              <a:buNone/>
            </a:pPr>
            <a:r>
              <a:rPr lang="en-US" sz="1700" b="1" dirty="0">
                <a:solidFill>
                  <a:srgbClr val="E5484D"/>
                </a:solidFill>
                <a:latin typeface="Calibri" pitchFamily="34" charset="0"/>
                <a:ea typeface="Calibri" pitchFamily="34" charset="-122"/>
                <a:cs typeface="Calibri" pitchFamily="34" charset="-120"/>
              </a:rPr>
              <a:t>What they do not show</a:t>
            </a:r>
            <a:endParaRPr lang="en-US" sz="1700" dirty="0"/>
          </a:p>
        </p:txBody>
      </p:sp>
      <p:sp>
        <p:nvSpPr>
          <p:cNvPr id="12" name="Text 10"/>
          <p:cNvSpPr/>
          <p:nvPr/>
        </p:nvSpPr>
        <p:spPr>
          <a:xfrm>
            <a:off x="6492240" y="2103120"/>
            <a:ext cx="4937760" cy="347472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0F172A"/>
                </a:solidFill>
                <a:latin typeface="Calibri" pitchFamily="34" charset="0"/>
                <a:ea typeface="Calibri" pitchFamily="34" charset="-122"/>
                <a:cs typeface="Calibri" pitchFamily="34" charset="-120"/>
              </a:rPr>
              <a:t>The data is simulated: scores are drawn from state-specific distributions, so clean separation is built in. Real judges will blur it.</a:t>
            </a:r>
            <a:endParaRPr lang="en-US" sz="1450" dirty="0"/>
          </a:p>
          <a:p>
            <a:pPr marL="342900" indent="-342900">
              <a:spcAft>
                <a:spcPts val="1000"/>
              </a:spcAft>
              <a:buSzPct val="100000"/>
              <a:buChar char="•"/>
            </a:pPr>
            <a:r>
              <a:rPr lang="en-US" sz="1450" dirty="0">
                <a:solidFill>
                  <a:srgbClr val="0F172A"/>
                </a:solidFill>
                <a:latin typeface="Calibri" pitchFamily="34" charset="0"/>
                <a:ea typeface="Calibri" pitchFamily="34" charset="-122"/>
                <a:cs typeface="Calibri" pitchFamily="34" charset="-120"/>
              </a:rPr>
              <a:t>Turn order did not help: K-means (96.9%) beats the HMM (95.1%) here.</a:t>
            </a:r>
            <a:endParaRPr lang="en-US" sz="1450" dirty="0"/>
          </a:p>
          <a:p>
            <a:pPr marL="342900" indent="-342900">
              <a:spcAft>
                <a:spcPts val="1000"/>
              </a:spcAft>
              <a:buSzPct val="100000"/>
              <a:buChar char="•"/>
            </a:pPr>
            <a:r>
              <a:rPr lang="en-US" sz="1450" dirty="0">
                <a:solidFill>
                  <a:srgbClr val="0F172A"/>
                </a:solidFill>
                <a:latin typeface="Calibri" pitchFamily="34" charset="0"/>
                <a:ea typeface="Calibri" pitchFamily="34" charset="-122"/>
                <a:cs typeface="Calibri" pitchFamily="34" charset="-120"/>
              </a:rPr>
              <a:t>BIC keeps falling up to k = 6, so it does not choose 3 alone; the silhouette and the known structure do.</a:t>
            </a:r>
            <a:endParaRPr lang="en-US" sz="1450" dirty="0"/>
          </a:p>
          <a:p>
            <a:pPr marL="342900" indent="-342900">
              <a:spcAft>
                <a:spcPts val="1000"/>
              </a:spcAft>
              <a:buSzPct val="100000"/>
              <a:buChar char="•"/>
            </a:pPr>
            <a:r>
              <a:rPr lang="en-US" sz="1450" dirty="0">
                <a:solidFill>
                  <a:srgbClr val="0F172A"/>
                </a:solidFill>
                <a:latin typeface="Calibri" pitchFamily="34" charset="0"/>
                <a:ea typeface="Calibri" pitchFamily="34" charset="-122"/>
                <a:cs typeface="Calibri" pitchFamily="34" charset="-120"/>
              </a:rPr>
              <a:t>Hierarchical linkage was compared against true labels, so 0.692 is slightly optimistic.</a:t>
            </a:r>
            <a:endParaRPr lang="en-US" sz="1450" dirty="0"/>
          </a:p>
        </p:txBody>
      </p:sp>
      <p:sp>
        <p:nvSpPr>
          <p:cNvPr id="13" name="Shape 11"/>
          <p:cNvSpPr/>
          <p:nvPr/>
        </p:nvSpPr>
        <p:spPr>
          <a:xfrm>
            <a:off x="548640" y="5669280"/>
            <a:ext cx="11109960" cy="640080"/>
          </a:xfrm>
          <a:prstGeom prst="rect">
            <a:avLst/>
          </a:prstGeom>
          <a:solidFill>
            <a:srgbClr val="ECFDF5"/>
          </a:solidFill>
          <a:ln w="12700">
            <a:solidFill>
              <a:srgbClr val="ECFDF5"/>
            </a:solidFill>
            <a:prstDash val="solid"/>
          </a:ln>
        </p:spPr>
      </p:sp>
      <p:sp>
        <p:nvSpPr>
          <p:cNvPr id="14" name="Shape 12"/>
          <p:cNvSpPr/>
          <p:nvPr/>
        </p:nvSpPr>
        <p:spPr>
          <a:xfrm>
            <a:off x="548640" y="5669280"/>
            <a:ext cx="64008" cy="640080"/>
          </a:xfrm>
          <a:prstGeom prst="rect">
            <a:avLst/>
          </a:prstGeom>
          <a:solidFill>
            <a:srgbClr val="0D9488"/>
          </a:solidFill>
          <a:ln w="12700">
            <a:solidFill>
              <a:srgbClr val="0D9488"/>
            </a:solidFill>
            <a:prstDash val="solid"/>
          </a:ln>
        </p:spPr>
      </p:sp>
      <p:sp>
        <p:nvSpPr>
          <p:cNvPr id="15" name="Text 13"/>
          <p:cNvSpPr/>
          <p:nvPr/>
        </p:nvSpPr>
        <p:spPr>
          <a:xfrm>
            <a:off x="749808" y="5669280"/>
            <a:ext cx="10789920" cy="64008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NEXT</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Next review: rerun the same code on judge scores from a real campaign against an actual target model.</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REPRODUCE</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Run it yourself: eight steps, 48 tests</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
        <p:nvSpPr>
          <p:cNvPr id="7" name="Shape 5"/>
          <p:cNvSpPr/>
          <p:nvPr/>
        </p:nvSpPr>
        <p:spPr>
          <a:xfrm>
            <a:off x="548640" y="1508760"/>
            <a:ext cx="6766560" cy="3566160"/>
          </a:xfrm>
          <a:prstGeom prst="rect">
            <a:avLst/>
          </a:prstGeom>
          <a:solidFill>
            <a:srgbClr val="0F172A"/>
          </a:solidFill>
          <a:ln w="12700">
            <a:solidFill>
              <a:srgbClr val="0F172A"/>
            </a:solidFill>
            <a:prstDash val="solid"/>
          </a:ln>
        </p:spPr>
      </p:sp>
      <p:sp>
        <p:nvSpPr>
          <p:cNvPr id="8" name="Text 6"/>
          <p:cNvSpPr/>
          <p:nvPr/>
        </p:nvSpPr>
        <p:spPr>
          <a:xfrm>
            <a:off x="731520" y="1581912"/>
            <a:ext cx="6400800" cy="25603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terminal</a:t>
            </a:r>
            <a:endParaRPr lang="en-US" sz="1050" dirty="0"/>
          </a:p>
        </p:txBody>
      </p:sp>
      <p:sp>
        <p:nvSpPr>
          <p:cNvPr id="9" name="Text 7"/>
          <p:cNvSpPr/>
          <p:nvPr/>
        </p:nvSpPr>
        <p:spPr>
          <a:xfrm>
            <a:off x="731520" y="1874520"/>
            <a:ext cx="6400800" cy="3108960"/>
          </a:xfrm>
          <a:prstGeom prst="rect">
            <a:avLst/>
          </a:prstGeom>
          <a:noFill/>
          <a:ln/>
        </p:spPr>
        <p:txBody>
          <a:bodyPr wrap="square" lIns="0" tIns="0" rIns="0" bIns="0" rtlCol="0" anchor="t"/>
          <a:lstStyle/>
          <a:p>
            <a:pPr indent="0" marL="0">
              <a:spcAft>
                <a:spcPts val="200"/>
              </a:spcAft>
              <a:buNone/>
            </a:pPr>
            <a:r>
              <a:rPr lang="en-US" sz="1250" dirty="0">
                <a:solidFill>
                  <a:srgbClr val="94A3B8"/>
                </a:solidFill>
                <a:latin typeface="Consolas" pitchFamily="34" charset="0"/>
                <a:ea typeface="Consolas" pitchFamily="34" charset="-122"/>
                <a:cs typeface="Consolas" pitchFamily="34" charset="-120"/>
              </a:rPr>
              <a:t># one-time setup (Python 3.14, CPU only)</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python3 -m venv ~/jailbreaker-venv</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source ~/jailbreaker-venv/bin/activate</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pip install torch --index-url \</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https://download.pytorch.org/whl/cpu</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pip install -r requirements.txt</a:t>
            </a:r>
            <a:endParaRPr lang="en-US" sz="1250" dirty="0"/>
          </a:p>
          <a:p>
            <a:pPr indent="0" marL="0">
              <a:spcAft>
                <a:spcPts val="200"/>
              </a:spcAft>
              <a:buNone/>
            </a:pPr>
            <a:endParaRPr lang="en-US" sz="1250" dirty="0"/>
          </a:p>
          <a:p>
            <a:pPr indent="0" marL="0">
              <a:spcAft>
                <a:spcPts val="200"/>
              </a:spcAft>
              <a:buNone/>
            </a:pPr>
            <a:r>
              <a:rPr lang="en-US" sz="1250" dirty="0">
                <a:solidFill>
                  <a:srgbClr val="94A3B8"/>
                </a:solidFill>
                <a:latin typeface="Consolas" pitchFamily="34" charset="0"/>
                <a:ea typeface="Consolas" pitchFamily="34" charset="-122"/>
                <a:cs typeface="Consolas" pitchFamily="34" charset="-120"/>
              </a:rPr>
              <a:t># from the repository root</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python data/build_demo_assets.py</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python main_analysis.py</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python review2_kmeans_pure_python.py</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pytest -q</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589520" y="1554480"/>
          <a:ext cx="4069080" cy="914400"/>
        </p:xfrm>
        <a:graphic>
          <a:graphicData uri="http://schemas.openxmlformats.org/drawingml/2006/table">
            <a:tbl>
              <a:tblPr/>
              <a:tblGrid>
                <a:gridCol w="822960"/>
                <a:gridCol w="32461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38404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 to 2</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generate the 978-row dataset, EDA plots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 to 4</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regression, classification (PBL-I)</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K-means, DBSCAN (sklearn)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PCA, K-means, GMM-EM, hierarchical (NumPy)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HMM</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comparison plots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11" name="Shape 8"/>
          <p:cNvSpPr/>
          <p:nvPr/>
        </p:nvSpPr>
        <p:spPr>
          <a:xfrm>
            <a:off x="7589520" y="4389120"/>
            <a:ext cx="4069080" cy="1600200"/>
          </a:xfrm>
          <a:prstGeom prst="rect">
            <a:avLst/>
          </a:prstGeom>
          <a:solidFill>
            <a:srgbClr val="ECFDF5"/>
          </a:solidFill>
          <a:ln w="12700">
            <a:solidFill>
              <a:srgbClr val="ECFDF5"/>
            </a:solidFill>
            <a:prstDash val="solid"/>
          </a:ln>
        </p:spPr>
      </p:sp>
      <p:sp>
        <p:nvSpPr>
          <p:cNvPr id="12" name="Shape 9"/>
          <p:cNvSpPr/>
          <p:nvPr/>
        </p:nvSpPr>
        <p:spPr>
          <a:xfrm>
            <a:off x="7589520" y="4389120"/>
            <a:ext cx="64008" cy="1600200"/>
          </a:xfrm>
          <a:prstGeom prst="rect">
            <a:avLst/>
          </a:prstGeom>
          <a:solidFill>
            <a:srgbClr val="0D9488"/>
          </a:solidFill>
          <a:ln w="12700">
            <a:solidFill>
              <a:srgbClr val="0D9488"/>
            </a:solidFill>
            <a:prstDash val="solid"/>
          </a:ln>
        </p:spPr>
      </p:sp>
      <p:sp>
        <p:nvSpPr>
          <p:cNvPr id="13" name="Text 10"/>
          <p:cNvSpPr/>
          <p:nvPr/>
        </p:nvSpPr>
        <p:spPr>
          <a:xfrm>
            <a:off x="7790688" y="4389120"/>
            <a:ext cx="3749040" cy="1600200"/>
          </a:xfrm>
          <a:prstGeom prst="rect">
            <a:avLst/>
          </a:prstGeom>
          <a:noFill/>
          <a:ln/>
        </p:spPr>
        <p:txBody>
          <a:bodyPr wrap="square" lIns="0" tIns="0" rIns="0" bIns="0" rtlCol="0" anchor="ctr"/>
          <a:lstStyle/>
          <a:p>
            <a:pPr indent="0" marL="0">
              <a:spcAft>
                <a:spcPts val="300"/>
              </a:spcAft>
              <a:buNone/>
            </a:pPr>
            <a:r>
              <a:rPr lang="en-US" sz="1050" b="1" spc="200" kern="0" dirty="0">
                <a:solidFill>
                  <a:srgbClr val="0D9488"/>
                </a:solidFill>
                <a:latin typeface="Calibri" pitchFamily="34" charset="0"/>
                <a:ea typeface="Calibri" pitchFamily="34" charset="-122"/>
                <a:cs typeface="Calibri" pitchFamily="34" charset="-120"/>
              </a:rPr>
              <a:t>WHERE TO LOOK</a:t>
            </a:r>
            <a:endParaRPr lang="en-US" sz="1050" dirty="0"/>
          </a:p>
          <a:p>
            <a:pPr indent="0" marL="0">
              <a:spcAft>
                <a:spcPts val="300"/>
              </a:spcAft>
              <a:buNone/>
            </a:pPr>
            <a:r>
              <a:rPr lang="en-US" sz="1400" dirty="0">
                <a:solidFill>
                  <a:srgbClr val="0F172A"/>
                </a:solidFill>
                <a:latin typeface="Calibri" pitchFamily="34" charset="0"/>
                <a:ea typeface="Calibri" pitchFamily="34" charset="-122"/>
                <a:cs typeface="Calibri" pitchFamily="34" charset="-120"/>
              </a:rPr>
              <a:t>Every number in this deck is written to outputs/analysis/metrics.json, and plots to outputs/analysis/. Expect: 48 passed.</a:t>
            </a:r>
            <a:endParaRPr lang="en-US" sz="1050" dirty="0"/>
          </a:p>
        </p:txBody>
      </p:sp>
      <p:sp>
        <p:nvSpPr>
          <p:cNvPr id="14" name="Text 11"/>
          <p:cNvSpPr/>
          <p:nvPr/>
        </p:nvSpPr>
        <p:spPr>
          <a:xfrm>
            <a:off x="548640" y="5349240"/>
            <a:ext cx="676656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Repository: github.com/Ananyacodes/jailbreaker-llm</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D9488"/>
          </a:solidFill>
          <a:ln w="12700">
            <a:solidFill>
              <a:srgbClr val="0D9488"/>
            </a:solidFill>
            <a:prstDash val="solid"/>
          </a:ln>
        </p:spPr>
      </p:sp>
      <p:sp>
        <p:nvSpPr>
          <p:cNvPr id="3" name="Text 1"/>
          <p:cNvSpPr/>
          <p:nvPr/>
        </p:nvSpPr>
        <p:spPr>
          <a:xfrm>
            <a:off x="548640" y="274320"/>
            <a:ext cx="8229600"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REFERENCES</a:t>
            </a:r>
            <a:endParaRPr lang="en-US" sz="1200" dirty="0"/>
          </a:p>
        </p:txBody>
      </p:sp>
      <p:sp>
        <p:nvSpPr>
          <p:cNvPr id="4" name="Text 2"/>
          <p:cNvSpPr/>
          <p:nvPr/>
        </p:nvSpPr>
        <p:spPr>
          <a:xfrm>
            <a:off x="548640" y="548640"/>
            <a:ext cx="11064240" cy="685800"/>
          </a:xfrm>
          <a:prstGeom prst="rect">
            <a:avLst/>
          </a:prstGeom>
          <a:noFill/>
          <a:ln/>
        </p:spPr>
        <p:txBody>
          <a:bodyPr wrap="square" lIns="0" tIns="0" rIns="0" bIns="0" rtlCol="0" anchor="t">
            <a:normAutofit/>
          </a:bodyPr>
          <a:lstStyle/>
          <a:p>
            <a:pPr indent="0" marL="0">
              <a:buNone/>
            </a:pPr>
            <a:r>
              <a:rPr lang="en-US" sz="2800" b="1" dirty="0">
                <a:solidFill>
                  <a:srgbClr val="0F172A"/>
                </a:solidFill>
                <a:latin typeface="Calibri" pitchFamily="34" charset="0"/>
                <a:ea typeface="Calibri" pitchFamily="34" charset="-122"/>
                <a:cs typeface="Calibri" pitchFamily="34" charset="-120"/>
              </a:rPr>
              <a:t>Textbooks and papers behind each method</a:t>
            </a:r>
            <a:endParaRPr lang="en-US" sz="2800" dirty="0"/>
          </a:p>
        </p:txBody>
      </p:sp>
      <p:sp>
        <p:nvSpPr>
          <p:cNvPr id="5" name="Text 3"/>
          <p:cNvSpPr/>
          <p:nvPr/>
        </p:nvSpPr>
        <p:spPr>
          <a:xfrm>
            <a:off x="548640" y="6473952"/>
            <a:ext cx="45720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Jailbreaker-LLM  |  PBL-II</a:t>
            </a:r>
            <a:endParaRPr lang="en-US" sz="1000" dirty="0"/>
          </a:p>
        </p:txBody>
      </p:sp>
      <p:sp>
        <p:nvSpPr>
          <p:cNvPr id="6" name="Text 4"/>
          <p:cNvSpPr/>
          <p:nvPr/>
        </p:nvSpPr>
        <p:spPr>
          <a:xfrm>
            <a:off x="11064240" y="6473952"/>
            <a:ext cx="576072" cy="237744"/>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3291840"/>
                <a:gridCol w="781812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56692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PCA, K-means, GMM and EM, HMM</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 M. Bishop, Pattern Recognition and Machine Learning, 2006: sec. 12.1, 9.1, 9.2, 13.2</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 algorithm</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Dempster, Laird and Rubin, "Maximum likelihood from incomplete data via the EM algorithm", 1977</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k-means++ seeding</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Arthur and Vassilvitskii, "k-means++: the advantages of careful seeding", 2007</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Hierarchical linkage update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Lance and Williams, "A general theory of classificatory sorting strategies", 1967</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Silhouette, adjusted Rand index</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Rousseeuw, 1987; Hubert and Arabie, 1985</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Hidden Markov models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Rabiner, "A tutorial on hidden Markov models and selected applications in speech recognition", 1989</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Project background (PBL-I)</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JailbreakBench; GCG (Zou et al., 2023); PAIR (Chao et al., 2023); PPO (Schulman et al., 2017); LoRA (Hu et al., 2021)</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Jailbreaker-LLM PBL-II</dc:title>
  <dc:subject>PptxGenJS Presentation</dc:subject>
  <dc:creator>PptxGenJS</dc:creator>
  <cp:lastModifiedBy>PptxGenJS</cp:lastModifiedBy>
  <cp:revision>1</cp:revision>
  <dcterms:created xsi:type="dcterms:W3CDTF">2026-10-22T00:07:52Z</dcterms:created>
  <dcterms:modified xsi:type="dcterms:W3CDTF">2026-10-22T00:07:52Z</dcterms:modified>
</cp:coreProperties>
</file>